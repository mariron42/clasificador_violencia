
<file path=[Content_Types].xml><?xml version="1.0" encoding="utf-8"?>
<Types xmlns="http://schemas.openxmlformats.org/package/2006/content-types">
  <Default Extension="xml" ContentType="application/vnd.openxmlformats-package.core-properties+xml"/>
  <Default Extension="png" ContentType="image/png"/>
  <Default Extension="dat" ContentType="application/x-fontdata"/>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1.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2.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3.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4.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6aa3250dcbe9447e" /><Relationship Type="http://schemas.openxmlformats.org/officeDocument/2006/relationships/extended-properties" Target="/docProps/app.xml" Id="R0b69681d2b61468c" /><Relationship Type="http://schemas.openxmlformats.org/officeDocument/2006/relationships/officeDocument" Target="/ppt/presentation.xml" Id="R3e84a2c101494d60"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cb26ff155b3b4a39"/>
  </p:sldMasterIdLst>
  <p:notesMasterIdLst>
    <p:notesMasterId xmlns:r="http://schemas.openxmlformats.org/officeDocument/2006/relationships" r:id="Rd0eb2bb1d83c4ff7"/>
  </p:notesMasterIdLst>
  <p:sldIdLst>
    <p:sldId xmlns:r="http://schemas.openxmlformats.org/officeDocument/2006/relationships" id="256" r:id="R054f1a2fea24496b"/>
    <p:sldId xmlns:r="http://schemas.openxmlformats.org/officeDocument/2006/relationships" id="257" r:id="R3add8f4e7a0d429f"/>
    <p:sldId xmlns:r="http://schemas.openxmlformats.org/officeDocument/2006/relationships" id="258" r:id="R82a46ee4ff474398"/>
    <p:sldId xmlns:r="http://schemas.openxmlformats.org/officeDocument/2006/relationships" id="259" r:id="Rf9d09b562fa0408f"/>
    <p:sldId xmlns:r="http://schemas.openxmlformats.org/officeDocument/2006/relationships" id="260" r:id="R1fabc4946d364f33"/>
    <p:sldId xmlns:r="http://schemas.openxmlformats.org/officeDocument/2006/relationships" id="261" r:id="Rb2702986d16d40ba"/>
    <p:sldId xmlns:r="http://schemas.openxmlformats.org/officeDocument/2006/relationships" id="262" r:id="R0546c7967f5445c5"/>
    <p:sldId xmlns:r="http://schemas.openxmlformats.org/officeDocument/2006/relationships" id="263" r:id="R5a2339c6383d484f"/>
    <p:sldId xmlns:r="http://schemas.openxmlformats.org/officeDocument/2006/relationships" id="264" r:id="R1d842f38b082478f"/>
    <p:sldId xmlns:r="http://schemas.openxmlformats.org/officeDocument/2006/relationships" id="265" r:id="R58c3fad0e48c4dde"/>
  </p:sldIdLst>
  <p:sldSz cx="12192000" cy="6858000"/>
  <p:notesSz cx="6858000" cy="9144000"/>
  <p:embeddedFontLst>
    <p:embeddedFont>
      <p:font typeface="Inter"/>
      <p:regular xmlns:r="http://schemas.openxmlformats.org/officeDocument/2006/relationships" r:id="R01307b6ca8214206"/>
      <p:bold xmlns:r="http://schemas.openxmlformats.org/officeDocument/2006/relationships" r:id="Rc9f601464902402b"/>
    </p:embeddedFont>
    <p:embeddedFont>
      <p:font typeface="Inter Medium"/>
      <p:regular xmlns:r="http://schemas.openxmlformats.org/officeDocument/2006/relationships" r:id="R9e2ce4c0655242ad"/>
    </p:embeddedFont>
    <p:embeddedFont>
      <p:font typeface="Inter SemiBold"/>
      <p:regular xmlns:r="http://schemas.openxmlformats.org/officeDocument/2006/relationships" r:id="R0e4a5e97ecc84591"/>
      <p:bold xmlns:r="http://schemas.openxmlformats.org/officeDocument/2006/relationships" r:id="R9c149166f2604f24"/>
    </p:embeddedFont>
    <p:embeddedFont>
      <p:font typeface="OpenAI Sans"/>
      <p:regular xmlns:r="http://schemas.openxmlformats.org/officeDocument/2006/relationships" r:id="R878a21e3310f4b9d"/>
      <p:bold xmlns:r="http://schemas.openxmlformats.org/officeDocument/2006/relationships" r:id="Rcaa2c080d9ff41b6"/>
      <p:italic xmlns:r="http://schemas.openxmlformats.org/officeDocument/2006/relationships" r:id="R3c52518b751e450a"/>
      <p:boldItalic xmlns:r="http://schemas.openxmlformats.org/officeDocument/2006/relationships" r:id="R61254db06e094d7e"/>
    </p:embeddedFont>
  </p:embeddedFon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7c376f217d3d4a99" /><Relationship Type="http://schemas.openxmlformats.org/officeDocument/2006/relationships/slideMaster" Target="/ppt/slideMasters/slideMaster1.xml" Id="Rcb26ff155b3b4a39" /><Relationship Type="http://schemas.openxmlformats.org/officeDocument/2006/relationships/notesMaster" Target="/ppt/notesMasters/notesMaster1.xml" Id="Rd0eb2bb1d83c4ff7" /><Relationship Type="http://schemas.openxmlformats.org/officeDocument/2006/relationships/presProps" Target="/ppt/presProps.xml" Id="Rf684c6d302094550" /><Relationship Type="http://schemas.openxmlformats.org/officeDocument/2006/relationships/viewProps" Target="/ppt/viewProps.xml" Id="R8392e68331204078" /><Relationship Type="http://schemas.openxmlformats.org/officeDocument/2006/relationships/tableStyles" Target="/ppt/tableStyles.xml" Id="R9b7f096a70be45b2" /><Relationship Type="http://schemas.openxmlformats.org/officeDocument/2006/relationships/font" Target="/ppt/fonts/font.dat" Id="R01307b6ca8214206" /><Relationship Type="http://schemas.openxmlformats.org/officeDocument/2006/relationships/font" Target="/ppt/fonts/font2.dat" Id="Rc9f601464902402b" /><Relationship Type="http://schemas.openxmlformats.org/officeDocument/2006/relationships/font" Target="/ppt/fonts/font3.dat" Id="R9e2ce4c0655242ad" /><Relationship Type="http://schemas.openxmlformats.org/officeDocument/2006/relationships/font" Target="/ppt/fonts/font4.dat" Id="R0e4a5e97ecc84591" /><Relationship Type="http://schemas.openxmlformats.org/officeDocument/2006/relationships/font" Target="/ppt/fonts/font5.dat" Id="R9c149166f2604f24" /><Relationship Type="http://schemas.openxmlformats.org/officeDocument/2006/relationships/font" Target="/ppt/fonts/font6.dat" Id="R878a21e3310f4b9d" /><Relationship Type="http://schemas.openxmlformats.org/officeDocument/2006/relationships/font" Target="/ppt/fonts/font7.dat" Id="Rcaa2c080d9ff41b6" /><Relationship Type="http://schemas.openxmlformats.org/officeDocument/2006/relationships/font" Target="/ppt/fonts/font8.dat" Id="R3c52518b751e450a" /><Relationship Type="http://schemas.openxmlformats.org/officeDocument/2006/relationships/font" Target="/ppt/fonts/font9.dat" Id="R61254db06e094d7e" /><Relationship Type="http://schemas.openxmlformats.org/officeDocument/2006/relationships/slide" Target="/ppt/slides/slide1.xml" Id="R054f1a2fea24496b" /><Relationship Type="http://schemas.openxmlformats.org/officeDocument/2006/relationships/slide" Target="/ppt/slides/slide2.xml" Id="R3add8f4e7a0d429f" /><Relationship Type="http://schemas.openxmlformats.org/officeDocument/2006/relationships/slide" Target="/ppt/slides/slide3.xml" Id="R82a46ee4ff474398" /><Relationship Type="http://schemas.openxmlformats.org/officeDocument/2006/relationships/slide" Target="/ppt/slides/slide4.xml" Id="Rf9d09b562fa0408f" /><Relationship Type="http://schemas.openxmlformats.org/officeDocument/2006/relationships/slide" Target="/ppt/slides/slide5.xml" Id="R1fabc4946d364f33" /><Relationship Type="http://schemas.openxmlformats.org/officeDocument/2006/relationships/slide" Target="/ppt/slides/slide6.xml" Id="Rb2702986d16d40ba" /><Relationship Type="http://schemas.openxmlformats.org/officeDocument/2006/relationships/slide" Target="/ppt/slides/slide7.xml" Id="R0546c7967f5445c5" /><Relationship Type="http://schemas.openxmlformats.org/officeDocument/2006/relationships/slide" Target="/ppt/slides/slide8.xml" Id="R5a2339c6383d484f" /><Relationship Type="http://schemas.openxmlformats.org/officeDocument/2006/relationships/slide" Target="/ppt/slides/slide9.xml" Id="R1d842f38b082478f" /><Relationship Type="http://schemas.openxmlformats.org/officeDocument/2006/relationships/slide" Target="/ppt/slides/slide10.xml" Id="R58c3fad0e48c4dd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0d238be46ca443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Default Codex Theme">
  <a:themeElements>
    <a:clrScheme name="Color Block Theme">
      <a:dk1>
        <a:srgbClr val="000000"/>
      </a:dk1>
      <a:lt1>
        <a:srgbClr val="FFFFFF"/>
      </a:lt1>
      <a:dk2>
        <a:srgbClr val="393939"/>
      </a:dk2>
      <a:lt2>
        <a:srgbClr val="F5F5F5"/>
      </a:lt2>
      <a:accent1>
        <a:srgbClr val="2ED978"/>
      </a:accent1>
      <a:accent2>
        <a:srgbClr val="9FB6FE"/>
      </a:accent2>
      <a:accent3>
        <a:srgbClr val="F3F161"/>
      </a:accent3>
      <a:accent4>
        <a:srgbClr val="FF5F27"/>
      </a:accent4>
      <a:accent5>
        <a:srgbClr val="5EC4FF"/>
      </a:accent5>
      <a:accent6>
        <a:srgbClr val="3C7DA3"/>
      </a:accent6>
      <a:hlink>
        <a:srgbClr val="FFA83A"/>
      </a:hlink>
      <a:folHlink>
        <a:srgbClr val="96607D"/>
      </a:folHlink>
    </a:clrScheme>
    <a:fontScheme name="Inter">
      <a:majorFont>
        <a:latin typeface="Inter"/>
        <a:ea typeface=""/>
        <a:cs typeface=""/>
      </a:majorFont>
      <a:minorFont>
        <a:latin typeface="Inter"/>
        <a:ea typeface=""/>
        <a:cs typeface=""/>
      </a:minorFont>
    </a:fontScheme>
    <a:fmtScheme name="Color Block Them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cbbf9368a574325" /><Relationship Type="http://schemas.openxmlformats.org/officeDocument/2006/relationships/notesMaster" Target="/ppt/notesMasters/notesMaster1.xml" Id="R65b17191be3d461a" /></Relationships>
</file>

<file path=ppt/notesSlides/_rels/notesSlide2.xml.rels>&#65279;<?xml version="1.0" encoding="utf-8"?><Relationships xmlns="http://schemas.openxmlformats.org/package/2006/relationships"><Relationship Type="http://schemas.openxmlformats.org/officeDocument/2006/relationships/slide" Target="/ppt/slides/slide2.xml" Id="R2e1bafde675b4c80" /><Relationship Type="http://schemas.openxmlformats.org/officeDocument/2006/relationships/notesMaster" Target="/ppt/notesMasters/notesMaster1.xml" Id="Reb6c7809301f4dc0" /></Relationships>
</file>

<file path=ppt/notesSlides/_rels/notesSlide3.xml.rels>&#65279;<?xml version="1.0" encoding="utf-8"?><Relationships xmlns="http://schemas.openxmlformats.org/package/2006/relationships"><Relationship Type="http://schemas.openxmlformats.org/officeDocument/2006/relationships/slide" Target="/ppt/slides/slide3.xml" Id="R7aa9cdac4ee7448b" /><Relationship Type="http://schemas.openxmlformats.org/officeDocument/2006/relationships/notesMaster" Target="/ppt/notesMasters/notesMaster1.xml" Id="R0de80dd7b09a47d5" /></Relationships>
</file>

<file path=ppt/notesSlides/_rels/notesSlide4.xml.rels>&#65279;<?xml version="1.0" encoding="utf-8"?><Relationships xmlns="http://schemas.openxmlformats.org/package/2006/relationships"><Relationship Type="http://schemas.openxmlformats.org/officeDocument/2006/relationships/slide" Target="/ppt/slides/slide4.xml" Id="Rce1ecb1336a84f15" /><Relationship Type="http://schemas.openxmlformats.org/officeDocument/2006/relationships/notesMaster" Target="/ppt/notesMasters/notesMaster1.xml" Id="R70c907d3370b4b34" /></Relationships>
</file>

<file path=ppt/notesSlides/_rels/notesSlide5.xml.rels>&#65279;<?xml version="1.0" encoding="utf-8"?><Relationships xmlns="http://schemas.openxmlformats.org/package/2006/relationships"><Relationship Type="http://schemas.openxmlformats.org/officeDocument/2006/relationships/slide" Target="/ppt/slides/slide5.xml" Id="R9488b987b1ca46bf" /><Relationship Type="http://schemas.openxmlformats.org/officeDocument/2006/relationships/notesMaster" Target="/ppt/notesMasters/notesMaster1.xml" Id="Rc610f71780f047dd" /></Relationships>
</file>

<file path=ppt/notesSlides/_rels/notesSlide6.xml.rels>&#65279;<?xml version="1.0" encoding="utf-8"?><Relationships xmlns="http://schemas.openxmlformats.org/package/2006/relationships"><Relationship Type="http://schemas.openxmlformats.org/officeDocument/2006/relationships/slide" Target="/ppt/slides/slide6.xml" Id="R0ddff89bc9174736" /><Relationship Type="http://schemas.openxmlformats.org/officeDocument/2006/relationships/notesMaster" Target="/ppt/notesMasters/notesMaster1.xml" Id="R81a62c820c1c43fe" /></Relationships>
</file>

<file path=ppt/notesSlides/_rels/notesSlide7.xml.rels>&#65279;<?xml version="1.0" encoding="utf-8"?><Relationships xmlns="http://schemas.openxmlformats.org/package/2006/relationships"><Relationship Type="http://schemas.openxmlformats.org/officeDocument/2006/relationships/slide" Target="/ppt/slides/slide7.xml" Id="R4fe6def4011b490d" /><Relationship Type="http://schemas.openxmlformats.org/officeDocument/2006/relationships/notesMaster" Target="/ppt/notesMasters/notesMaster1.xml" Id="R38875789410b46e9" /></Relationships>
</file>

<file path=ppt/notesSlides/_rels/notesSlide8.xml.rels>&#65279;<?xml version="1.0" encoding="utf-8"?><Relationships xmlns="http://schemas.openxmlformats.org/package/2006/relationships"><Relationship Type="http://schemas.openxmlformats.org/officeDocument/2006/relationships/slide" Target="/ppt/slides/slide8.xml" Id="Rd6641e54284147b1" /><Relationship Type="http://schemas.openxmlformats.org/officeDocument/2006/relationships/notesMaster" Target="/ppt/notesMasters/notesMaster1.xml" Id="R90a77df2c9aa4abb" /></Relationships>
</file>

<file path=ppt/notesSlides/_rels/notesSlide9.xml.rels>&#65279;<?xml version="1.0" encoding="utf-8"?><Relationships xmlns="http://schemas.openxmlformats.org/package/2006/relationships"><Relationship Type="http://schemas.openxmlformats.org/officeDocument/2006/relationships/slide" Target="/ppt/slides/slide9.xml" Id="Rb32465d8c91d4259" /><Relationship Type="http://schemas.openxmlformats.org/officeDocument/2006/relationships/notesMaster" Target="/ppt/notesMasters/notesMaster1.xml" Id="R5bbafcfb2f7c4be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a323d72f2c84975" /><Relationship Type="http://schemas.openxmlformats.org/officeDocument/2006/relationships/notesMaster" Target="/ppt/notesMasters/notesMaster1.xml" Id="R612b56038e4646e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0:00–0:30</a:t>
            </a:r>
            <a:endParaRPr/>
          </a:p>
          <a:p xmlns:a="http://schemas.openxmlformats.org/drawingml/2006/main">
            <a:r>
              <a:t/>
            </a:r>
            <a:endParaRPr/>
          </a:p>
          <a:p xmlns:a="http://schemas.openxmlformats.org/drawingml/2006/main">
            <a:r>
              <a:t>Buenos días. Soy Marcel Herrera Rendón, de la Universidad de Sonora. Voy a contar la estrategia que seguimos para clasificar reportes de violencia en WomenHelp. El punto central es cómo el problema orientó la elección de modelos, las salidas y los datos de entrenamiento. Después de encontrar recetas útiles, limitamos los cambios finales alrededor de una referencia. El corpus ya se explica en otra sesión, por lo que me concentraré en la implementación.</a:t>
            </a:r>
            <a:endParaRPr/>
          </a:p>
          <a:p xmlns:a="http://schemas.openxmlformats.org/drawingml/2006/main">
            <a:r>
              <a:t/>
            </a:r>
            <a:endParaRPr/>
          </a:p>
          <a:p xmlns:a="http://schemas.openxmlformats.org/drawingml/2006/main">
            <a:r>
              <a:t>Source: docs/method.md; docs/results.md (corrected system-description paper).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0:30–1:30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Exploramos tres familias. Los modelos clásicos convierten palabras y caracteres en vectores TF-IDF y después clasifican. Los LLM generativos reciben instrucciones y producen una respuesta estructurada; probamos prompting y adaptación LoRA. Los encoders Transformer, como BETO, aprenden una representación contextual y alimentan cabezas de clasificación. Los LLM también usan Transformers: la distinción aquí es su forma de uso, generativa frente a discriminativa. Los clásicos dieron referencias fuertes y diversidad; los encoders permitieron controlar las salidas. La vía generativa quedó fuera del sistema final. La elección respondió a nuestros experimentos y recursos, no a una superioridad universal de una familia.</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 docs/method.md, model families and implementation.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1:30–2:20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 la izquierda comparo exactamente los mismos 133 reportes. La exactitud conjunta exige acertar severidad y todos los tipos: TF-IDF con SGD obtuvo 0.2331, el piloto Gemma con LoRA 0.1955 y Qwen con prompting 0.1053. El piloto LoRA usó 625 ejemplos y 80 pasos. No representa el potencial de todos los LLM. A la derecha comparo recetas clásicas y BETO en desarrollo completo. En severidad, la referencia clásica temprana dio 0.4974 y BETO focal 0.5429 de macro-F1. Hubo ensambles clásicos posteriores de 0.5047 y 0.5215. En tipos, el SVM de caracteres dio 0.7642 de macro-F1 y 0.8449 de micro-F1; BETO con umbral fijo 0.45 dio 0.8198 y 0.8685. Son recetas distintas, no una ablación aislada de arquitectura. No mezclo ambas escalas porque cambian los datos y la métrica. La conclusión práctica fue conservar referencias clásicas y profundizar en encoders especializados.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 docs/results.md, classical/encoder and common 133-record comparisons.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2:20–3:35</a:t>
            </a:r>
          </a:p>
          <a:p xmlns:a="http://schemas.openxmlformats.org/drawingml/2006/main">
            <a:r>
              <a:t/>
            </a:r>
          </a:p>
          <a:p xmlns:a="http://schemas.openxmlformats.org/drawingml/2006/main">
            <a:r>
              <a:t>Severidad requiere una sola categoría ordenada: Mild, Medium, High o Severe. Los tipos pueden coexistir: económica, física, patrimonial, psicológica, sexual y vicaria. El diagrama superior muestra la receta BETO aumentada: normalizamos espacios, tokenizamos y truncamos a 512 tokens. La cabeza principal usa softmax, focal ponderada y una penalización ordinal de 0.05. Una cabeza auxiliar aprende siete etiquetas de tipos, incluida N/A, con etiquetas suaves y peso 0.3, solo donde existen. Esta máscara evita interpretar información ausente como negativa. El componente final de tipos es otro BETO: procesa hasta 384 tokens, tiene seis sigmoid y umbral 0.45, y deriva N/A cuando ninguna alcanza el umbral. El código confirma seis salidas, aunque una descripción general del paper habla de siete. Estas decisiones adaptan arquitecturas existentes al problema; no proponemos una arquitectura nueva.</a:t>
            </a:r>
          </a:p>
          <a:p xmlns:a="http://schemas.openxmlformats.org/drawingml/2006/main">
            <a:r>
              <a:t/>
            </a:r>
          </a:p>
          <a:p xmlns:a="http://schemas.openxmlformats.org/drawingml/2006/main">
            <a:r>
              <a:t>Source: scripts/run_competitive_encoder_severity.py; scripts/run_subtask2_encoder_20260429.py; docs/method.md.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3:35–5:05</a:t>
            </a:r>
          </a:p>
          <a:p xmlns:a="http://schemas.openxmlformats.org/drawingml/2006/main">
            <a:r>
              <a:t/>
            </a:r>
          </a:p>
          <a:p xmlns:a="http://schemas.openxmlformats.org/drawingml/2006/main">
            <a:r>
              <a:t>Severe tenía 616 de 13,630 ejemplos, apenas 4.52%. Elegimos aumentar solo esa clase en entrenamiento. El método destacado no utiliza un LLM: combina plantillas de apertura, acciones, contexto y cierre con estilo de reporte institucional. Los indicios del original, como relación, horario o referencias a amenazas, condicionan parte de las elecciones. La semilla es estable por registro y generamos como máximo dos variantes por origen. Retenemos los originales y heredamos sus etiquetas. Añadimos 516 textos: ahora Severe tiene 1,132 de 14,146, es decir, 8%. Reducimos el desequilibrio, sin igualar las cuatro clases. Las plantillas pueden introducir hechos, por lo que estos textos no deben presentarse como paráfrasis verificadas. El proyecto también exploró sinónimos y variantes de Mild; la gráfica siguiente corresponde específicamente a las plantillas Severe.</a:t>
            </a:r>
          </a:p>
          <a:p xmlns:a="http://schemas.openxmlformats.org/drawingml/2006/main">
            <a:r>
              <a:t/>
            </a:r>
          </a:p>
          <a:p xmlns:a="http://schemas.openxmlformats.org/drawingml/2006/main">
            <a:r>
              <a:t>Source: src/womenhelp_competition/text_augmentation.py; results/evidence.json.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5:05–6:15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Para que se vea el efecto, la gráfica muestra cambios absolutos multiplicados por cien y conserva el cero: 0.71 puntos de macro-F1, 1.57 de F1 Severe y menos 2.60 de recall Severe. Al lado están los valores originales en escala cero a uno. El conjunto de desarrollo contiene los mismos 3,405 reportes, sin aumentación. La mejora en F1 no implica recuperar más casos Severe: el recall bajó. Además, al aumentar datos cambiaron las proporciones y los pesos de clase recalculados. No podemos adjudicar el resultado exclusivamente al estilo de las plantillas. Faltan un control de sobremuestreo equivalente, pesos controlados, varias semillas y una auditoría de etiquetas. Esta es evidencia de una receta concreta, no una garantía de mejora general.</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 results/evidence.json; docs/results.md. Delta = 100*(augmented - baseline).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6:15–7:15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Añadí este análisis después del envío del paper. Las etiquetas suaves de tipos toman valores cero, un tercio, dos tercios y uno: conservan la fracción de tres votos positivos. En desarrollo, 877 de 1,212 reportes, 72.36%, tienen al menos uno de los seis tipos con voto dividido. Psicológica registra 33% de decisiones divididas y sexual 6.44%, siempre sobre todos los reportes. Las prevalencias influyen, así que esta comparación no mide directamente la dificultad de cada categoría. La varianza dentro de una decisión binaria es p por uno menos p: cero en unanimidad y dos novenos en división. No tenemos identidades para comparar trabajadores, ni votos de severidad, y la fuente consultada solo identifica anotadores humanos. Encontramos además 24 discrepancias entre mayoría suave y etiqueta dura en desarrollo, cuya causa no conocemos. Esta evidencia invita a evaluar por consenso. La cabeza auxiliar S1 sí aprovechó etiquetas suaves, pero el componente S2 final usó duras; los experimentos S2 con suaves fueron posteriores al envío.</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 docs/annotation_consensus.md; results/annotation_consensus.json; scripts/analyze_annotations.py. New analysis after the paper.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7:15–8:30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Al final ya teníamos recetas útiles. En lugar de volver a entrenarlas para cada ajuste, fijamos como ancla las predicciones de la mejor entrega previa. Esa referencia procedía de un ensamble Top10 con tres BETO, tres Electricidad, tres componentes clásicos y un BERTin. Un candidato de cinco folds BETO aumentado y cinco Electricidad propone cambios mediante umbrales ordinales. El router solo admite Medium a Mild, Mild a Medium y High a Severe. Este último necesita además indicios léxicos severos. Si la propuesta no cumple la regla, se conserva el ancla. Cambiaron 290 de 4,219 predicciones: 177, 101 y 12 respectivamente. El 93.13% permaneció idéntico. Es una regla aplicada a las decisiones, no una afirmación de que ningún modelo adicional se entrenó. La estrategia mantiene las recetas seleccionadas y reduce el alcance de la modificación final.</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 scripts/materialize_hailmary_s1_foldbag_router_20260507.py; docs/method.md.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8:30–9:20</a:t>
            </a:r>
          </a:p>
          <a:p xmlns:a="http://schemas.openxmlformats.org/drawingml/2006/main">
            <a:r>
              <a:t/>
            </a:r>
          </a:p>
          <a:p xmlns:a="http://schemas.openxmlformats.org/drawingml/2006/main">
            <a:r>
              <a:t>El sistema completo obtuvo 0.60798 de macro-F1 en severidad, tercer lugar de dieciséis equipos. Para tipos obtuvo 0.87016 de micro-F1, sexto de quince. La mejora final sobre el ancla fue pequeña: de 0.60678 a 0.60798, alrededor de 0.00120. La salida de tipos permaneció exactamente igual. Separar esta mejora de la aumentación evita atribuirle al último ajuste toda la historia del proyecto. Los resultados oficiales orientaron la selección, por lo que el test no fue una evaluación final completamente independiente. Estos son resultados de benchmark, no validación en atención social ni evidencia de transferencia entre instituciones.</a:t>
            </a:r>
          </a:p>
          <a:p xmlns:a="http://schemas.openxmlformats.org/drawingml/2006/main">
            <a:r>
              <a:t/>
            </a:r>
          </a:p>
          <a:p xmlns:a="http://schemas.openxmlformats.org/drawingml/2006/main">
            <a:r>
              <a:t>Source: docs/results.md; corrected paper, official results. https://www.codabench.org/competitions/14614/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9:20–10:00</a:t>
            </a:r>
            <a:endParaRPr/>
          </a:p>
          <a:p xmlns:a="http://schemas.openxmlformats.org/drawingml/2006/main">
            <a:r>
              <a:t/>
            </a:r>
            <a:endParaRPr/>
          </a:p>
          <a:p xmlns:a="http://schemas.openxmlformats.org/drawingml/2006/main">
            <a:r>
              <a:t>La propuesta que puede generalizarse es una estrategia comprobable: comparar familias con protocolos comunes, adaptar salidas y pérdidas al significado de las etiquetas, intervenir sobre clases escasas y medir todos los errores relevantes. Una vez elegidas las recetas, limitar cambios alrededor de una referencia permite controlar cuántas decisiones se modifican. Para poner a prueba esa estrategia fuera del concurso, proponemos auditar las variantes sintéticas, controlar balance y pesos, repetir semillas y evaluar por institución y nivel de consenso. Estas son las siguientes pruebas; todavía no demostramos generalización entre instituciones. Gracias.</a:t>
            </a:r>
            <a:endParaRPr/>
          </a:p>
          <a:p xmlns:a="http://schemas.openxmlformats.org/drawingml/2006/main">
            <a:r>
              <a:t/>
            </a:r>
            <a:endParaRPr/>
          </a:p>
          <a:p xmlns:a="http://schemas.openxmlformats.org/drawingml/2006/main">
            <a:r>
              <a:t>Source: docs/method.md, limitations and future validation.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dc84973478c416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f50b627604c4f0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e913f3e80ec4bf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1e68063822947a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d0f2a6f5d6e46f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fa9b821a6814169"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11a2d1ebc99c42c8"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85288d829d8f4913"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73e228ac06b6445b" /><Relationship Type="http://schemas.openxmlformats.org/officeDocument/2006/relationships/image" Target="/ppt/media/image.png" Id="Ra117fefabc4e4651"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2805d565fdae499a" /><Relationship Type="http://schemas.openxmlformats.org/officeDocument/2006/relationships/image" Target="/ppt/media/image2.png" Id="R549b8642cb274bcb" /></Relationships>
</file>

<file path=ppt/slideLayouts/slideLayout1.xml><?xml version="1.0" encoding="utf-8"?>
<p:sldLayout xmlns:p="http://schemas.openxmlformats.org/presentationml/2006/main" preserve="1" userDrawn="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83004A5-B645-655E-5362-4217D55892E1}"/>
              </a:ext>
            </a:extLst>
          </p:cNvPr>
          <p:cNvSpPr>
            <a:spLocks xmlns:a="http://schemas.openxmlformats.org/drawingml/2006/main" noGrp="1"/>
          </p:cNvSpPr>
          <p:nvPr>
            <p:ph type="ctrTitle" idx="0"/>
          </p:nvPr>
        </p:nvSpPr>
        <p:spPr>
          <a:xfrm xmlns:a="http://schemas.openxmlformats.org/drawingml/2006/main">
            <a:off x="393700" y="1041400"/>
            <a:ext cx="7493000" cy="2491490"/>
          </a:xfrm>
        </p:spPr>
        <p:txBody>
          <a:bodyPr xmlns:a="http://schemas.openxmlformats.org/drawingml/2006/main" anchor="b"/>
          <a:lstStyle xmlns:a="http://schemas.openxmlformats.org/drawingml/2006/main">
            <a:lvl1pPr algn="l">
              <a:buNone/>
              <a:defRPr sz="6000" b="1" i="0">
                <a:solidFill>
                  <a:schemeClr val="accent1"/>
                </a:solidFill>
                <a:latin typeface="Inter SemiBold"/>
                <a:ea typeface="Inter SemiBold"/>
                <a:cs typeface="Inter SemiBold"/>
              </a:defRPr>
            </a:lvl1pPr>
          </a:lstStyle>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C57031B1-59B2-C235-9FDD-8050418A5FD8}"/>
              </a:ext>
            </a:extLst>
          </p:cNvPr>
          <p:cNvSpPr>
            <a:spLocks xmlns:a="http://schemas.openxmlformats.org/drawingml/2006/main" noGrp="1"/>
          </p:cNvSpPr>
          <p:nvPr>
            <p:ph type="subTitle" idx="1"/>
          </p:nvPr>
        </p:nvSpPr>
        <p:spPr>
          <a:xfrm xmlns:a="http://schemas.openxmlformats.org/drawingml/2006/main">
            <a:off x="393700" y="4356100"/>
            <a:ext cx="5537200" cy="1638300"/>
          </a:xfrm>
        </p:spPr>
        <p:txBody>
          <a:bodyPr xmlns:a="http://schemas.openxmlformats.org/drawingml/2006/main"/>
          <a:lstStyle xmlns:a="http://schemas.openxmlformats.org/drawingml/2006/main">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a:r>
              <a:t>Click to edit Master subtitle style</a:t>
            </a:r>
          </a:p>
        </p:txBody>
      </p:sp>
    </p:spTree>
  </p:cSld>
</p:sldLayout>
</file>

<file path=ppt/slideLayouts/slideLayout2.xml><?xml version="1.0" encoding="utf-8"?>
<p:sldLayout xmlns:p="http://schemas.openxmlformats.org/presentationml/2006/main" preserve="1" userDrawn="1">
  <p:cSld name="Title and Content">
    <p:spTree>
      <p:nvGrpSpPr>
        <p:cNvPr id="1" name=""/>
        <p:cNvGrpSpPr/>
        <p:nvPr/>
      </p:nvGrpSpPr>
      <p:grpSpPr>
        <a:xfrm xmlns:a="http://schemas.openxmlformats.org/drawingml/2006/main"/>
      </p:grpSpPr>
      <p:sp>
        <p:nvSpPr>
          <p:cNvPr id="8" name="Text Placeholder 2">
            <a:extLst xmlns:a="http://schemas.openxmlformats.org/drawingml/2006/main">
              <a:ext uri="{FF2B5EF4-FFF2-40B4-BE49-F238E27FC236}">
                <a16:creationId xmlns:a16="http://schemas.microsoft.com/office/drawing/2014/main" id="{5E851FDE-9E0B-568C-1CBA-E72B86CC06ED}"/>
              </a:ext>
            </a:extLst>
          </p:cNvPr>
          <p:cNvSpPr>
            <a:spLocks xmlns:a="http://schemas.openxmlformats.org/drawingml/2006/main" noGrp="1"/>
          </p:cNvSpPr>
          <p:nvPr>
            <p:ph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9" name="Footer Placeholder 4">
            <a:extLst xmlns:a="http://schemas.openxmlformats.org/drawingml/2006/main">
              <a:ext uri="{FF2B5EF4-FFF2-40B4-BE49-F238E27FC236}">
                <a16:creationId xmlns:a16="http://schemas.microsoft.com/office/drawing/2014/main" id="{29CCD18F-3BF6-A3EE-DAAE-66BD406D7E8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100">
                <a:solidFill>
                  <a:schemeClr val="tx1"/>
                </a:solidFill>
              </a:defRPr>
            </a:lvl1pPr>
          </a:lstStyle>
          <a:p xmlns:a="http://schemas.openxmlformats.org/drawingml/2006/main">
            <a:endParaRPr sz="1100"/>
          </a:p>
        </p:txBody>
      </p:sp>
      <p:sp>
        <p:nvSpPr>
          <p:cNvPr id="10" name="Slide Number Placeholder 5">
            <a:extLst xmlns:a="http://schemas.openxmlformats.org/drawingml/2006/main">
              <a:ext uri="{FF2B5EF4-FFF2-40B4-BE49-F238E27FC236}">
                <a16:creationId xmlns:a16="http://schemas.microsoft.com/office/drawing/2014/main" id="{5186992D-ADA6-5A23-EBD5-6BEF0A2E61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100" kern="1200">
                <a:solidFill>
                  <a:schemeClr val="tx1"/>
                </a:solidFill>
                <a:latin typeface="+mn-lt"/>
                <a:ea typeface="+mn-lt"/>
                <a:cs typeface="+mn-lt"/>
              </a:defRPr>
            </a:lvl1pPr>
          </a:lstStyle>
          <a:p xmlns:a="http://schemas.openxmlformats.org/drawingml/2006/main">
            <a:fld id="{8574A810-7A8E-054F-9F6B-09E9C694ECF9}" type="slidenum">
              <a:t>‹#›</a:t>
            </a:fld>
            <a:endParaRPr sz="1100"/>
          </a:p>
        </p:txBody>
      </p:sp>
      <p:sp>
        <p:nvSpPr>
          <p:cNvPr id="2" name="Title Placeholder 1">
            <a:extLst xmlns:a="http://schemas.openxmlformats.org/drawingml/2006/main">
              <a:ext uri="{FF2B5EF4-FFF2-40B4-BE49-F238E27FC236}">
                <a16:creationId xmlns:a16="http://schemas.microsoft.com/office/drawing/2014/main" id="{CDBB333F-FFCF-AA9E-7AC0-64DB02353FBC}"/>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3.xml><?xml version="1.0" encoding="utf-8"?>
<p:sldLayout xmlns:p="http://schemas.openxmlformats.org/presentationml/2006/main" preserve="1" userDrawn="1">
  <p:cSld name="Two Content">
    <p:spTree>
      <p:nvGrpSpPr>
        <p:cNvPr id="1" name=""/>
        <p:cNvGrpSpPr/>
        <p:nvPr/>
      </p:nvGrpSpPr>
      <p:grpSpPr>
        <a:xfrm xmlns:a="http://schemas.openxmlformats.org/drawingml/2006/main"/>
      </p:grpSpPr>
      <p:sp>
        <p:nvSpPr>
          <p:cNvPr id="9" name="Text Placeholder 2">
            <a:extLst xmlns:a="http://schemas.openxmlformats.org/drawingml/2006/main">
              <a:ext uri="{FF2B5EF4-FFF2-40B4-BE49-F238E27FC236}">
                <a16:creationId xmlns:a16="http://schemas.microsoft.com/office/drawing/2014/main" id="{4DCC3060-FADA-4310-30F9-24EC34B5AA87}"/>
              </a:ext>
            </a:extLst>
          </p:cNvPr>
          <p:cNvSpPr>
            <a:spLocks xmlns:a="http://schemas.openxmlformats.org/drawingml/2006/main" noGrp="1"/>
          </p:cNvSpPr>
          <p:nvPr>
            <p:ph idx="1"/>
          </p:nvPr>
        </p:nvSpPr>
        <p:spPr>
          <a:xfrm xmlns:a="http://schemas.openxmlformats.org/drawingml/2006/main">
            <a:off x="393700"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0" name="Footer Placeholder 4">
            <a:extLst xmlns:a="http://schemas.openxmlformats.org/drawingml/2006/main">
              <a:ext uri="{FF2B5EF4-FFF2-40B4-BE49-F238E27FC236}">
                <a16:creationId xmlns:a16="http://schemas.microsoft.com/office/drawing/2014/main" id="{19E7B047-08E6-29C1-F101-C084D555AACC}"/>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100">
                <a:solidFill>
                  <a:schemeClr val="tx1"/>
                </a:solidFill>
              </a:defRPr>
            </a:lvl1pPr>
          </a:lstStyle>
          <a:p xmlns:a="http://schemas.openxmlformats.org/drawingml/2006/main">
            <a:endParaRPr sz="1100"/>
          </a:p>
        </p:txBody>
      </p:sp>
      <p:sp>
        <p:nvSpPr>
          <p:cNvPr id="11" name="Slide Number Placeholder 5">
            <a:extLst xmlns:a="http://schemas.openxmlformats.org/drawingml/2006/main">
              <a:ext uri="{FF2B5EF4-FFF2-40B4-BE49-F238E27FC236}">
                <a16:creationId xmlns:a16="http://schemas.microsoft.com/office/drawing/2014/main" id="{3DE564C6-8AA0-935D-A919-07AFA15B335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100" kern="1200">
                <a:solidFill>
                  <a:schemeClr val="tx1"/>
                </a:solidFill>
                <a:latin typeface="+mn-lt"/>
                <a:ea typeface="+mn-lt"/>
                <a:cs typeface="+mn-lt"/>
              </a:defRPr>
            </a:lvl1pPr>
          </a:lstStyle>
          <a:p xmlns:a="http://schemas.openxmlformats.org/drawingml/2006/main">
            <a:fld id="{8574A810-7A8E-054F-9F6B-09E9C694ECF9}" type="slidenum">
              <a:t>‹#›</a:t>
            </a:fld>
            <a:endParaRPr sz="1100"/>
          </a:p>
        </p:txBody>
      </p:sp>
      <p:sp>
        <p:nvSpPr>
          <p:cNvPr id="12" name="Text Placeholder 2">
            <a:extLst xmlns:a="http://schemas.openxmlformats.org/drawingml/2006/main">
              <a:ext uri="{FF2B5EF4-FFF2-40B4-BE49-F238E27FC236}">
                <a16:creationId xmlns:a16="http://schemas.microsoft.com/office/drawing/2014/main" id="{4ABE46D3-8F05-1C7F-3EC7-20BFCC76C251}"/>
              </a:ext>
            </a:extLst>
          </p:cNvPr>
          <p:cNvSpPr>
            <a:spLocks xmlns:a="http://schemas.openxmlformats.org/drawingml/2006/main" noGrp="1"/>
          </p:cNvSpPr>
          <p:nvPr>
            <p:ph idx="10"/>
          </p:nvPr>
        </p:nvSpPr>
        <p:spPr>
          <a:xfrm xmlns:a="http://schemas.openxmlformats.org/drawingml/2006/main">
            <a:off x="6256618"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739D2C21-36BF-25E7-8E97-1D17F313F7AF}"/>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4.xml><?xml version="1.0" encoding="utf-8"?>
<p:sldLayout xmlns:p="http://schemas.openxmlformats.org/presentationml/2006/main" preserve="1" userDrawn="1">
  <p:cSld name="Three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100">
                <a:solidFill>
                  <a:schemeClr val="tx1"/>
                </a:solidFill>
              </a:defRPr>
            </a:lvl1pPr>
          </a:lstStyle>
          <a:p xmlns:a="http://schemas.openxmlformats.org/drawingml/2006/main">
            <a:endParaRPr sz="11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100" kern="1200">
                <a:solidFill>
                  <a:schemeClr val="tx1"/>
                </a:solidFill>
                <a:latin typeface="+mn-lt"/>
                <a:ea typeface="+mn-lt"/>
                <a:cs typeface="+mn-lt"/>
              </a:defRPr>
            </a:lvl1pPr>
          </a:lstStyle>
          <a:p xmlns:a="http://schemas.openxmlformats.org/drawingml/2006/main">
            <a:fld id="{8574A810-7A8E-054F-9F6B-09E9C694ECF9}" type="slidenum">
              <a:t>‹#›</a:t>
            </a:fld>
            <a:endParaRPr sz="1100"/>
          </a:p>
        </p:txBody>
      </p:sp>
      <p:sp>
        <p:nvSpPr>
          <p:cNvPr id="14" name="Text Placeholder 2">
            <a:extLst xmlns:a="http://schemas.openxmlformats.org/drawingml/2006/main">
              <a:ext uri="{FF2B5EF4-FFF2-40B4-BE49-F238E27FC236}">
                <a16:creationId xmlns:a16="http://schemas.microsoft.com/office/drawing/2014/main" id="{80E090C5-E6C8-92F2-E8C2-A840B8F1807D}"/>
              </a:ext>
            </a:extLst>
          </p:cNvPr>
          <p:cNvSpPr>
            <a:spLocks xmlns:a="http://schemas.openxmlformats.org/drawingml/2006/main" noGrp="1"/>
          </p:cNvSpPr>
          <p:nvPr>
            <p:ph idx="10"/>
          </p:nvPr>
        </p:nvSpPr>
        <p:spPr>
          <a:xfrm xmlns:a="http://schemas.openxmlformats.org/drawingml/2006/main">
            <a:off x="43180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5" name="Text Placeholder 2">
            <a:extLst xmlns:a="http://schemas.openxmlformats.org/drawingml/2006/main">
              <a:ext uri="{FF2B5EF4-FFF2-40B4-BE49-F238E27FC236}">
                <a16:creationId xmlns:a16="http://schemas.microsoft.com/office/drawing/2014/main" id="{0C6D2D15-AEC2-9F99-316F-C37AF863965D}"/>
              </a:ext>
            </a:extLst>
          </p:cNvPr>
          <p:cNvSpPr>
            <a:spLocks xmlns:a="http://schemas.openxmlformats.org/drawingml/2006/main" noGrp="1"/>
          </p:cNvSpPr>
          <p:nvPr>
            <p:ph idx="11"/>
          </p:nvPr>
        </p:nvSpPr>
        <p:spPr>
          <a:xfrm xmlns:a="http://schemas.openxmlformats.org/drawingml/2006/main">
            <a:off x="8232273"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5.xml><?xml version="1.0" encoding="utf-8"?>
<p:sldLayout xmlns:p="http://schemas.openxmlformats.org/presentationml/2006/main" preserve="1" userDrawn="1">
  <p:cSld name="Four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4826000"/>
            <a:ext cx="2595934" cy="1168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100">
                <a:solidFill>
                  <a:schemeClr val="tx1"/>
                </a:solidFill>
              </a:defRPr>
            </a:lvl1pPr>
          </a:lstStyle>
          <a:p xmlns:a="http://schemas.openxmlformats.org/drawingml/2006/main">
            <a:endParaRPr sz="11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952"/>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100" kern="1200">
                <a:solidFill>
                  <a:schemeClr val="tx1"/>
                </a:solidFill>
                <a:latin typeface="+mn-lt"/>
                <a:ea typeface="+mn-lt"/>
                <a:cs typeface="+mn-lt"/>
              </a:defRPr>
            </a:lvl1pPr>
          </a:lstStyle>
          <a:p xmlns:a="http://schemas.openxmlformats.org/drawingml/2006/main">
            <a:fld id="{8574A810-7A8E-054F-9F6B-09E9C694ECF9}" type="slidenum">
              <a:t>‹#›</a:t>
            </a:fld>
            <a:endParaRPr sz="1100"/>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8" name="Text Placeholder 7">
            <a:extLst xmlns:a="http://schemas.openxmlformats.org/drawingml/2006/main">
              <a:ext uri="{FF2B5EF4-FFF2-40B4-BE49-F238E27FC236}">
                <a16:creationId xmlns:a16="http://schemas.microsoft.com/office/drawing/2014/main" id="{4F70A9DA-D783-0627-3166-E13B68C2ADAC}"/>
              </a:ext>
            </a:extLst>
          </p:cNvPr>
          <p:cNvSpPr>
            <a:spLocks xmlns:a="http://schemas.openxmlformats.org/drawingml/2006/main" noGrp="1"/>
          </p:cNvSpPr>
          <p:nvPr>
            <p:ph type="body" idx="12"/>
          </p:nvPr>
        </p:nvSpPr>
        <p:spPr>
          <a:xfrm xmlns:a="http://schemas.openxmlformats.org/drawingml/2006/main">
            <a:off x="3334966" y="4826000"/>
            <a:ext cx="2595934" cy="1168400"/>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
        <p:nvSpPr>
          <p:cNvPr id="9" name="Text Placeholder 2">
            <a:extLst xmlns:a="http://schemas.openxmlformats.org/drawingml/2006/main">
              <a:ext uri="{FF2B5EF4-FFF2-40B4-BE49-F238E27FC236}">
                <a16:creationId xmlns:a16="http://schemas.microsoft.com/office/drawing/2014/main" id="{75BF2647-8E8C-CAEE-896D-0E1567AF7E99}"/>
              </a:ext>
            </a:extLst>
          </p:cNvPr>
          <p:cNvSpPr>
            <a:spLocks xmlns:a="http://schemas.openxmlformats.org/drawingml/2006/main" noGrp="1"/>
          </p:cNvSpPr>
          <p:nvPr>
            <p:ph idx="13"/>
          </p:nvPr>
        </p:nvSpPr>
        <p:spPr>
          <a:xfrm xmlns:a="http://schemas.openxmlformats.org/drawingml/2006/main">
            <a:off x="6264413" y="4826000"/>
            <a:ext cx="2595934" cy="1168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0" name="Text Placeholder 7">
            <a:extLst xmlns:a="http://schemas.openxmlformats.org/drawingml/2006/main">
              <a:ext uri="{FF2B5EF4-FFF2-40B4-BE49-F238E27FC236}">
                <a16:creationId xmlns:a16="http://schemas.microsoft.com/office/drawing/2014/main" id="{37C6F143-221A-9959-8FBA-B9B1DB6602D0}"/>
              </a:ext>
            </a:extLst>
          </p:cNvPr>
          <p:cNvSpPr>
            <a:spLocks xmlns:a="http://schemas.openxmlformats.org/drawingml/2006/main" noGrp="1"/>
          </p:cNvSpPr>
          <p:nvPr>
            <p:ph type="body" idx="14"/>
          </p:nvPr>
        </p:nvSpPr>
        <p:spPr>
          <a:xfrm xmlns:a="http://schemas.openxmlformats.org/drawingml/2006/main">
            <a:off x="9205679" y="4826000"/>
            <a:ext cx="2595934" cy="1168400"/>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Tree>
  </p:cSld>
</p:sldLayout>
</file>

<file path=ppt/slideLayouts/slideLayout6.xml><?xml version="1.0" encoding="utf-8"?>
<p:sldLayout xmlns:p="http://schemas.openxmlformats.org/presentationml/2006/main" preserve="1" userDrawn="1">
  <p:cSld name="Title Only">
    <p:spTree>
      <p:nvGrpSpPr>
        <p:cNvPr id="1" name=""/>
        <p:cNvGrpSpPr/>
        <p:nvPr/>
      </p:nvGrpSpPr>
      <p:grpSpPr>
        <a:xfrm xmlns:a="http://schemas.openxmlformats.org/drawingml/2006/main"/>
      </p:grpSpPr>
      <p:sp>
        <p:nvSpPr>
          <p:cNvPr id="8" name="Footer Placeholder 4">
            <a:extLst xmlns:a="http://schemas.openxmlformats.org/drawingml/2006/main">
              <a:ext uri="{FF2B5EF4-FFF2-40B4-BE49-F238E27FC236}">
                <a16:creationId xmlns:a16="http://schemas.microsoft.com/office/drawing/2014/main" id="{DB1182C5-F22B-2641-06DE-4EDACA3C1DD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100">
                <a:solidFill>
                  <a:schemeClr val="tx1"/>
                </a:solidFill>
              </a:defRPr>
            </a:lvl1pPr>
          </a:lstStyle>
          <a:p xmlns:a="http://schemas.openxmlformats.org/drawingml/2006/main">
            <a:endParaRPr sz="1100"/>
          </a:p>
        </p:txBody>
      </p:sp>
      <p:sp>
        <p:nvSpPr>
          <p:cNvPr id="9" name="Slide Number Placeholder 5">
            <a:extLst xmlns:a="http://schemas.openxmlformats.org/drawingml/2006/main">
              <a:ext uri="{FF2B5EF4-FFF2-40B4-BE49-F238E27FC236}">
                <a16:creationId xmlns:a16="http://schemas.microsoft.com/office/drawing/2014/main" id="{F97A4AD5-204B-38FD-4F33-270C2F9F5CC6}"/>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100" kern="1200">
                <a:solidFill>
                  <a:schemeClr val="tx1"/>
                </a:solidFill>
                <a:latin typeface="+mn-lt"/>
                <a:ea typeface="+mn-lt"/>
                <a:cs typeface="+mn-lt"/>
              </a:defRPr>
            </a:lvl1pPr>
          </a:lstStyle>
          <a:p xmlns:a="http://schemas.openxmlformats.org/drawingml/2006/main">
            <a:fld id="{8574A810-7A8E-054F-9F6B-09E9C694ECF9}" type="slidenum">
              <a:t>‹#›</a:t>
            </a:fld>
            <a:endParaRPr sz="1100"/>
          </a:p>
        </p:txBody>
      </p:sp>
      <p:sp>
        <p:nvSpPr>
          <p:cNvPr id="2" name="Title Placeholder 1">
            <a:extLst xmlns:a="http://schemas.openxmlformats.org/drawingml/2006/main">
              <a:ext uri="{FF2B5EF4-FFF2-40B4-BE49-F238E27FC236}">
                <a16:creationId xmlns:a16="http://schemas.microsoft.com/office/drawing/2014/main" id="{75CF9983-3FD7-FAE4-9F0B-B2CE806D891D}"/>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7.xml><?xml version="1.0" encoding="utf-8"?>
<p:sldLayout xmlns:p="http://schemas.openxmlformats.org/presentationml/2006/main" preserve="1" userDrawn="1">
  <p:cSld name="Footer Only">
    <p:spTree>
      <p:nvGrpSpPr>
        <p:cNvPr id="1" name=""/>
        <p:cNvGrpSpPr/>
        <p:nvPr/>
      </p:nvGrpSpPr>
      <p:grpSpPr>
        <a:xfrm xmlns:a="http://schemas.openxmlformats.org/drawingml/2006/main"/>
      </p:grpSpPr>
      <p:sp>
        <p:nvSpPr>
          <p:cNvPr id="7" name="Footer Placeholder 4">
            <a:extLst xmlns:a="http://schemas.openxmlformats.org/drawingml/2006/main">
              <a:ext uri="{FF2B5EF4-FFF2-40B4-BE49-F238E27FC236}">
                <a16:creationId xmlns:a16="http://schemas.microsoft.com/office/drawing/2014/main" id="{1012CBCC-C555-8C11-443D-86D6F7A45CF8}"/>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100">
                <a:solidFill>
                  <a:schemeClr val="tx1"/>
                </a:solidFill>
              </a:defRPr>
            </a:lvl1pPr>
          </a:lstStyle>
          <a:p xmlns:a="http://schemas.openxmlformats.org/drawingml/2006/main">
            <a:endParaRPr sz="1100"/>
          </a:p>
        </p:txBody>
      </p:sp>
      <p:sp>
        <p:nvSpPr>
          <p:cNvPr id="8" name="Slide Number Placeholder 5">
            <a:extLst xmlns:a="http://schemas.openxmlformats.org/drawingml/2006/main">
              <a:ext uri="{FF2B5EF4-FFF2-40B4-BE49-F238E27FC236}">
                <a16:creationId xmlns:a16="http://schemas.microsoft.com/office/drawing/2014/main" id="{B69B260B-B882-BF7F-1BB1-28B9578A25A2}"/>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100" kern="1200">
                <a:solidFill>
                  <a:schemeClr val="tx1"/>
                </a:solidFill>
                <a:latin typeface="+mn-lt"/>
                <a:ea typeface="+mn-lt"/>
                <a:cs typeface="+mn-lt"/>
              </a:defRPr>
            </a:lvl1pPr>
          </a:lstStyle>
          <a:p xmlns:a="http://schemas.openxmlformats.org/drawingml/2006/main">
            <a:fld id="{8574A810-7A8E-054F-9F6B-09E9C694ECF9}" type="slidenum">
              <a:t>‹#›</a:t>
            </a:fld>
            <a:endParaRPr sz="1100"/>
          </a:p>
        </p:txBody>
      </p:sp>
    </p:spTree>
  </p:cSld>
</p:sldLayout>
</file>

<file path=ppt/slideLayouts/slideLayout8.xml><?xml version="1.0" encoding="utf-8"?>
<p:sldLayout xmlns:p="http://schemas.openxmlformats.org/presentationml/2006/main" preserve="1" userDrawn="1">
  <p:cSld name="Blank">
    <p:spTree>
      <p:nvGrpSpPr>
        <p:cNvPr id="1" name=""/>
        <p:cNvGrpSpPr/>
        <p:nvPr/>
      </p:nvGrpSpPr>
      <p:grpSpPr>
        <a:xfrm xmlns:a="http://schemas.openxmlformats.org/drawingml/2006/main"/>
      </p:grpSpPr>
    </p:spTree>
  </p:cSld>
</p:sldLayout>
</file>

<file path=ppt/slideLayouts/slideLayout9.xml><?xml version="1.0" encoding="utf-8"?>
<p:sldLayout xmlns:p="http://schemas.openxmlformats.org/presentationml/2006/main" preserve="1" userDrawn="1">
  <p:cSld name="36 Field Grid">
    <p:bg>
      <p:bgPr>
        <a:blipFill xmlns:a="http://schemas.openxmlformats.org/drawingml/2006/main" rotWithShape="1">
          <a:blip xmlns:r="http://schemas.openxmlformats.org/officeDocument/2006/relationships" r:embed="Ra117fefabc4e4651">
            <a:lum/>
          </a:blip>
          <a:srcRect l="0" t="0" r="0" b="0"/>
          <a:stretch>
            <a:fillRect l="0" t="0" r="0" b="0"/>
          </a:stretch>
        </a:blipFill>
      </p:bgPr>
    </p:bg>
    <p:spTree>
      <p:nvGrpSpPr>
        <p:cNvPr id="1" name=""/>
        <p:cNvGrpSpPr/>
        <p:nvPr/>
      </p:nvGrpSpPr>
      <p:grpSpPr>
        <a:xfrm xmlns:a="http://schemas.openxmlformats.org/drawingml/2006/main"/>
      </p:grpSpPr>
    </p:spTree>
  </p:cSld>
</p:sldLayout>
</file>

<file path=ppt/slideLayouts/slideLayout10.xml><?xml version="1.0" encoding="utf-8"?>
<p:sldLayout xmlns:p="http://schemas.openxmlformats.org/presentationml/2006/main" preserve="1" userDrawn="1">
  <p:cSld name="48 Field Grid">
    <p:bg>
      <p:bgPr>
        <a:blipFill xmlns:a="http://schemas.openxmlformats.org/drawingml/2006/main" rotWithShape="1">
          <a:blip xmlns:r="http://schemas.openxmlformats.org/officeDocument/2006/relationships" r:embed="R549b8642cb274bcb">
            <a:lum/>
          </a:blip>
          <a:srcRect l="0" t="0" r="0" b="0"/>
          <a:stretch>
            <a:fillRect l="0" t="0" r="0" b="0"/>
          </a:stretch>
        </a:blipFill>
      </p:bgPr>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f047c6f3a44464c" /><Relationship Type="http://schemas.openxmlformats.org/officeDocument/2006/relationships/slideLayout" Target="/ppt/slideLayouts/slideLayout1.xml" Id="R773432208caa486d" /><Relationship Type="http://schemas.openxmlformats.org/officeDocument/2006/relationships/slideLayout" Target="/ppt/slideLayouts/slideLayout2.xml" Id="R65087a01bbbe4504" /><Relationship Type="http://schemas.openxmlformats.org/officeDocument/2006/relationships/slideLayout" Target="/ppt/slideLayouts/slideLayout3.xml" Id="R1f164f7c743b46f8" /><Relationship Type="http://schemas.openxmlformats.org/officeDocument/2006/relationships/slideLayout" Target="/ppt/slideLayouts/slideLayout4.xml" Id="Rb22586a6fb914d0d" /><Relationship Type="http://schemas.openxmlformats.org/officeDocument/2006/relationships/slideLayout" Target="/ppt/slideLayouts/slideLayout5.xml" Id="R9c70f91c536f424d" /><Relationship Type="http://schemas.openxmlformats.org/officeDocument/2006/relationships/slideLayout" Target="/ppt/slideLayouts/slideLayout6.xml" Id="Re8545a04ffb04a52" /><Relationship Type="http://schemas.openxmlformats.org/officeDocument/2006/relationships/slideLayout" Target="/ppt/slideLayouts/slideLayout7.xml" Id="R274410b48aff4083" /><Relationship Type="http://schemas.openxmlformats.org/officeDocument/2006/relationships/slideLayout" Target="/ppt/slideLayouts/slideLayout8.xml" Id="R9cccb4d7b6ea4cd2" /><Relationship Type="http://schemas.openxmlformats.org/officeDocument/2006/relationships/slideLayout" Target="/ppt/slideLayouts/slideLayout9.xml" Id="R6bffdfe3b3cf414b" /><Relationship Type="http://schemas.openxmlformats.org/officeDocument/2006/relationships/slideLayout" Target="/ppt/slideLayouts/slideLayout10.xml" Id="R6bae25ca640d46d3"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BB87ED2E-D8FF-5C8C-ED50-59BA3091C3E1}"/>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05B0E1CB-6DCA-2E9F-2B74-4309B4084C09}"/>
              </a:ext>
            </a:extLst>
          </p:cNvPr>
          <p:cNvSpPr>
            <a:spLocks xmlns:a="http://schemas.openxmlformats.org/drawingml/2006/main" noGrp="1"/>
          </p:cNvSpPr>
          <p:nvPr>
            <p:ph type="body"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Footer Placeholder 4">
            <a:extLst xmlns:a="http://schemas.openxmlformats.org/drawingml/2006/main">
              <a:ext uri="{FF2B5EF4-FFF2-40B4-BE49-F238E27FC236}">
                <a16:creationId xmlns:a16="http://schemas.microsoft.com/office/drawing/2014/main" id="{3C75650C-2983-5B02-8421-FF1818435433}"/>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100">
                <a:solidFill>
                  <a:schemeClr val="tx1"/>
                </a:solidFill>
              </a:defRPr>
            </a:lvl1pPr>
          </a:lstStyle>
          <a:p xmlns:a="http://schemas.openxmlformats.org/drawingml/2006/main">
            <a:endParaRPr sz="1100"/>
          </a:p>
        </p:txBody>
      </p:sp>
      <p:sp>
        <p:nvSpPr>
          <p:cNvPr id="6" name="Slide Number Placeholder 5">
            <a:extLst xmlns:a="http://schemas.openxmlformats.org/drawingml/2006/main">
              <a:ext uri="{FF2B5EF4-FFF2-40B4-BE49-F238E27FC236}">
                <a16:creationId xmlns:a16="http://schemas.microsoft.com/office/drawing/2014/main" id="{D872C88C-1AB3-96BA-C9E5-3435A4BD59B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100" kern="1200">
                <a:solidFill>
                  <a:schemeClr val="tx1"/>
                </a:solidFill>
                <a:latin typeface="+mn-lt"/>
                <a:ea typeface="+mn-lt"/>
                <a:cs typeface="+mn-lt"/>
              </a:defRPr>
            </a:lvl1pPr>
          </a:lstStyle>
          <a:p xmlns:a="http://schemas.openxmlformats.org/drawingml/2006/main">
            <a:fld id="{8574A810-7A8E-054F-9F6B-09E9C694ECF9}" type="slidenum">
              <a:t>‹#›</a:t>
            </a:fld>
            <a:endParaRPr sz="1100"/>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73432208caa486d"/>
    <p:sldLayoutId xmlns:r="http://schemas.openxmlformats.org/officeDocument/2006/relationships" id="2147483650" r:id="R65087a01bbbe4504"/>
    <p:sldLayoutId xmlns:r="http://schemas.openxmlformats.org/officeDocument/2006/relationships" id="2147483651" r:id="R1f164f7c743b46f8"/>
    <p:sldLayoutId xmlns:r="http://schemas.openxmlformats.org/officeDocument/2006/relationships" id="2147483652" r:id="Rb22586a6fb914d0d"/>
    <p:sldLayoutId xmlns:r="http://schemas.openxmlformats.org/officeDocument/2006/relationships" id="2147483653" r:id="R9c70f91c536f424d"/>
    <p:sldLayoutId xmlns:r="http://schemas.openxmlformats.org/officeDocument/2006/relationships" id="2147483654" r:id="Re8545a04ffb04a52"/>
    <p:sldLayoutId xmlns:r="http://schemas.openxmlformats.org/officeDocument/2006/relationships" id="2147483655" r:id="R274410b48aff4083"/>
    <p:sldLayoutId xmlns:r="http://schemas.openxmlformats.org/officeDocument/2006/relationships" id="2147483656" r:id="R9cccb4d7b6ea4cd2"/>
    <p:sldLayoutId xmlns:r="http://schemas.openxmlformats.org/officeDocument/2006/relationships" id="2147483657" r:id="R6bffdfe3b3cf414b"/>
    <p:sldLayoutId xmlns:r="http://schemas.openxmlformats.org/officeDocument/2006/relationships" id="2147483658" r:id="R6bae25ca640d46d3"/>
  </p:sldLayoutIdLst>
  <p:hf hdr="0" dt="0"/>
  <p:txStyles>
    <p:titleStyle>
      <a:lvl1pPr xmlns:a="http://schemas.openxmlformats.org/drawingml/2006/main" algn="l" defTabSz="914400">
        <a:lnSpc>
          <a:spcPct val="90000"/>
        </a:lnSpc>
        <a:spcBef>
          <a:spcPct val="0"/>
        </a:spcBef>
        <a:buNone/>
        <a:defRPr sz="2900" b="0" i="0" kern="1200">
          <a:solidFill>
            <a:schemeClr val="tx1"/>
          </a:solidFill>
          <a:latin typeface="Inter Medium"/>
          <a:ea typeface="Inter Medium"/>
          <a:cs typeface="Inter Medium"/>
        </a:defRPr>
      </a:lvl1pPr>
    </p:titleStyle>
    <p:bodyStyle>
      <a:lvl1pPr xmlns:a="http://schemas.openxmlformats.org/drawingml/2006/main"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xmlns:a="http://schemas.openxmlformats.org/drawingml/2006/main"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extLst>
    <p:ext uri="{27BBF7A9-308A-43DC-89C8-2F10F3537804}">
      <p15:sldGuideLst xmlns:p15="http://schemas.microsoft.com/office/powerpoint/2012/main">
        <p15:guide id="1" userDrawn="1">
          <p15:clr>
            <a:srgbClr xmlns:a="http://schemas.openxmlformats.org/drawingml/2006/main" val="F26B43"/>
          </p15:clr>
        </p15:guide>
        <p15:guide id="2" pos="7680" userDrawn="1">
          <p15:clr>
            <a:srgbClr xmlns:a="http://schemas.openxmlformats.org/drawingml/2006/main" val="F26B43"/>
          </p15:clr>
        </p15:guide>
        <p15:guide id="3" pos="248" userDrawn="1">
          <p15:clr>
            <a:srgbClr xmlns:a="http://schemas.openxmlformats.org/drawingml/2006/main" val="F26B43"/>
          </p15:clr>
        </p15:guide>
        <p15:guide id="4" pos="1264" userDrawn="1">
          <p15:clr>
            <a:srgbClr xmlns:a="http://schemas.openxmlformats.org/drawingml/2006/main" val="F26B43"/>
          </p15:clr>
        </p15:guide>
        <p15:guide id="5" pos="1480" userDrawn="1">
          <p15:clr>
            <a:srgbClr xmlns:a="http://schemas.openxmlformats.org/drawingml/2006/main" val="F26B43"/>
          </p15:clr>
        </p15:guide>
        <p15:guide id="6" pos="2496" userDrawn="1">
          <p15:clr>
            <a:srgbClr xmlns:a="http://schemas.openxmlformats.org/drawingml/2006/main" val="F26B43"/>
          </p15:clr>
        </p15:guide>
        <p15:guide id="7" pos="2712" userDrawn="1">
          <p15:clr>
            <a:srgbClr xmlns:a="http://schemas.openxmlformats.org/drawingml/2006/main" val="F26B43"/>
          </p15:clr>
        </p15:guide>
        <p15:guide id="8" pos="3736" userDrawn="1">
          <p15:clr>
            <a:srgbClr xmlns:a="http://schemas.openxmlformats.org/drawingml/2006/main" val="F26B43"/>
          </p15:clr>
        </p15:guide>
        <p15:guide id="9" pos="3944" userDrawn="1">
          <p15:clr>
            <a:srgbClr xmlns:a="http://schemas.openxmlformats.org/drawingml/2006/main" val="F26B43"/>
          </p15:clr>
        </p15:guide>
        <p15:guide id="10" pos="4968" userDrawn="1">
          <p15:clr>
            <a:srgbClr xmlns:a="http://schemas.openxmlformats.org/drawingml/2006/main" val="F26B43"/>
          </p15:clr>
        </p15:guide>
        <p15:guide id="11" pos="5184" userDrawn="1">
          <p15:clr>
            <a:srgbClr xmlns:a="http://schemas.openxmlformats.org/drawingml/2006/main" val="F26B43"/>
          </p15:clr>
        </p15:guide>
        <p15:guide id="12" pos="6200" userDrawn="1">
          <p15:clr>
            <a:srgbClr xmlns:a="http://schemas.openxmlformats.org/drawingml/2006/main" val="F26B43"/>
          </p15:clr>
        </p15:guide>
        <p15:guide id="13" pos="6416" userDrawn="1">
          <p15:clr>
            <a:srgbClr xmlns:a="http://schemas.openxmlformats.org/drawingml/2006/main" val="F26B43"/>
          </p15:clr>
        </p15:guide>
        <p15:guide id="14" pos="7432" userDrawn="1">
          <p15:clr>
            <a:srgbClr xmlns:a="http://schemas.openxmlformats.org/drawingml/2006/main" val="F26B43"/>
          </p15:clr>
        </p15:guide>
        <p15:guide id="15" orient="horz" userDrawn="1">
          <p15:clr>
            <a:srgbClr xmlns:a="http://schemas.openxmlformats.org/drawingml/2006/main" val="F26B43"/>
          </p15:clr>
        </p15:guide>
        <p15:guide id="17" orient="horz" pos="248" userDrawn="1">
          <p15:clr>
            <a:srgbClr xmlns:a="http://schemas.openxmlformats.org/drawingml/2006/main" val="F26B43"/>
          </p15:clr>
        </p15:guide>
        <p15:guide id="18" orient="horz" pos="656" userDrawn="1">
          <p15:clr>
            <a:srgbClr xmlns:a="http://schemas.openxmlformats.org/drawingml/2006/main" val="F26B43"/>
          </p15:clr>
        </p15:guide>
        <p15:guide id="19" orient="horz" pos="872" userDrawn="1">
          <p15:clr>
            <a:srgbClr xmlns:a="http://schemas.openxmlformats.org/drawingml/2006/main" val="F26B43"/>
          </p15:clr>
        </p15:guide>
        <p15:guide id="20" orient="horz" pos="1280" userDrawn="1">
          <p15:clr>
            <a:srgbClr xmlns:a="http://schemas.openxmlformats.org/drawingml/2006/main" val="F26B43"/>
          </p15:clr>
        </p15:guide>
        <p15:guide id="21" orient="horz" pos="1496" userDrawn="1">
          <p15:clr>
            <a:srgbClr xmlns:a="http://schemas.openxmlformats.org/drawingml/2006/main" val="F26B43"/>
          </p15:clr>
        </p15:guide>
        <p15:guide id="22" orient="horz" pos="1904" userDrawn="1">
          <p15:clr>
            <a:srgbClr xmlns:a="http://schemas.openxmlformats.org/drawingml/2006/main" val="F26B43"/>
          </p15:clr>
        </p15:guide>
        <p15:guide id="23" orient="horz" pos="2120" userDrawn="1">
          <p15:clr>
            <a:srgbClr xmlns:a="http://schemas.openxmlformats.org/drawingml/2006/main" val="F26B43"/>
          </p15:clr>
        </p15:guide>
        <p15:guide id="24" orient="horz" pos="2528" userDrawn="1">
          <p15:clr>
            <a:srgbClr xmlns:a="http://schemas.openxmlformats.org/drawingml/2006/main" val="F26B43"/>
          </p15:clr>
        </p15:guide>
        <p15:guide id="25" orient="horz" pos="2744" userDrawn="1">
          <p15:clr>
            <a:srgbClr xmlns:a="http://schemas.openxmlformats.org/drawingml/2006/main" val="F26B43"/>
          </p15:clr>
        </p15:guide>
        <p15:guide id="26" orient="horz" pos="3152" userDrawn="1">
          <p15:clr>
            <a:srgbClr xmlns:a="http://schemas.openxmlformats.org/drawingml/2006/main" val="F26B43"/>
          </p15:clr>
        </p15:guide>
        <p15:guide id="27" orient="horz" pos="3368" userDrawn="1">
          <p15:clr>
            <a:srgbClr xmlns:a="http://schemas.openxmlformats.org/drawingml/2006/main" val="F26B43"/>
          </p15:clr>
        </p15:guide>
        <p15:guide id="28" orient="horz" pos="3776" userDrawn="1">
          <p15:clr>
            <a:srgbClr xmlns:a="http://schemas.openxmlformats.org/drawingml/2006/main" val="F26B43"/>
          </p15:clr>
        </p15:guide>
        <p15:guide id="29" orient="horz" pos="4088" userDrawn="1">
          <p15:clr>
            <a:srgbClr xmlns:a="http://schemas.openxmlformats.org/drawingml/2006/main" val="F26B43"/>
          </p15:clr>
        </p15:guide>
      </p15:sldGuideLst>
    </p:ext>
  </p:extLst>
</p:sldMaster>
</file>

<file path=ppt/slideMasters/theme/theme2.xml><?xml version="1.0" encoding="utf-8"?>
<a:theme xmlns:a="http://schemas.openxmlformats.org/drawingml/2006/main" name="Default Codex Theme">
  <a:themeElements>
    <a:clrScheme name="Color Block Theme">
      <a:dk1>
        <a:srgbClr val="000000"/>
      </a:dk1>
      <a:lt1>
        <a:srgbClr val="FFFFFF"/>
      </a:lt1>
      <a:dk2>
        <a:srgbClr val="393939"/>
      </a:dk2>
      <a:lt2>
        <a:srgbClr val="F5F5F5"/>
      </a:lt2>
      <a:accent1>
        <a:srgbClr val="2ED978"/>
      </a:accent1>
      <a:accent2>
        <a:srgbClr val="9FB6FE"/>
      </a:accent2>
      <a:accent3>
        <a:srgbClr val="F3F161"/>
      </a:accent3>
      <a:accent4>
        <a:srgbClr val="FF5F27"/>
      </a:accent4>
      <a:accent5>
        <a:srgbClr val="5EC4FF"/>
      </a:accent5>
      <a:accent6>
        <a:srgbClr val="3C7DA3"/>
      </a:accent6>
      <a:hlink>
        <a:srgbClr val="FFA83A"/>
      </a:hlink>
      <a:folHlink>
        <a:srgbClr val="96607D"/>
      </a:folHlink>
    </a:clrScheme>
    <a:fontScheme name="Inter">
      <a:majorFont>
        <a:latin typeface="Inter"/>
        <a:ea typeface=""/>
        <a:cs typeface=""/>
      </a:majorFont>
      <a:minorFont>
        <a:latin typeface="Inter"/>
        <a:ea typeface=""/>
        <a:cs typeface=""/>
      </a:minorFont>
    </a:fontScheme>
    <a:fmtScheme name="Color Block Them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66310c6c3f64718" /><Relationship Type="http://schemas.openxmlformats.org/officeDocument/2006/relationships/image" Target="/ppt/media/image3.png" Id="R865e5f6b304e4b64" /><Relationship Type="http://schemas.openxmlformats.org/officeDocument/2006/relationships/notesSlide" Target="/ppt/notesSlides/notesSlide1.xml" Id="Rca1743fe4bb44f62"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9fc138b270a4a93" /><Relationship Type="http://schemas.openxmlformats.org/officeDocument/2006/relationships/notesSlide" Target="/ppt/notesSlides/notesSlide2.xml" Id="R33f02a032f5f42f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5f8a5193dba4dd1" /><Relationship Type="http://schemas.openxmlformats.org/officeDocument/2006/relationships/chart" Target="/ppt/slides/charts/chart1.xml" Id="Re302c111ce404257" /><Relationship Type="http://schemas.openxmlformats.org/officeDocument/2006/relationships/notesSlide" Target="/ppt/notesSlides/notesSlide3.xml" Id="R9e280c7f33d4463f" /></Relationships>
</file>

<file path=ppt/slides/_rels/slide4.xml.rels>&#65279;<?xml version="1.0" encoding="utf-8"?><Relationships xmlns="http://schemas.openxmlformats.org/package/2006/relationships"><Relationship Type="http://schemas.openxmlformats.org/officeDocument/2006/relationships/slideLayout" Target="/ppt/slideLayouts/slideLayout3.xml" Id="Ra59fa76f80444c49" /><Relationship Type="http://schemas.openxmlformats.org/officeDocument/2006/relationships/notesSlide" Target="/ppt/notesSlides/notesSlide4.xml" Id="R29021a78f9104ac2" /></Relationships>
</file>

<file path=ppt/slides/_rels/slide5.xml.rels>&#65279;<?xml version="1.0" encoding="utf-8"?><Relationships xmlns="http://schemas.openxmlformats.org/package/2006/relationships"><Relationship Type="http://schemas.openxmlformats.org/officeDocument/2006/relationships/slideLayout" Target="/ppt/slideLayouts/slideLayout5.xml" Id="R32bd643ee7f84dad" /><Relationship Type="http://schemas.openxmlformats.org/officeDocument/2006/relationships/chart" Target="/ppt/slides/charts/chart2.xml" Id="R3f7782be080d4947" /><Relationship Type="http://schemas.openxmlformats.org/officeDocument/2006/relationships/notesSlide" Target="/ppt/notesSlides/notesSlide5.xml" Id="R9977a8d6fb4240a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a50e2742f7d94026" /><Relationship Type="http://schemas.openxmlformats.org/officeDocument/2006/relationships/chart" Target="/ppt/slides/charts/chart3.xml" Id="Rd300250823174722" /><Relationship Type="http://schemas.openxmlformats.org/officeDocument/2006/relationships/notesSlide" Target="/ppt/notesSlides/notesSlide6.xml" Id="Rdc6663caca604148"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c4d3694662604c04" /><Relationship Type="http://schemas.openxmlformats.org/officeDocument/2006/relationships/chart" Target="/ppt/slides/charts/chart4.xml" Id="Rddaa7dc53a9645eb" /><Relationship Type="http://schemas.openxmlformats.org/officeDocument/2006/relationships/notesSlide" Target="/ppt/notesSlides/notesSlide7.xml" Id="Rfb5f619b633d46d2" /></Relationships>
</file>

<file path=ppt/slides/_rels/slide8.xml.rels>&#65279;<?xml version="1.0" encoding="utf-8"?><Relationships xmlns="http://schemas.openxmlformats.org/package/2006/relationships"><Relationship Type="http://schemas.openxmlformats.org/officeDocument/2006/relationships/slideLayout" Target="/ppt/slideLayouts/slideLayout4.xml" Id="Rd9f7942b2fa54cfe" /><Relationship Type="http://schemas.openxmlformats.org/officeDocument/2006/relationships/notesSlide" Target="/ppt/notesSlides/notesSlide8.xml" Id="R13e86538456b477f" /></Relationships>
</file>

<file path=ppt/slides/_rels/slide9.xml.rels>&#65279;<?xml version="1.0" encoding="utf-8"?><Relationships xmlns="http://schemas.openxmlformats.org/package/2006/relationships"><Relationship Type="http://schemas.openxmlformats.org/officeDocument/2006/relationships/slideLayout" Target="/ppt/slideLayouts/slideLayout4.xml" Id="Re0a6ab89dba340d0" /><Relationship Type="http://schemas.openxmlformats.org/officeDocument/2006/relationships/notesSlide" Target="/ppt/notesSlides/notesSlide9.xml" Id="R3f405f6e11314f0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e8e8971afa2241be" /><Relationship Type="http://schemas.openxmlformats.org/officeDocument/2006/relationships/image" Target="/ppt/media/image3.png" Id="R583d068c73cb4cd9" /><Relationship Type="http://schemas.openxmlformats.org/officeDocument/2006/relationships/notesSlide" Target="/ppt/notesSlides/notesSlide10.xml" Id="Rafc4133dbdb54efe"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spPr>
            <a:solidFill xmlns:a="http://schemas.openxmlformats.org/drawingml/2006/main">
              <a:srgbClr val="2C637F"/>
            </a:solidFill>
          </c:spPr>
          <c:cat>
            <c:strRef>
              <c:f>'Chart Data'!$A$2:$A$4</c:f>
              <c:strCache>
                <c:ptCount val="3"/>
                <c:pt idx="0">
                  <c:v>TF-IDF + SGD</c:v>
                </c:pt>
                <c:pt idx="1">
                  <c:v>Gemma + LoRA</c:v>
                </c:pt>
                <c:pt idx="2">
                  <c:v>Qwen prompt</c:v>
                </c:pt>
              </c:strCache>
            </c:strRef>
          </c:cat>
          <c:val>
            <c:numRef>
              <c:f>'Chart Data'!$B$2:$B$4</c:f>
              <c:numCache>
                <c:formatCode>0.000</c:formatCode>
                <c:ptCount val="3"/>
                <c:pt idx="0">
                  <c:v>0.2331</c:v>
                </c:pt>
                <c:pt idx="1">
                  <c:v>0.1955</c:v>
                </c:pt>
                <c:pt idx="2">
                  <c:v>0.1053</c:v>
                </c:pt>
              </c:numCache>
            </c:numRef>
          </c:val>
        </c:ser>
        <c:dLbls>
          <c:txPr>
            <a:bodyPr xmlns:a="http://schemas.openxmlformats.org/drawingml/2006/main" anchorCtr="1"/>
            <a:lstStyle xmlns:a="http://schemas.openxmlformats.org/drawingml/2006/main"/>
            <a:p xmlns:a="http://schemas.openxmlformats.org/drawingml/2006/main">
              <a:pPr>
                <a:defRPr sz="1650">
                  <a:latin typeface="Inter"/>
                  <a:ea typeface="Inter"/>
                  <a:cs typeface="Inter"/>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l"/>
        <c:numFmt formatCode="General"/>
        <c:majorTickMark val="none"/>
        <c:minorTickMark val="none"/>
        <c:tickLblPos val="low"/>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666666"/>
                </a:solidFill>
                <a:latin typeface="Inter"/>
                <a:ea typeface="Inter"/>
                <a:cs typeface="Inter"/>
              </a:defRPr>
            </a:pPr>
          </a:p>
        </c:txPr>
        <c:crossAx val="48672768"/>
      </c:catAx>
      <c:valAx>
        <c:axId val="48672768"/>
        <c:scaling>
          <c:orientation val="minMax"/>
          <c:max val="0.3"/>
          <c:min val="0"/>
        </c:scaling>
        <c:delete val="0"/>
        <c:axPos val="b"/>
        <c:majorGridlines>
          <c:spPr>
            <a:ln xmlns:a="http://schemas.openxmlformats.org/drawingml/2006/main" w="9525">
              <a:solidFill>
                <a:srgbClr val="DCE6EC"/>
              </a:solidFill>
            </a:ln>
          </c:spPr>
        </c:majorGridlines>
        <c:numFmt formatCode="0.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Inter"/>
                <a:ea typeface="Inter"/>
                <a:cs typeface="Inter"/>
              </a:defRPr>
            </a:pPr>
          </a:p>
        </c:txPr>
        <c:crossAx val="48650112"/>
        <c:crossBetween val="between"/>
        <c:majorUnit val="0.1"/>
      </c:valAx>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spPr>
            <a:solidFill xmlns:a="http://schemas.openxmlformats.org/drawingml/2006/main">
              <a:srgbClr val="2C637F"/>
            </a:solidFill>
          </c:spPr>
          <c:cat>
            <c:strRef>
              <c:f>'Chart Data'!$A$2:$A$3</c:f>
              <c:strCache>
                <c:ptCount val="2"/>
                <c:pt idx="0">
                  <c:v>Antes</c:v>
                </c:pt>
                <c:pt idx="1">
                  <c:v>Después</c:v>
                </c:pt>
              </c:strCache>
            </c:strRef>
          </c:cat>
          <c:val>
            <c:numRef>
              <c:f>'Chart Data'!$B$2:$B$3</c:f>
              <c:numCache>
                <c:formatCode>0.00</c:formatCode>
                <c:ptCount val="2"/>
                <c:pt idx="0">
                  <c:v>4.519442</c:v>
                </c:pt>
                <c:pt idx="1">
                  <c:v>8.002262</c:v>
                </c:pt>
              </c:numCache>
            </c:numRef>
          </c:val>
        </c:ser>
        <c:dLbls>
          <c:txPr>
            <a:bodyPr xmlns:a="http://schemas.openxmlformats.org/drawingml/2006/main" anchorCtr="1"/>
            <a:lstStyle xmlns:a="http://schemas.openxmlformats.org/drawingml/2006/main"/>
            <a:p xmlns:a="http://schemas.openxmlformats.org/drawingml/2006/main">
              <a:pPr>
                <a:defRPr sz="1650">
                  <a:latin typeface="Inter"/>
                  <a:ea typeface="Inter"/>
                  <a:cs typeface="Inter"/>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tickLblPos val="low"/>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666666"/>
                </a:solidFill>
                <a:latin typeface="Inter"/>
                <a:ea typeface="Inter"/>
                <a:cs typeface="Inter"/>
              </a:defRPr>
            </a:pPr>
          </a:p>
        </c:txPr>
        <c:crossAx val="48672768"/>
      </c:catAx>
      <c:valAx>
        <c:axId val="48672768"/>
        <c:scaling>
          <c:orientation val="minMax"/>
          <c:max val="10"/>
          <c:min val="0"/>
        </c:scaling>
        <c:delete val="0"/>
        <c:axPos val="l"/>
        <c:majorGridlines>
          <c:spPr>
            <a:ln xmlns:a="http://schemas.openxmlformats.org/drawingml/2006/main" w="9525">
              <a:solidFill>
                <a:srgbClr val="DCE6EC"/>
              </a:solidFill>
            </a:ln>
          </c:spPr>
        </c:majorGridlines>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Inter"/>
                <a:ea typeface="Inter"/>
                <a:cs typeface="Inter"/>
              </a:defRPr>
            </a:pPr>
          </a:p>
        </c:txPr>
        <c:crossAx val="48650112"/>
        <c:crossBetween val="between"/>
        <c:majorUnit val="5"/>
      </c:valAx>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Macro-F1</c:v>
          </c:tx>
          <c:spPr>
            <a:solidFill xmlns:a="http://schemas.openxmlformats.org/drawingml/2006/main">
              <a:srgbClr val="2C637F"/>
            </a:solidFill>
          </c:spPr>
          <c:cat>
            <c:strRef>
              <c:f>'Chart Data'!$A$2:$A$2</c:f>
              <c:strCache>
                <c:ptCount val="1"/>
                <c:pt idx="0">
                  <c:v>Delta</c:v>
                </c:pt>
              </c:strCache>
            </c:strRef>
          </c:cat>
          <c:val>
            <c:numRef>
              <c:f>'Chart Data'!$B$2:$B$2</c:f>
              <c:numCache>
                <c:formatCode>+0.00;-0.00;0</c:formatCode>
                <c:ptCount val="1"/>
                <c:pt idx="0">
                  <c:v>0.7084</c:v>
                </c:pt>
              </c:numCache>
            </c:numRef>
          </c:val>
        </c:ser>
        <c:ser>
          <c:idx val="1"/>
          <c:order val="1"/>
          <c:tx>
            <c:v>F1 Severe</c:v>
          </c:tx>
          <c:spPr>
            <a:solidFill xmlns:a="http://schemas.openxmlformats.org/drawingml/2006/main">
              <a:srgbClr val="16766E"/>
            </a:solidFill>
          </c:spPr>
          <c:cat>
            <c:strRef>
              <c:f>'Chart Data'!$C$2:$C$2</c:f>
              <c:strCache>
                <c:ptCount val="1"/>
                <c:pt idx="0">
                  <c:v>Delta</c:v>
                </c:pt>
              </c:strCache>
            </c:strRef>
          </c:cat>
          <c:val>
            <c:numRef>
              <c:f>'Chart Data'!$D$2:$D$2</c:f>
              <c:numCache>
                <c:formatCode>+0.00;-0.00;0</c:formatCode>
                <c:ptCount val="1"/>
                <c:pt idx="0">
                  <c:v>1.5652</c:v>
                </c:pt>
              </c:numCache>
            </c:numRef>
          </c:val>
        </c:ser>
        <c:ser>
          <c:idx val="2"/>
          <c:order val="2"/>
          <c:tx>
            <c:v>Recall Severe</c:v>
          </c:tx>
          <c:spPr>
            <a:solidFill xmlns:a="http://schemas.openxmlformats.org/drawingml/2006/main">
              <a:srgbClr val="A86524"/>
            </a:solidFill>
          </c:spPr>
          <c:invertIfNegative val="0"/>
          <c:cat>
            <c:strRef>
              <c:f>'Chart Data'!$E$2:$E$2</c:f>
              <c:strCache>
                <c:ptCount val="1"/>
                <c:pt idx="0">
                  <c:v>Delta</c:v>
                </c:pt>
              </c:strCache>
            </c:strRef>
          </c:cat>
          <c:val>
            <c:numRef>
              <c:f>'Chart Data'!$F$2:$F$2</c:f>
              <c:numCache>
                <c:formatCode>+0.00;-0.00;0</c:formatCode>
                <c:ptCount val="1"/>
                <c:pt idx="0">
                  <c:v>-2.5974</c:v>
                </c:pt>
              </c:numCache>
            </c:numRef>
          </c:val>
        </c:ser>
        <c:dLbls>
          <c:txPr>
            <a:bodyPr xmlns:a="http://schemas.openxmlformats.org/drawingml/2006/main" anchorCtr="1"/>
            <a:lstStyle xmlns:a="http://schemas.openxmlformats.org/drawingml/2006/main"/>
            <a:p xmlns:a="http://schemas.openxmlformats.org/drawingml/2006/main">
              <a:pPr>
                <a:defRPr sz="1800">
                  <a:latin typeface="Inter"/>
                  <a:ea typeface="Inter"/>
                  <a:cs typeface="Inter"/>
                </a:defRPr>
              </a:pPr>
            </a:p>
          </c:txPr>
          <c:dLblPos val="outEnd"/>
          <c:showLegendKey val="0"/>
          <c:showVal val="1"/>
          <c:showCatName val="0"/>
          <c:showSerName val="0"/>
          <c:showPercent val="0"/>
          <c:showBubbleSize val="0"/>
          <c:showLeaderLines val="0"/>
        </c:dLbls>
        <c:gapWidth val="70"/>
        <c:overlap val="-20"/>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Inter"/>
                <a:ea typeface="Inter"/>
                <a:cs typeface="Inter"/>
              </a:defRPr>
            </a:pPr>
          </a:p>
        </c:txPr>
        <c:crossAx val="48672768"/>
      </c:catAx>
      <c:valAx>
        <c:axId val="48672768"/>
        <c:scaling>
          <c:orientation val="minMax"/>
          <c:max val="4"/>
          <c:min val="-4"/>
        </c:scaling>
        <c:delete val="0"/>
        <c:axPos val="b"/>
        <c:majorGridlines>
          <c:spPr>
            <a:ln xmlns:a="http://schemas.openxmlformats.org/drawingml/2006/main" w="9525">
              <a:solidFill>
                <a:srgbClr val="DCE6EC"/>
              </a:solidFill>
            </a:ln>
          </c:spPr>
        </c:majorGridlines>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Inter"/>
                <a:ea typeface="Inter"/>
                <a:cs typeface="Inter"/>
              </a:defRPr>
            </a:pPr>
          </a:p>
        </c:txPr>
        <c:crossAx val="48650112"/>
        <c:crossBetween val="between"/>
        <c:majorUnit val="1"/>
      </c:valAx>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spPr>
            <a:solidFill xmlns:a="http://schemas.openxmlformats.org/drawingml/2006/main">
              <a:srgbClr val="2C637F"/>
            </a:solidFill>
          </c:spPr>
          <c:cat>
            <c:strRef>
              <c:f>'Chart Data'!$A$2:$A$7</c:f>
              <c:strCache>
                <c:ptCount val="6"/>
                <c:pt idx="0">
                  <c:v>Económica</c:v>
                </c:pt>
                <c:pt idx="1">
                  <c:v>Física</c:v>
                </c:pt>
                <c:pt idx="2">
                  <c:v>Patrimonial</c:v>
                </c:pt>
                <c:pt idx="3">
                  <c:v>Psicológica</c:v>
                </c:pt>
                <c:pt idx="4">
                  <c:v>Sexual</c:v>
                </c:pt>
                <c:pt idx="5">
                  <c:v>Vicaria</c:v>
                </c:pt>
              </c:strCache>
            </c:strRef>
          </c:cat>
          <c:val>
            <c:numRef>
              <c:f>'Chart Data'!$B$2:$B$7</c:f>
              <c:numCache>
                <c:formatCode>0.0</c:formatCode>
                <c:ptCount val="6"/>
                <c:pt idx="0">
                  <c:v>16.171617</c:v>
                </c:pt>
                <c:pt idx="1">
                  <c:v>17.656766</c:v>
                </c:pt>
                <c:pt idx="2">
                  <c:v>23.762376</c:v>
                </c:pt>
                <c:pt idx="3">
                  <c:v>33.0033</c:v>
                </c:pt>
                <c:pt idx="4">
                  <c:v>6.435644</c:v>
                </c:pt>
                <c:pt idx="5">
                  <c:v>20.709571</c:v>
                </c:pt>
              </c:numCache>
            </c:numRef>
          </c:val>
        </c:ser>
        <c:dLbls>
          <c:txPr>
            <a:bodyPr xmlns:a="http://schemas.openxmlformats.org/drawingml/2006/main" anchorCtr="1"/>
            <a:lstStyle xmlns:a="http://schemas.openxmlformats.org/drawingml/2006/main"/>
            <a:p xmlns:a="http://schemas.openxmlformats.org/drawingml/2006/main">
              <a:pPr>
                <a:defRPr sz="1650">
                  <a:latin typeface="Inter"/>
                  <a:ea typeface="Inter"/>
                  <a:cs typeface="Inter"/>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l"/>
        <c:numFmt formatCode="General"/>
        <c:majorTickMark val="none"/>
        <c:minorTickMark val="none"/>
        <c:tickLblPos val="low"/>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666666"/>
                </a:solidFill>
                <a:latin typeface="Inter"/>
                <a:ea typeface="Inter"/>
                <a:cs typeface="Inter"/>
              </a:defRPr>
            </a:pPr>
          </a:p>
        </c:txPr>
        <c:crossAx val="48672768"/>
      </c:catAx>
      <c:valAx>
        <c:axId val="48672768"/>
        <c:scaling>
          <c:orientation val="minMax"/>
          <c:max val="40"/>
          <c:min val="0"/>
        </c:scaling>
        <c:delete val="0"/>
        <c:axPos val="b"/>
        <c:majorGridlines>
          <c:spPr>
            <a:ln xmlns:a="http://schemas.openxmlformats.org/drawingml/2006/main" w="9525">
              <a:solidFill>
                <a:srgbClr val="DCE6EC"/>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Inter"/>
                <a:ea typeface="Inter"/>
                <a:cs typeface="Inter"/>
              </a:defRPr>
            </a:pPr>
          </a:p>
        </c:txPr>
        <c:crossAx val="48650112"/>
        <c:crossBetween val="between"/>
        <c:majorUnit val="10"/>
      </c:valAx>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12" name="Picture 2"/>
          <p:cNvPicPr>
            <a:picLocks xmlns:a="http://schemas.openxmlformats.org/drawingml/2006/main" noChangeAspect="1"/>
          </p:cNvPicPr>
          <p:nvPr/>
        </p:nvPicPr>
        <p:blipFill>
          <a:blip xmlns:r="http://schemas.openxmlformats.org/officeDocument/2006/relationships" xmlns:a="http://schemas.openxmlformats.org/drawingml/2006/main" r:embed="R865e5f6b304e4b64"/>
          <a:srcRect xmlns:a="http://schemas.openxmlformats.org/drawingml/2006/main" l="0" t="25645" r="0" b="61469"/>
          <a:stretch xmlns:a="http://schemas.openxmlformats.org/drawingml/2006/main">
            <a:fillRect l="0" t="0" r="0" b="0"/>
          </a:stretch>
        </p:blipFill>
        <p:spPr>
          <a:xfrm xmlns:a="http://schemas.openxmlformats.org/drawingml/2006/main">
            <a:off x="0" y="4763386"/>
            <a:ext cx="12190542" cy="2094614"/>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3B95CD93-6128-46D2-A25D-4962BE906F33}"/>
              </a:ext>
            </a:extLst>
          </p:cNvPr>
          <p:cNvSpPr>
            <a:spLocks xmlns:a="http://schemas.openxmlformats.org/drawingml/2006/main" noGrp="1"/>
          </p:cNvSpPr>
          <p:nvPr/>
        </p:nvSpPr>
        <p:spPr>
          <a:xfrm xmlns:a="http://schemas.openxmlformats.org/drawingml/2006/main">
            <a:off x="457200" y="857250"/>
            <a:ext cx="112395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350" b="1">
                <a:solidFill>
                  <a:srgbClr val="2C637F"/>
                </a:solidFill>
                <a:latin typeface="Inter"/>
                <a:ea typeface="Inter"/>
                <a:cs typeface="Inter"/>
              </a:defRPr>
            </a:pPr>
            <a:r>
              <a:rPr sz="4350" b="1">
                <a:solidFill>
                  <a:srgbClr val="2C637F"/>
                </a:solidFill>
                <a:latin typeface="Inter"/>
                <a:ea typeface="Inter"/>
                <a:cs typeface="Inter"/>
              </a:rPr>
              <a:t>Clasificación de reportes</a:t>
            </a:r>
          </a:p>
          <a:p xmlns:a="http://schemas.openxmlformats.org/drawingml/2006/main">
            <a:pPr>
              <a:defRPr sz="4350" b="1">
                <a:solidFill>
                  <a:srgbClr val="2C637F"/>
                </a:solidFill>
                <a:latin typeface="Inter"/>
                <a:ea typeface="Inter"/>
                <a:cs typeface="Inter"/>
              </a:defRPr>
            </a:pPr>
            <a:r>
              <a:rPr sz="4350" b="1">
                <a:solidFill>
                  <a:srgbClr val="2C637F"/>
                </a:solidFill>
                <a:latin typeface="Inter"/>
                <a:ea typeface="Inter"/>
                <a:cs typeface="Inter"/>
              </a:rPr>
              <a:t>de violencia</a:t>
            </a:r>
          </a:p>
        </p:txBody>
      </p:sp>
      <p:sp>
        <p:nvSpPr>
          <p:cNvPr id="8" name="">
            <a:extLst xmlns:a="http://schemas.openxmlformats.org/drawingml/2006/main">
              <a:ext uri="{FF2B5EF4-FFF2-40B4-BE49-F238E27FC236}">
                <a16:creationId xmlns:a16="http://schemas.microsoft.com/office/drawing/2014/main" id="{2F2709F0-CB48-4CEF-A2C6-E21EA3B4E94A}"/>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9" name="">
            <a:extLst xmlns:a="http://schemas.openxmlformats.org/drawingml/2006/main">
              <a:ext uri="{FF2B5EF4-FFF2-40B4-BE49-F238E27FC236}">
                <a16:creationId xmlns:a16="http://schemas.microsoft.com/office/drawing/2014/main" id="{93B1AADE-D077-427E-BC30-7927FC4FBD83}"/>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01</a:t>
            </a:r>
          </a:p>
        </p:txBody>
      </p:sp>
      <p:sp>
        <p:nvSpPr>
          <p:cNvPr id="10" name="">
            <a:extLst xmlns:a="http://schemas.openxmlformats.org/drawingml/2006/main">
              <a:ext uri="{FF2B5EF4-FFF2-40B4-BE49-F238E27FC236}">
                <a16:creationId xmlns:a16="http://schemas.microsoft.com/office/drawing/2014/main" id="{36D4C3A4-2C25-461F-BB70-E3FB3930B25B}"/>
              </a:ext>
            </a:extLst>
          </p:cNvPr>
          <p:cNvSpPr>
            <a:spLocks xmlns:a="http://schemas.openxmlformats.org/drawingml/2006/main" noGrp="1"/>
          </p:cNvSpPr>
          <p:nvPr/>
        </p:nvSpPr>
        <p:spPr>
          <a:xfrm xmlns:a="http://schemas.openxmlformats.org/drawingml/2006/main">
            <a:off x="476250" y="3143250"/>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52E3C"/>
                </a:solidFill>
                <a:latin typeface="Inter"/>
                <a:ea typeface="Inter"/>
                <a:cs typeface="Inter"/>
              </a:defRPr>
            </a:pPr>
            <a:r>
              <a:rPr sz="2400" b="0">
                <a:solidFill>
                  <a:srgbClr val="152E3C"/>
                </a:solidFill>
                <a:latin typeface="Inter"/>
                <a:ea typeface="Inter"/>
                <a:cs typeface="Inter"/>
              </a:rPr>
              <a:t>Elección de modelos, aumentación de Severe</a:t>
            </a:r>
          </a:p>
          <a:p xmlns:a="http://schemas.openxmlformats.org/drawingml/2006/main">
            <a:pPr>
              <a:defRPr sz="2400" b="0">
                <a:solidFill>
                  <a:srgbClr val="152E3C"/>
                </a:solidFill>
                <a:latin typeface="Inter"/>
                <a:ea typeface="Inter"/>
                <a:cs typeface="Inter"/>
              </a:defRPr>
            </a:pPr>
            <a:r>
              <a:rPr sz="2400" b="0">
                <a:solidFill>
                  <a:srgbClr val="152E3C"/>
                </a:solidFill>
                <a:latin typeface="Inter"/>
                <a:ea typeface="Inter"/>
                <a:cs typeface="Inter"/>
              </a:rPr>
              <a:t>y decisiones finales alrededor de un ancla</a:t>
            </a:r>
          </a:p>
        </p:txBody>
      </p:sp>
      <p:sp>
        <p:nvSpPr>
          <p:cNvPr id="11" name="">
            <a:extLst xmlns:a="http://schemas.openxmlformats.org/drawingml/2006/main">
              <a:ext uri="{FF2B5EF4-FFF2-40B4-BE49-F238E27FC236}">
                <a16:creationId xmlns:a16="http://schemas.microsoft.com/office/drawing/2014/main" id="{37D2ADDB-420F-42A9-8EF6-CA7F76185586}"/>
              </a:ext>
            </a:extLst>
          </p:cNvPr>
          <p:cNvSpPr>
            <a:spLocks xmlns:a="http://schemas.openxmlformats.org/drawingml/2006/main" noGrp="1"/>
          </p:cNvSpPr>
          <p:nvPr/>
        </p:nvSpPr>
        <p:spPr>
          <a:xfrm xmlns:a="http://schemas.openxmlformats.org/drawingml/2006/main">
            <a:off x="476250" y="4857750"/>
            <a:ext cx="9048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2C637F"/>
                </a:solidFill>
                <a:latin typeface="Inter"/>
                <a:ea typeface="Inter"/>
                <a:cs typeface="Inter"/>
              </a:defRPr>
            </a:pPr>
            <a:r>
              <a:rPr sz="1875" b="0">
                <a:solidFill>
                  <a:srgbClr val="2C637F"/>
                </a:solidFill>
                <a:latin typeface="Inter"/>
                <a:ea typeface="Inter"/>
                <a:cs typeface="Inter"/>
              </a:rPr>
              <a:t>Marcel Herrera Rendón</a:t>
            </a:r>
          </a:p>
          <a:p xmlns:a="http://schemas.openxmlformats.org/drawingml/2006/main">
            <a:pPr>
              <a:defRPr sz="1875" b="0">
                <a:solidFill>
                  <a:srgbClr val="2C637F"/>
                </a:solidFill>
                <a:latin typeface="Inter"/>
                <a:ea typeface="Inter"/>
                <a:cs typeface="Inter"/>
              </a:defRPr>
            </a:pPr>
            <a:r>
              <a:rPr sz="1875" b="0">
                <a:solidFill>
                  <a:srgbClr val="2C637F"/>
                </a:solidFill>
                <a:latin typeface="Inter"/>
                <a:ea typeface="Inter"/>
                <a:cs typeface="Inter"/>
              </a:rPr>
              <a:t>Universidad de Sonora</a:t>
            </a:r>
          </a:p>
        </p:txBody>
      </p:sp>
    </p:spTree>
    <p:extLst>
      <p:ext uri="{BB962C8B-B14F-4D97-AF65-F5344CB8AC3E}">
        <p14:creationId xmlns:p14="http://schemas.microsoft.com/office/powerpoint/2010/main" val="3312496169"/>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34AFCD84-0C9B-4753-B523-43E96196964C}"/>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Tres familias, tres formas de clasificar</a:t>
            </a:r>
          </a:p>
        </p:txBody>
      </p:sp>
      <p:sp>
        <p:nvSpPr>
          <p:cNvPr id="2" name="">
            <a:extLst xmlns:a="http://schemas.openxmlformats.org/drawingml/2006/main">
              <a:ext uri="{FF2B5EF4-FFF2-40B4-BE49-F238E27FC236}">
                <a16:creationId xmlns:a16="http://schemas.microsoft.com/office/drawing/2014/main" id="{2D653F40-9D96-4181-BFED-D5C47CC43641}"/>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E051A001-60E1-4359-8589-1685CE71D2DB}"/>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02</a:t>
            </a:r>
          </a:p>
        </p:txBody>
      </p:sp>
      <p:sp>
        <p:nvSpPr>
          <p:cNvPr id="4" name="">
            <a:extLst xmlns:a="http://schemas.openxmlformats.org/drawingml/2006/main">
              <a:ext uri="{FF2B5EF4-FFF2-40B4-BE49-F238E27FC236}">
                <a16:creationId xmlns:a16="http://schemas.microsoft.com/office/drawing/2014/main" id="{B79A3357-4611-4F22-9FA0-3A36006C4F29}"/>
              </a:ext>
            </a:extLst>
          </p:cNvPr>
          <p:cNvSpPr>
            <a:spLocks xmlns:a="http://schemas.openxmlformats.org/drawingml/2006/main" noGrp="1"/>
          </p:cNvSpPr>
          <p:nvPr/>
        </p:nvSpPr>
        <p:spPr>
          <a:xfrm xmlns:a="http://schemas.openxmlformats.org/drawingml/2006/main">
            <a:off x="457200" y="1857375"/>
            <a:ext cx="295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2C637F"/>
                </a:solidFill>
                <a:latin typeface="Inter"/>
                <a:ea typeface="Inter"/>
                <a:cs typeface="Inter"/>
              </a:defRPr>
            </a:pPr>
            <a:r>
              <a:rPr sz="2175" b="1">
                <a:solidFill>
                  <a:srgbClr val="2C637F"/>
                </a:solidFill>
                <a:latin typeface="Inter"/>
                <a:ea typeface="Inter"/>
                <a:cs typeface="Inter"/>
              </a:rPr>
              <a:t>Clásicos</a:t>
            </a:r>
          </a:p>
        </p:txBody>
      </p:sp>
      <p:sp>
        <p:nvSpPr>
          <p:cNvPr id="5" name="">
            <a:extLst xmlns:a="http://schemas.openxmlformats.org/drawingml/2006/main">
              <a:ext uri="{FF2B5EF4-FFF2-40B4-BE49-F238E27FC236}">
                <a16:creationId xmlns:a16="http://schemas.microsoft.com/office/drawing/2014/main" id="{8CEE989E-27EC-4D11-ADCB-66C40D04D513}"/>
              </a:ext>
            </a:extLst>
          </p:cNvPr>
          <p:cNvSpPr>
            <a:spLocks xmlns:a="http://schemas.openxmlformats.org/drawingml/2006/main" noGrp="1"/>
          </p:cNvSpPr>
          <p:nvPr/>
        </p:nvSpPr>
        <p:spPr>
          <a:xfrm xmlns:a="http://schemas.openxmlformats.org/drawingml/2006/main">
            <a:off x="3381375" y="1762125"/>
            <a:ext cx="4333875" cy="10477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6" name="">
            <a:extLst xmlns:a="http://schemas.openxmlformats.org/drawingml/2006/main">
              <a:ext uri="{FF2B5EF4-FFF2-40B4-BE49-F238E27FC236}">
                <a16:creationId xmlns:a16="http://schemas.microsoft.com/office/drawing/2014/main" id="{5350BA08-0F49-46CC-9B95-E9BB24E04542}"/>
              </a:ext>
            </a:extLst>
          </p:cNvPr>
          <p:cNvSpPr>
            <a:spLocks xmlns:a="http://schemas.openxmlformats.org/drawingml/2006/main" noGrp="1"/>
          </p:cNvSpPr>
          <p:nvPr/>
        </p:nvSpPr>
        <p:spPr>
          <a:xfrm xmlns:a="http://schemas.openxmlformats.org/drawingml/2006/main">
            <a:off x="3524250" y="1885950"/>
            <a:ext cx="4048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Palabras + caracteres</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Vector TF-IDF</a:t>
            </a:r>
          </a:p>
        </p:txBody>
      </p:sp>
      <p:sp>
        <p:nvSpPr>
          <p:cNvPr id="7" name="">
            <a:extLst xmlns:a="http://schemas.openxmlformats.org/drawingml/2006/main">
              <a:ext uri="{FF2B5EF4-FFF2-40B4-BE49-F238E27FC236}">
                <a16:creationId xmlns:a16="http://schemas.microsoft.com/office/drawing/2014/main" id="{7DF33D60-D783-4753-B9C2-9F80C9A896A0}"/>
              </a:ext>
            </a:extLst>
          </p:cNvPr>
          <p:cNvSpPr>
            <a:spLocks xmlns:a="http://schemas.openxmlformats.org/drawingml/2006/main" noGrp="1"/>
          </p:cNvSpPr>
          <p:nvPr/>
        </p:nvSpPr>
        <p:spPr>
          <a:xfrm xmlns:a="http://schemas.openxmlformats.org/drawingml/2006/main">
            <a:off x="8591550" y="1762125"/>
            <a:ext cx="3095625" cy="10477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8" name="">
            <a:extLst xmlns:a="http://schemas.openxmlformats.org/drawingml/2006/main">
              <a:ext uri="{FF2B5EF4-FFF2-40B4-BE49-F238E27FC236}">
                <a16:creationId xmlns:a16="http://schemas.microsoft.com/office/drawing/2014/main" id="{59810573-2331-47B5-BD2B-3F2B8233FCCC}"/>
              </a:ext>
            </a:extLst>
          </p:cNvPr>
          <p:cNvSpPr>
            <a:spLocks xmlns:a="http://schemas.openxmlformats.org/drawingml/2006/main" noGrp="1"/>
          </p:cNvSpPr>
          <p:nvPr/>
        </p:nvSpPr>
        <p:spPr>
          <a:xfrm xmlns:a="http://schemas.openxmlformats.org/drawingml/2006/main">
            <a:off x="8734425" y="1885950"/>
            <a:ext cx="28098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Clasificador</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Scores por clase</a:t>
            </a:r>
          </a:p>
        </p:txBody>
      </p:sp>
      <p:cxnSp>
        <p:nvCxnSpPr>
          <p:cNvPr id="31" name=""/>
          <p:cNvCxnSpPr>
            <a:stCxn xmlns:a="http://schemas.openxmlformats.org/drawingml/2006/main" id="5" idx="3"/>
            <a:endCxn xmlns:a="http://schemas.openxmlformats.org/drawingml/2006/main" id="7" idx="1"/>
          </p:cNvCxnSpPr>
          <p:nvPr/>
        </p:nvCxnSpPr>
        <p:spPr>
          <a:xfrm xmlns:a="http://schemas.openxmlformats.org/drawingml/2006/main">
            <a:off x="7715250" y="2286000"/>
            <a:ext cx="876300" cy="0"/>
          </a:xfrm>
          <a:prstGeom xmlns:a="http://schemas.openxmlformats.org/drawingml/2006/main" prst="straightConnector1">
            <a:avLst/>
          </a:prstGeom>
          <a:ln xmlns:a="http://schemas.openxmlformats.org/drawingml/2006/main" w="21908">
            <a:solidFill>
              <a:srgbClr val="2C637F"/>
            </a:solidFill>
            <a:headEnd type="none" w="med" len="med"/>
            <a:tailEnd type="triangle" w="med" len="med"/>
          </a:ln>
        </p:spPr>
      </p:cxnSp>
      <p:sp>
        <p:nvSpPr>
          <p:cNvPr id="10" name="">
            <a:extLst xmlns:a="http://schemas.openxmlformats.org/drawingml/2006/main">
              <a:ext uri="{FF2B5EF4-FFF2-40B4-BE49-F238E27FC236}">
                <a16:creationId xmlns:a16="http://schemas.microsoft.com/office/drawing/2014/main" id="{33687753-281F-47D4-A86E-01E39606518C}"/>
              </a:ext>
            </a:extLst>
          </p:cNvPr>
          <p:cNvSpPr>
            <a:spLocks xmlns:a="http://schemas.openxmlformats.org/drawingml/2006/main" noGrp="1"/>
          </p:cNvSpPr>
          <p:nvPr/>
        </p:nvSpPr>
        <p:spPr>
          <a:xfrm xmlns:a="http://schemas.openxmlformats.org/drawingml/2006/main">
            <a:off x="457200" y="3400425"/>
            <a:ext cx="295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2C637F"/>
                </a:solidFill>
                <a:latin typeface="Inter"/>
                <a:ea typeface="Inter"/>
                <a:cs typeface="Inter"/>
              </a:defRPr>
            </a:pPr>
            <a:r>
              <a:rPr sz="2175" b="1">
                <a:solidFill>
                  <a:srgbClr val="2C637F"/>
                </a:solidFill>
                <a:latin typeface="Inter"/>
                <a:ea typeface="Inter"/>
                <a:cs typeface="Inter"/>
              </a:rPr>
              <a:t>LLM generativos</a:t>
            </a:r>
          </a:p>
        </p:txBody>
      </p:sp>
      <p:sp>
        <p:nvSpPr>
          <p:cNvPr id="11" name="">
            <a:extLst xmlns:a="http://schemas.openxmlformats.org/drawingml/2006/main">
              <a:ext uri="{FF2B5EF4-FFF2-40B4-BE49-F238E27FC236}">
                <a16:creationId xmlns:a16="http://schemas.microsoft.com/office/drawing/2014/main" id="{2A98564D-7324-4147-A96E-37FFC7FCD031}"/>
              </a:ext>
            </a:extLst>
          </p:cNvPr>
          <p:cNvSpPr>
            <a:spLocks xmlns:a="http://schemas.openxmlformats.org/drawingml/2006/main" noGrp="1"/>
          </p:cNvSpPr>
          <p:nvPr/>
        </p:nvSpPr>
        <p:spPr>
          <a:xfrm xmlns:a="http://schemas.openxmlformats.org/drawingml/2006/main">
            <a:off x="3381375" y="3305175"/>
            <a:ext cx="4333875" cy="10477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2" name="">
            <a:extLst xmlns:a="http://schemas.openxmlformats.org/drawingml/2006/main">
              <a:ext uri="{FF2B5EF4-FFF2-40B4-BE49-F238E27FC236}">
                <a16:creationId xmlns:a16="http://schemas.microsoft.com/office/drawing/2014/main" id="{54B43320-F7AA-4F9C-B2DD-47F6304D619C}"/>
              </a:ext>
            </a:extLst>
          </p:cNvPr>
          <p:cNvSpPr>
            <a:spLocks xmlns:a="http://schemas.openxmlformats.org/drawingml/2006/main" noGrp="1"/>
          </p:cNvSpPr>
          <p:nvPr/>
        </p:nvSpPr>
        <p:spPr>
          <a:xfrm xmlns:a="http://schemas.openxmlformats.org/drawingml/2006/main">
            <a:off x="3524250" y="3429000"/>
            <a:ext cx="4048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Instrucción + reporte</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Prompt / LoRA</a:t>
            </a:r>
          </a:p>
        </p:txBody>
      </p:sp>
      <p:sp>
        <p:nvSpPr>
          <p:cNvPr id="13" name="">
            <a:extLst xmlns:a="http://schemas.openxmlformats.org/drawingml/2006/main">
              <a:ext uri="{FF2B5EF4-FFF2-40B4-BE49-F238E27FC236}">
                <a16:creationId xmlns:a16="http://schemas.microsoft.com/office/drawing/2014/main" id="{E8C46A0D-5D59-418F-80E5-873A7AAD50FC}"/>
              </a:ext>
            </a:extLst>
          </p:cNvPr>
          <p:cNvSpPr>
            <a:spLocks xmlns:a="http://schemas.openxmlformats.org/drawingml/2006/main" noGrp="1"/>
          </p:cNvSpPr>
          <p:nvPr/>
        </p:nvSpPr>
        <p:spPr>
          <a:xfrm xmlns:a="http://schemas.openxmlformats.org/drawingml/2006/main">
            <a:off x="8591550" y="3305175"/>
            <a:ext cx="3095625" cy="10477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4" name="">
            <a:extLst xmlns:a="http://schemas.openxmlformats.org/drawingml/2006/main">
              <a:ext uri="{FF2B5EF4-FFF2-40B4-BE49-F238E27FC236}">
                <a16:creationId xmlns:a16="http://schemas.microsoft.com/office/drawing/2014/main" id="{950D2C61-C6F4-43FF-B2B0-06E62C03C3E9}"/>
              </a:ext>
            </a:extLst>
          </p:cNvPr>
          <p:cNvSpPr>
            <a:spLocks xmlns:a="http://schemas.openxmlformats.org/drawingml/2006/main" noGrp="1"/>
          </p:cNvSpPr>
          <p:nvPr/>
        </p:nvSpPr>
        <p:spPr>
          <a:xfrm xmlns:a="http://schemas.openxmlformats.org/drawingml/2006/main">
            <a:off x="8734425" y="3429000"/>
            <a:ext cx="28098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Generación</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Respuesta JSON</a:t>
            </a:r>
          </a:p>
        </p:txBody>
      </p:sp>
      <p:cxnSp>
        <p:nvCxnSpPr>
          <p:cNvPr id="37" name=""/>
          <p:cNvCxnSpPr>
            <a:stCxn xmlns:a="http://schemas.openxmlformats.org/drawingml/2006/main" id="11" idx="3"/>
            <a:endCxn xmlns:a="http://schemas.openxmlformats.org/drawingml/2006/main" id="13" idx="1"/>
          </p:cNvCxnSpPr>
          <p:nvPr/>
        </p:nvCxnSpPr>
        <p:spPr>
          <a:xfrm xmlns:a="http://schemas.openxmlformats.org/drawingml/2006/main">
            <a:off x="7715250" y="3829050"/>
            <a:ext cx="876300" cy="0"/>
          </a:xfrm>
          <a:prstGeom xmlns:a="http://schemas.openxmlformats.org/drawingml/2006/main" prst="straightConnector1">
            <a:avLst/>
          </a:prstGeom>
          <a:ln xmlns:a="http://schemas.openxmlformats.org/drawingml/2006/main" w="21908">
            <a:solidFill>
              <a:srgbClr val="2C637F"/>
            </a:solidFill>
            <a:headEnd type="none" w="med" len="med"/>
            <a:tailEnd type="triangle" w="med" len="med"/>
          </a:ln>
        </p:spPr>
      </p:cxnSp>
      <p:sp>
        <p:nvSpPr>
          <p:cNvPr id="16" name="">
            <a:extLst xmlns:a="http://schemas.openxmlformats.org/drawingml/2006/main">
              <a:ext uri="{FF2B5EF4-FFF2-40B4-BE49-F238E27FC236}">
                <a16:creationId xmlns:a16="http://schemas.microsoft.com/office/drawing/2014/main" id="{A3E87B65-52C2-4BF9-9BD4-F62854B82A0B}"/>
              </a:ext>
            </a:extLst>
          </p:cNvPr>
          <p:cNvSpPr>
            <a:spLocks xmlns:a="http://schemas.openxmlformats.org/drawingml/2006/main" noGrp="1"/>
          </p:cNvSpPr>
          <p:nvPr/>
        </p:nvSpPr>
        <p:spPr>
          <a:xfrm xmlns:a="http://schemas.openxmlformats.org/drawingml/2006/main">
            <a:off x="457200" y="4943475"/>
            <a:ext cx="295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2C637F"/>
                </a:solidFill>
                <a:latin typeface="Inter"/>
                <a:ea typeface="Inter"/>
                <a:cs typeface="Inter"/>
              </a:defRPr>
            </a:pPr>
            <a:r>
              <a:rPr sz="2175" b="1">
                <a:solidFill>
                  <a:srgbClr val="2C637F"/>
                </a:solidFill>
                <a:latin typeface="Inter"/>
                <a:ea typeface="Inter"/>
                <a:cs typeface="Inter"/>
              </a:rPr>
              <a:t>Encoders Transformer</a:t>
            </a:r>
          </a:p>
        </p:txBody>
      </p:sp>
      <p:sp>
        <p:nvSpPr>
          <p:cNvPr id="17" name="">
            <a:extLst xmlns:a="http://schemas.openxmlformats.org/drawingml/2006/main">
              <a:ext uri="{FF2B5EF4-FFF2-40B4-BE49-F238E27FC236}">
                <a16:creationId xmlns:a16="http://schemas.microsoft.com/office/drawing/2014/main" id="{D749FC59-7B4B-4BEB-94CD-86379397019F}"/>
              </a:ext>
            </a:extLst>
          </p:cNvPr>
          <p:cNvSpPr>
            <a:spLocks xmlns:a="http://schemas.openxmlformats.org/drawingml/2006/main" noGrp="1"/>
          </p:cNvSpPr>
          <p:nvPr/>
        </p:nvSpPr>
        <p:spPr>
          <a:xfrm xmlns:a="http://schemas.openxmlformats.org/drawingml/2006/main">
            <a:off x="3381375" y="4848225"/>
            <a:ext cx="4333875" cy="10477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8" name="">
            <a:extLst xmlns:a="http://schemas.openxmlformats.org/drawingml/2006/main">
              <a:ext uri="{FF2B5EF4-FFF2-40B4-BE49-F238E27FC236}">
                <a16:creationId xmlns:a16="http://schemas.microsoft.com/office/drawing/2014/main" id="{537E9266-A87B-4446-BFA4-4D5580A47FA3}"/>
              </a:ext>
            </a:extLst>
          </p:cNvPr>
          <p:cNvSpPr>
            <a:spLocks xmlns:a="http://schemas.openxmlformats.org/drawingml/2006/main" noGrp="1"/>
          </p:cNvSpPr>
          <p:nvPr/>
        </p:nvSpPr>
        <p:spPr>
          <a:xfrm xmlns:a="http://schemas.openxmlformats.org/drawingml/2006/main">
            <a:off x="3524250" y="4972050"/>
            <a:ext cx="4048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Tokens + contexto</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BETO / Electricidad / BERTin</a:t>
            </a:r>
          </a:p>
        </p:txBody>
      </p:sp>
      <p:sp>
        <p:nvSpPr>
          <p:cNvPr id="19" name="">
            <a:extLst xmlns:a="http://schemas.openxmlformats.org/drawingml/2006/main">
              <a:ext uri="{FF2B5EF4-FFF2-40B4-BE49-F238E27FC236}">
                <a16:creationId xmlns:a16="http://schemas.microsoft.com/office/drawing/2014/main" id="{3F047623-83D2-46A0-93D1-51E44447E2B0}"/>
              </a:ext>
            </a:extLst>
          </p:cNvPr>
          <p:cNvSpPr>
            <a:spLocks xmlns:a="http://schemas.openxmlformats.org/drawingml/2006/main" noGrp="1"/>
          </p:cNvSpPr>
          <p:nvPr/>
        </p:nvSpPr>
        <p:spPr>
          <a:xfrm xmlns:a="http://schemas.openxmlformats.org/drawingml/2006/main">
            <a:off x="8591550" y="4848225"/>
            <a:ext cx="3095625" cy="10477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20" name="">
            <a:extLst xmlns:a="http://schemas.openxmlformats.org/drawingml/2006/main">
              <a:ext uri="{FF2B5EF4-FFF2-40B4-BE49-F238E27FC236}">
                <a16:creationId xmlns:a16="http://schemas.microsoft.com/office/drawing/2014/main" id="{E0009E0D-CDF6-42B8-A205-A7F20D9CDFEC}"/>
              </a:ext>
            </a:extLst>
          </p:cNvPr>
          <p:cNvSpPr>
            <a:spLocks xmlns:a="http://schemas.openxmlformats.org/drawingml/2006/main" noGrp="1"/>
          </p:cNvSpPr>
          <p:nvPr/>
        </p:nvSpPr>
        <p:spPr>
          <a:xfrm xmlns:a="http://schemas.openxmlformats.org/drawingml/2006/main">
            <a:off x="8734425" y="4972050"/>
            <a:ext cx="28098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Cabezas supervisadas</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Scores por etiqueta</a:t>
            </a:r>
          </a:p>
        </p:txBody>
      </p:sp>
      <p:cxnSp>
        <p:nvCxnSpPr>
          <p:cNvPr id="43" name=""/>
          <p:cNvCxnSpPr>
            <a:stCxn xmlns:a="http://schemas.openxmlformats.org/drawingml/2006/main" id="17" idx="3"/>
            <a:endCxn xmlns:a="http://schemas.openxmlformats.org/drawingml/2006/main" id="19" idx="1"/>
          </p:cNvCxnSpPr>
          <p:nvPr/>
        </p:nvCxnSpPr>
        <p:spPr>
          <a:xfrm xmlns:a="http://schemas.openxmlformats.org/drawingml/2006/main">
            <a:off x="7715250" y="5372100"/>
            <a:ext cx="876300" cy="0"/>
          </a:xfrm>
          <a:prstGeom xmlns:a="http://schemas.openxmlformats.org/drawingml/2006/main" prst="straightConnector1">
            <a:avLst/>
          </a:prstGeom>
          <a:ln xmlns:a="http://schemas.openxmlformats.org/drawingml/2006/main" w="21908">
            <a:solidFill>
              <a:srgbClr val="2C637F"/>
            </a:solidFill>
            <a:headEnd type="none" w="med" len="med"/>
            <a:tailEnd type="triangle" w="med" len="med"/>
          </a:ln>
        </p:spPr>
      </p:cxnSp>
      <p:sp>
        <p:nvSpPr>
          <p:cNvPr id="22" name="">
            <a:extLst xmlns:a="http://schemas.openxmlformats.org/drawingml/2006/main">
              <a:ext uri="{FF2B5EF4-FFF2-40B4-BE49-F238E27FC236}">
                <a16:creationId xmlns:a16="http://schemas.microsoft.com/office/drawing/2014/main" id="{D206EF31-749C-4FAC-A572-FE3B21BBCA3B}"/>
              </a:ext>
            </a:extLst>
          </p:cNvPr>
          <p:cNvSpPr>
            <a:spLocks xmlns:a="http://schemas.openxmlformats.org/drawingml/2006/main" noGrp="1"/>
          </p:cNvSpPr>
          <p:nvPr/>
        </p:nvSpPr>
        <p:spPr>
          <a:xfrm xmlns:a="http://schemas.openxmlformats.org/drawingml/2006/main">
            <a:off x="457200" y="6153150"/>
            <a:ext cx="11239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06674"/>
                </a:solidFill>
                <a:latin typeface="Inter"/>
                <a:ea typeface="Inter"/>
                <a:cs typeface="Inter"/>
              </a:defRPr>
            </a:pPr>
            <a:r>
              <a:rPr sz="1500" b="0">
                <a:solidFill>
                  <a:srgbClr val="506674"/>
                </a:solidFill>
                <a:latin typeface="Inter"/>
                <a:ea typeface="Inter"/>
                <a:cs typeface="Inter"/>
              </a:rPr>
              <a:t>Los LLM también usan Transformers. Aquí distinguimos su uso generativo y discriminativo.</a:t>
            </a:r>
          </a:p>
        </p:txBody>
      </p:sp>
    </p:spTree>
    <p:extLst>
      <p:ext uri="{BB962C8B-B14F-4D97-AF65-F5344CB8AC3E}">
        <p14:creationId xmlns:p14="http://schemas.microsoft.com/office/powerpoint/2010/main" val="676116957"/>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C6FA120-6A7E-40BD-B51F-10165B72804B}"/>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La evidencia orientó la elección</a:t>
            </a:r>
          </a:p>
        </p:txBody>
      </p:sp>
      <p:sp>
        <p:nvSpPr>
          <p:cNvPr id="2" name="">
            <a:extLst xmlns:a="http://schemas.openxmlformats.org/drawingml/2006/main">
              <a:ext uri="{FF2B5EF4-FFF2-40B4-BE49-F238E27FC236}">
                <a16:creationId xmlns:a16="http://schemas.microsoft.com/office/drawing/2014/main" id="{F332427D-DBDC-4A73-9CEB-201C30022562}"/>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1EC79803-24D9-44B6-8749-ECF0A909637D}"/>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03</a:t>
            </a:r>
          </a:p>
        </p:txBody>
      </p:sp>
      <p:sp>
        <p:nvSpPr>
          <p:cNvPr id="4" name="">
            <a:extLst xmlns:a="http://schemas.openxmlformats.org/drawingml/2006/main">
              <a:ext uri="{FF2B5EF4-FFF2-40B4-BE49-F238E27FC236}">
                <a16:creationId xmlns:a16="http://schemas.microsoft.com/office/drawing/2014/main" id="{D3999F78-A575-4C37-9BB0-32196A00428D}"/>
              </a:ext>
            </a:extLst>
          </p:cNvPr>
          <p:cNvSpPr>
            <a:spLocks xmlns:a="http://schemas.openxmlformats.org/drawingml/2006/main" noGrp="1"/>
          </p:cNvSpPr>
          <p:nvPr/>
        </p:nvSpPr>
        <p:spPr>
          <a:xfrm xmlns:a="http://schemas.openxmlformats.org/drawingml/2006/main">
            <a:off x="457200" y="1476375"/>
            <a:ext cx="6191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2C637F"/>
                </a:solidFill>
                <a:latin typeface="Inter"/>
                <a:ea typeface="Inter"/>
                <a:cs typeface="Inter"/>
              </a:defRPr>
            </a:pPr>
            <a:r>
              <a:rPr sz="2025" b="1">
                <a:solidFill>
                  <a:srgbClr val="2C637F"/>
                </a:solidFill>
                <a:latin typeface="Inter"/>
                <a:ea typeface="Inter"/>
                <a:cs typeface="Inter"/>
              </a:rPr>
              <a:t>Pilotos sobre los mismos 133 reportes</a:t>
            </a:r>
          </a:p>
        </p:txBody>
      </p:sp>
      <p:sp>
        <p:nvSpPr>
          <p:cNvPr id="5" name="">
            <a:extLst xmlns:a="http://schemas.openxmlformats.org/drawingml/2006/main">
              <a:ext uri="{FF2B5EF4-FFF2-40B4-BE49-F238E27FC236}">
                <a16:creationId xmlns:a16="http://schemas.microsoft.com/office/drawing/2014/main" id="{9105DA50-D72C-493A-B45A-4D3CEF6DE88A}"/>
              </a:ext>
            </a:extLst>
          </p:cNvPr>
          <p:cNvSpPr>
            <a:spLocks xmlns:a="http://schemas.openxmlformats.org/drawingml/2006/main" noGrp="1"/>
          </p:cNvSpPr>
          <p:nvPr/>
        </p:nvSpPr>
        <p:spPr>
          <a:xfrm xmlns:a="http://schemas.openxmlformats.org/drawingml/2006/main">
            <a:off x="457200" y="2143125"/>
            <a:ext cx="581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Exactitud conjunta S1 + S2</a:t>
            </a:r>
          </a:p>
        </p:txBody>
      </p:sp>
      <p:graphicFrame>
        <p:nvGraphicFramePr>
          <p:cNvPr id="17" name="Chart"/>
          <p:cNvGraphicFramePr/>
          <p:nvPr/>
        </p:nvGraphicFramePr>
        <p:xfrm>
          <a:off xmlns:a="http://schemas.openxmlformats.org/drawingml/2006/main" x="333375" y="2609850"/>
          <a:ext xmlns:a="http://schemas.openxmlformats.org/drawingml/2006/main" cx="6143625" cy="2762250"/>
        </p:xfrm>
        <a:graphic xmlns:a="http://schemas.openxmlformats.org/drawingml/2006/main">
          <a:graphicData uri="http://schemas.openxmlformats.org/drawingml/2006/chart">
            <c:chart xmlns:r="http://schemas.openxmlformats.org/officeDocument/2006/relationships" xmlns:c="http://schemas.openxmlformats.org/drawingml/2006/chart" r:id="Re302c111ce404257"/>
          </a:graphicData>
        </a:graphic>
      </p:graphicFrame>
      <p:sp>
        <p:nvSpPr>
          <p:cNvPr id="7" name="">
            <a:extLst xmlns:a="http://schemas.openxmlformats.org/drawingml/2006/main">
              <a:ext uri="{FF2B5EF4-FFF2-40B4-BE49-F238E27FC236}">
                <a16:creationId xmlns:a16="http://schemas.microsoft.com/office/drawing/2014/main" id="{9B37DD24-6FE8-4E48-A544-660A6DEB9B64}"/>
              </a:ext>
            </a:extLst>
          </p:cNvPr>
          <p:cNvSpPr>
            <a:spLocks xmlns:a="http://schemas.openxmlformats.org/drawingml/2006/main" noGrp="1"/>
          </p:cNvSpPr>
          <p:nvPr/>
        </p:nvSpPr>
        <p:spPr>
          <a:xfrm xmlns:a="http://schemas.openxmlformats.org/drawingml/2006/main">
            <a:off x="457200" y="5562600"/>
            <a:ext cx="6096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06674"/>
                </a:solidFill>
                <a:latin typeface="Inter"/>
                <a:ea typeface="Inter"/>
                <a:cs typeface="Inter"/>
              </a:defRPr>
            </a:pPr>
            <a:r>
              <a:rPr sz="1725" b="0">
                <a:solidFill>
                  <a:srgbClr val="506674"/>
                </a:solidFill>
                <a:latin typeface="Inter"/>
                <a:ea typeface="Inter"/>
                <a:cs typeface="Inter"/>
              </a:rPr>
              <a:t>LoRA: 625 ejemplos, 80 pasos.</a:t>
            </a:r>
          </a:p>
          <a:p xmlns:a="http://schemas.openxmlformats.org/drawingml/2006/main">
            <a:pPr>
              <a:defRPr sz="1725" b="0">
                <a:solidFill>
                  <a:srgbClr val="506674"/>
                </a:solidFill>
                <a:latin typeface="Inter"/>
                <a:ea typeface="Inter"/>
                <a:cs typeface="Inter"/>
              </a:defRPr>
            </a:pPr>
            <a:r>
              <a:rPr sz="1725" b="0">
                <a:solidFill>
                  <a:srgbClr val="506674"/>
                </a:solidFill>
                <a:latin typeface="Inter"/>
                <a:ea typeface="Inter"/>
                <a:cs typeface="Inter"/>
              </a:rPr>
              <a:t>Resultados acotados a estos pilotos.</a:t>
            </a:r>
          </a:p>
        </p:txBody>
      </p:sp>
      <p:sp>
        <p:nvSpPr>
          <p:cNvPr id="8" name="">
            <a:extLst xmlns:a="http://schemas.openxmlformats.org/drawingml/2006/main">
              <a:ext uri="{FF2B5EF4-FFF2-40B4-BE49-F238E27FC236}">
                <a16:creationId xmlns:a16="http://schemas.microsoft.com/office/drawing/2014/main" id="{28FF8855-C1CD-4041-A13C-55FBD72C6A54}"/>
              </a:ext>
            </a:extLst>
          </p:cNvPr>
          <p:cNvSpPr>
            <a:spLocks xmlns:a="http://schemas.openxmlformats.org/drawingml/2006/main" noGrp="1"/>
          </p:cNvSpPr>
          <p:nvPr/>
        </p:nvSpPr>
        <p:spPr>
          <a:xfrm xmlns:a="http://schemas.openxmlformats.org/drawingml/2006/main">
            <a:off x="7029450" y="1476375"/>
            <a:ext cx="4572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2C637F"/>
                </a:solidFill>
                <a:latin typeface="Inter"/>
                <a:ea typeface="Inter"/>
                <a:cs typeface="Inter"/>
              </a:defRPr>
            </a:pPr>
            <a:r>
              <a:rPr sz="2025" b="1">
                <a:solidFill>
                  <a:srgbClr val="2C637F"/>
                </a:solidFill>
                <a:latin typeface="Inter"/>
                <a:ea typeface="Inter"/>
                <a:cs typeface="Inter"/>
              </a:rPr>
              <a:t>Clásicos frente a BETO</a:t>
            </a:r>
          </a:p>
        </p:txBody>
      </p:sp>
      <p:sp>
        <p:nvSpPr>
          <p:cNvPr id="9" name="">
            <a:extLst xmlns:a="http://schemas.openxmlformats.org/drawingml/2006/main">
              <a:ext uri="{FF2B5EF4-FFF2-40B4-BE49-F238E27FC236}">
                <a16:creationId xmlns:a16="http://schemas.microsoft.com/office/drawing/2014/main" id="{84BB28E2-666E-4550-8497-2C6FAB2283CF}"/>
              </a:ext>
            </a:extLst>
          </p:cNvPr>
          <p:cNvSpPr>
            <a:spLocks xmlns:a="http://schemas.openxmlformats.org/drawingml/2006/main" noGrp="1"/>
          </p:cNvSpPr>
          <p:nvPr/>
        </p:nvSpPr>
        <p:spPr>
          <a:xfrm xmlns:a="http://schemas.openxmlformats.org/drawingml/2006/main">
            <a:off x="7029450" y="2266950"/>
            <a:ext cx="457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Desarrollo completo · Recetas distintas</a:t>
            </a:r>
          </a:p>
        </p:txBody>
      </p:sp>
      <p:graphicFrame>
        <p:nvGraphicFramePr>
          <p:cNvPr id="21" name=""/>
          <p:cNvGraphicFramePr/>
          <p:nvPr/>
        </p:nvGraphicFramePr>
        <p:xfrm>
          <a:off xmlns:a="http://schemas.openxmlformats.org/drawingml/2006/main" x="6762750" y="2962275"/>
          <a:ext xmlns:a="http://schemas.openxmlformats.org/drawingml/2006/main" cx="4933950" cy="2209800"/>
        </p:xfrm>
        <a:graphic xmlns:a="http://schemas.openxmlformats.org/drawingml/2006/main">
          <a:graphicData uri="http://schemas.openxmlformats.org/drawingml/2006/table">
            <a:tbl>
              <a:tblPr/>
              <a:tblGrid>
                <a:gridCol w="2114550"/>
                <a:gridCol w="1409700"/>
                <a:gridCol w="1409700"/>
              </a:tblGrid>
              <a:tr h="552450">
                <a:tc>
                  <a:txBody>
                    <a:bodyPr/>
                    <a:lstStyle/>
                    <a:p>
                      <a:r>
                        <a:rPr sz="1725" b="1">
                          <a:solidFill>
                            <a:srgbClr val="2C637F"/>
                          </a:solidFill>
                          <a:latin typeface="Inter"/>
                          <a:ea typeface="Inter"/>
                          <a:cs typeface="Inter"/>
                        </a:rPr>
                        <a:t>Métrica</a:t>
                      </a:r>
                    </a:p>
                  </a:txBody>
                  <a:tcPr marL="91440" marR="91440" marT="45720" marB="45720">
                    <a:solidFill>
                      <a:srgbClr val="E2F2FA"/>
                    </a:solidFill>
                  </a:tcPr>
                </a:tc>
                <a:tc>
                  <a:txBody>
                    <a:bodyPr/>
                    <a:lstStyle/>
                    <a:p>
                      <a:r>
                        <a:rPr sz="1725" b="1">
                          <a:solidFill>
                            <a:srgbClr val="2C637F"/>
                          </a:solidFill>
                          <a:latin typeface="Inter"/>
                          <a:ea typeface="Inter"/>
                          <a:cs typeface="Inter"/>
                        </a:rPr>
                        <a:t>Clásico</a:t>
                      </a:r>
                    </a:p>
                  </a:txBody>
                  <a:tcPr marL="91440" marR="91440" marT="45720" marB="45720">
                    <a:solidFill>
                      <a:srgbClr val="E2F2FA"/>
                    </a:solidFill>
                  </a:tcPr>
                </a:tc>
                <a:tc>
                  <a:txBody>
                    <a:bodyPr/>
                    <a:lstStyle/>
                    <a:p>
                      <a:r>
                        <a:rPr sz="1725" b="1">
                          <a:solidFill>
                            <a:srgbClr val="2C637F"/>
                          </a:solidFill>
                          <a:latin typeface="Inter"/>
                          <a:ea typeface="Inter"/>
                          <a:cs typeface="Inter"/>
                        </a:rPr>
                        <a:t>BETO</a:t>
                      </a:r>
                    </a:p>
                  </a:txBody>
                  <a:tcPr marL="91440" marR="91440" marT="45720" marB="45720">
                    <a:solidFill>
                      <a:srgbClr val="E2F2FA"/>
                    </a:solidFill>
                  </a:tcPr>
                </a:tc>
              </a:tr>
              <a:tr h="552450">
                <a:tc>
                  <a:txBody>
                    <a:bodyPr/>
                    <a:lstStyle/>
                    <a:p>
                      <a:r>
                        <a:rPr sz="1725" b="0">
                          <a:solidFill>
                            <a:srgbClr val="152E3C"/>
                          </a:solidFill>
                          <a:latin typeface="Inter"/>
                          <a:ea typeface="Inter"/>
                          <a:cs typeface="Inter"/>
                        </a:rPr>
                        <a:t>S1 macro-F1</a:t>
                      </a:r>
                    </a:p>
                  </a:txBody>
                  <a:tcPr marL="91440" marR="91440" marT="45720" marB="45720">
                    <a:solidFill>
                      <a:srgbClr val="FFFFFF"/>
                    </a:solidFill>
                  </a:tcPr>
                </a:tc>
                <a:tc>
                  <a:txBody>
                    <a:bodyPr/>
                    <a:lstStyle/>
                    <a:p>
                      <a:r>
                        <a:rPr sz="1725" b="0">
                          <a:solidFill>
                            <a:srgbClr val="152E3C"/>
                          </a:solidFill>
                          <a:latin typeface="Inter"/>
                          <a:ea typeface="Inter"/>
                          <a:cs typeface="Inter"/>
                        </a:rPr>
                        <a:t>0.4974*</a:t>
                      </a:r>
                    </a:p>
                  </a:txBody>
                  <a:tcPr marL="91440" marR="91440" marT="45720" marB="45720">
                    <a:solidFill>
                      <a:srgbClr val="FFFFFF"/>
                    </a:solidFill>
                  </a:tcPr>
                </a:tc>
                <a:tc>
                  <a:txBody>
                    <a:bodyPr/>
                    <a:lstStyle/>
                    <a:p>
                      <a:r>
                        <a:rPr sz="1725" b="0">
                          <a:solidFill>
                            <a:srgbClr val="152E3C"/>
                          </a:solidFill>
                          <a:latin typeface="Inter"/>
                          <a:ea typeface="Inter"/>
                          <a:cs typeface="Inter"/>
                        </a:rPr>
                        <a:t>0.5429</a:t>
                      </a:r>
                    </a:p>
                  </a:txBody>
                  <a:tcPr marL="91440" marR="91440" marT="45720" marB="45720">
                    <a:solidFill>
                      <a:srgbClr val="FFFFFF"/>
                    </a:solidFill>
                  </a:tcPr>
                </a:tc>
              </a:tr>
              <a:tr h="552450">
                <a:tc>
                  <a:txBody>
                    <a:bodyPr/>
                    <a:lstStyle/>
                    <a:p>
                      <a:r>
                        <a:rPr sz="1725" b="0">
                          <a:solidFill>
                            <a:srgbClr val="152E3C"/>
                          </a:solidFill>
                          <a:latin typeface="Inter"/>
                          <a:ea typeface="Inter"/>
                          <a:cs typeface="Inter"/>
                        </a:rPr>
                        <a:t>S2 macro-F1</a:t>
                      </a:r>
                    </a:p>
                  </a:txBody>
                  <a:tcPr marL="91440" marR="91440" marT="45720" marB="45720">
                    <a:solidFill>
                      <a:srgbClr val="FFFFFF"/>
                    </a:solidFill>
                  </a:tcPr>
                </a:tc>
                <a:tc>
                  <a:txBody>
                    <a:bodyPr/>
                    <a:lstStyle/>
                    <a:p>
                      <a:r>
                        <a:rPr sz="1725" b="0">
                          <a:solidFill>
                            <a:srgbClr val="152E3C"/>
                          </a:solidFill>
                          <a:latin typeface="Inter"/>
                          <a:ea typeface="Inter"/>
                          <a:cs typeface="Inter"/>
                        </a:rPr>
                        <a:t>0.7642</a:t>
                      </a:r>
                    </a:p>
                  </a:txBody>
                  <a:tcPr marL="91440" marR="91440" marT="45720" marB="45720">
                    <a:solidFill>
                      <a:srgbClr val="FFFFFF"/>
                    </a:solidFill>
                  </a:tcPr>
                </a:tc>
                <a:tc>
                  <a:txBody>
                    <a:bodyPr/>
                    <a:lstStyle/>
                    <a:p>
                      <a:r>
                        <a:rPr sz="1725" b="0">
                          <a:solidFill>
                            <a:srgbClr val="152E3C"/>
                          </a:solidFill>
                          <a:latin typeface="Inter"/>
                          <a:ea typeface="Inter"/>
                          <a:cs typeface="Inter"/>
                        </a:rPr>
                        <a:t>0.8198</a:t>
                      </a:r>
                    </a:p>
                  </a:txBody>
                  <a:tcPr marL="91440" marR="91440" marT="45720" marB="45720">
                    <a:solidFill>
                      <a:srgbClr val="FFFFFF"/>
                    </a:solidFill>
                  </a:tcPr>
                </a:tc>
              </a:tr>
              <a:tr h="552450">
                <a:tc>
                  <a:txBody>
                    <a:bodyPr/>
                    <a:lstStyle/>
                    <a:p>
                      <a:r>
                        <a:rPr sz="1725" b="0">
                          <a:solidFill>
                            <a:srgbClr val="152E3C"/>
                          </a:solidFill>
                          <a:latin typeface="Inter"/>
                          <a:ea typeface="Inter"/>
                          <a:cs typeface="Inter"/>
                        </a:rPr>
                        <a:t>S2 micro-F1</a:t>
                      </a:r>
                    </a:p>
                  </a:txBody>
                  <a:tcPr marL="91440" marR="91440" marT="45720" marB="45720">
                    <a:solidFill>
                      <a:srgbClr val="FFFFFF"/>
                    </a:solidFill>
                  </a:tcPr>
                </a:tc>
                <a:tc>
                  <a:txBody>
                    <a:bodyPr/>
                    <a:lstStyle/>
                    <a:p>
                      <a:r>
                        <a:rPr sz="1725" b="0">
                          <a:solidFill>
                            <a:srgbClr val="152E3C"/>
                          </a:solidFill>
                          <a:latin typeface="Inter"/>
                          <a:ea typeface="Inter"/>
                          <a:cs typeface="Inter"/>
                        </a:rPr>
                        <a:t>0.8449</a:t>
                      </a:r>
                    </a:p>
                  </a:txBody>
                  <a:tcPr marL="91440" marR="91440" marT="45720" marB="45720">
                    <a:solidFill>
                      <a:srgbClr val="FFFFFF"/>
                    </a:solidFill>
                  </a:tcPr>
                </a:tc>
                <a:tc>
                  <a:txBody>
                    <a:bodyPr/>
                    <a:lstStyle/>
                    <a:p>
                      <a:r>
                        <a:rPr sz="1725" b="0">
                          <a:solidFill>
                            <a:srgbClr val="152E3C"/>
                          </a:solidFill>
                          <a:latin typeface="Inter"/>
                          <a:ea typeface="Inter"/>
                          <a:cs typeface="Inter"/>
                        </a:rPr>
                        <a:t>0.8685</a:t>
                      </a:r>
                    </a:p>
                  </a:txBody>
                  <a:tcPr marL="91440" marR="91440" marT="45720" marB="45720">
                    <a:solidFill>
                      <a:srgbClr val="FFFFFF"/>
                    </a:solidFill>
                  </a:tcPr>
                </a:tc>
              </a:tr>
            </a:tbl>
          </a:graphicData>
        </a:graphic>
      </p:graphicFrame>
      <p:sp>
        <p:nvSpPr>
          <p:cNvPr id="11" name="">
            <a:extLst xmlns:a="http://schemas.openxmlformats.org/drawingml/2006/main">
              <a:ext uri="{FF2B5EF4-FFF2-40B4-BE49-F238E27FC236}">
                <a16:creationId xmlns:a16="http://schemas.microsoft.com/office/drawing/2014/main" id="{7287F8FF-2481-4BE7-91BE-F55F5A557B00}"/>
              </a:ext>
            </a:extLst>
          </p:cNvPr>
          <p:cNvSpPr>
            <a:spLocks xmlns:a="http://schemas.openxmlformats.org/drawingml/2006/main" noGrp="1"/>
          </p:cNvSpPr>
          <p:nvPr/>
        </p:nvSpPr>
        <p:spPr>
          <a:xfrm xmlns:a="http://schemas.openxmlformats.org/drawingml/2006/main">
            <a:off x="6762750" y="5448300"/>
            <a:ext cx="49339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06674"/>
                </a:solidFill>
                <a:latin typeface="Inter"/>
                <a:ea typeface="Inter"/>
                <a:cs typeface="Inter"/>
              </a:defRPr>
            </a:pPr>
            <a:r>
              <a:rPr sz="1575" b="0">
                <a:solidFill>
                  <a:srgbClr val="506674"/>
                </a:solidFill>
                <a:latin typeface="Inter"/>
                <a:ea typeface="Inter"/>
                <a:cs typeface="Inter"/>
              </a:rPr>
              <a:t>*S1: referencia clásica temprana.</a:t>
            </a:r>
          </a:p>
          <a:p xmlns:a="http://schemas.openxmlformats.org/drawingml/2006/main">
            <a:pPr>
              <a:defRPr sz="1575" b="0">
                <a:solidFill>
                  <a:srgbClr val="506674"/>
                </a:solidFill>
                <a:latin typeface="Inter"/>
                <a:ea typeface="Inter"/>
                <a:cs typeface="Inter"/>
              </a:defRPr>
            </a:pPr>
            <a:r>
              <a:rPr sz="1575" b="0">
                <a:solidFill>
                  <a:srgbClr val="506674"/>
                </a:solidFill>
                <a:latin typeface="Inter"/>
                <a:ea typeface="Inter"/>
                <a:cs typeface="Inter"/>
              </a:rPr>
              <a:t>S2: SVM caracteres / BETO umbral 0.45.</a:t>
            </a:r>
          </a:p>
          <a:p xmlns:a="http://schemas.openxmlformats.org/drawingml/2006/main">
            <a:pPr>
              <a:defRPr sz="1575" b="0">
                <a:solidFill>
                  <a:srgbClr val="506674"/>
                </a:solidFill>
                <a:latin typeface="Inter"/>
                <a:ea typeface="Inter"/>
                <a:cs typeface="Inter"/>
              </a:defRPr>
            </a:pPr>
            <a:r>
              <a:rPr sz="1575" b="0">
                <a:solidFill>
                  <a:srgbClr val="506674"/>
                </a:solidFill>
                <a:latin typeface="Inter"/>
                <a:ea typeface="Inter"/>
                <a:cs typeface="Inter"/>
              </a:rPr>
              <a:t>Los paneles usan métricas distintas.</a:t>
            </a:r>
          </a:p>
        </p:txBody>
      </p:sp>
    </p:spTree>
    <p:extLst>
      <p:ext uri="{BB962C8B-B14F-4D97-AF65-F5344CB8AC3E}">
        <p14:creationId xmlns:p14="http://schemas.microsoft.com/office/powerpoint/2010/main" val="329854879"/>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48ABE01D-4A39-4E1A-8098-6EED080BD8FF}"/>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El problema determina las salidas</a:t>
            </a:r>
          </a:p>
        </p:txBody>
      </p:sp>
      <p:sp>
        <p:nvSpPr>
          <p:cNvPr id="2" name="">
            <a:extLst xmlns:a="http://schemas.openxmlformats.org/drawingml/2006/main">
              <a:ext uri="{FF2B5EF4-FFF2-40B4-BE49-F238E27FC236}">
                <a16:creationId xmlns:a16="http://schemas.microsoft.com/office/drawing/2014/main" id="{1DC6488F-B75C-4F93-BC9F-E1D81A37F5F2}"/>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BA657F0F-56FD-4470-9636-5F717D248E0F}"/>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04</a:t>
            </a:r>
          </a:p>
        </p:txBody>
      </p:sp>
      <p:sp>
        <p:nvSpPr>
          <p:cNvPr id="4" name="">
            <a:extLst xmlns:a="http://schemas.openxmlformats.org/drawingml/2006/main">
              <a:ext uri="{FF2B5EF4-FFF2-40B4-BE49-F238E27FC236}">
                <a16:creationId xmlns:a16="http://schemas.microsoft.com/office/drawing/2014/main" id="{35BC3C42-BFDD-4F83-B0AE-3D94E693CD45}"/>
              </a:ext>
            </a:extLst>
          </p:cNvPr>
          <p:cNvSpPr>
            <a:spLocks xmlns:a="http://schemas.openxmlformats.org/drawingml/2006/main" noGrp="1"/>
          </p:cNvSpPr>
          <p:nvPr/>
        </p:nvSpPr>
        <p:spPr>
          <a:xfrm xmlns:a="http://schemas.openxmlformats.org/drawingml/2006/main">
            <a:off x="457200" y="1419225"/>
            <a:ext cx="11239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C637F"/>
                </a:solidFill>
                <a:latin typeface="Inter"/>
                <a:ea typeface="Inter"/>
                <a:cs typeface="Inter"/>
              </a:defRPr>
            </a:pPr>
            <a:r>
              <a:rPr sz="1875" b="1">
                <a:solidFill>
                  <a:srgbClr val="2C637F"/>
                </a:solidFill>
                <a:latin typeface="Inter"/>
                <a:ea typeface="Inter"/>
                <a:cs typeface="Inter"/>
              </a:rPr>
              <a:t>S1 · Receta BETO aumentada (augrep08)</a:t>
            </a:r>
          </a:p>
        </p:txBody>
      </p:sp>
      <p:sp>
        <p:nvSpPr>
          <p:cNvPr id="5" name="">
            <a:extLst xmlns:a="http://schemas.openxmlformats.org/drawingml/2006/main">
              <a:ext uri="{FF2B5EF4-FFF2-40B4-BE49-F238E27FC236}">
                <a16:creationId xmlns:a16="http://schemas.microsoft.com/office/drawing/2014/main" id="{77303A38-04A4-401F-BECE-139C954086FC}"/>
              </a:ext>
            </a:extLst>
          </p:cNvPr>
          <p:cNvSpPr>
            <a:spLocks xmlns:a="http://schemas.openxmlformats.org/drawingml/2006/main" noGrp="1"/>
          </p:cNvSpPr>
          <p:nvPr/>
        </p:nvSpPr>
        <p:spPr>
          <a:xfrm xmlns:a="http://schemas.openxmlformats.org/drawingml/2006/main">
            <a:off x="457200" y="2247900"/>
            <a:ext cx="1885950" cy="96202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6" name="">
            <a:extLst xmlns:a="http://schemas.openxmlformats.org/drawingml/2006/main">
              <a:ext uri="{FF2B5EF4-FFF2-40B4-BE49-F238E27FC236}">
                <a16:creationId xmlns:a16="http://schemas.microsoft.com/office/drawing/2014/main" id="{78BAE34E-96C9-4A35-9D69-8FFE8D2547C2}"/>
              </a:ext>
            </a:extLst>
          </p:cNvPr>
          <p:cNvSpPr>
            <a:spLocks xmlns:a="http://schemas.openxmlformats.org/drawingml/2006/main" noGrp="1"/>
          </p:cNvSpPr>
          <p:nvPr/>
        </p:nvSpPr>
        <p:spPr>
          <a:xfrm xmlns:a="http://schemas.openxmlformats.org/drawingml/2006/main">
            <a:off x="600075" y="2371725"/>
            <a:ext cx="16002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Texto</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512 tokens</a:t>
            </a:r>
          </a:p>
        </p:txBody>
      </p:sp>
      <p:sp>
        <p:nvSpPr>
          <p:cNvPr id="7" name="">
            <a:extLst xmlns:a="http://schemas.openxmlformats.org/drawingml/2006/main">
              <a:ext uri="{FF2B5EF4-FFF2-40B4-BE49-F238E27FC236}">
                <a16:creationId xmlns:a16="http://schemas.microsoft.com/office/drawing/2014/main" id="{869E0E93-434F-4ADB-AC2A-407C76944EBC}"/>
              </a:ext>
            </a:extLst>
          </p:cNvPr>
          <p:cNvSpPr>
            <a:spLocks xmlns:a="http://schemas.openxmlformats.org/drawingml/2006/main" noGrp="1"/>
          </p:cNvSpPr>
          <p:nvPr/>
        </p:nvSpPr>
        <p:spPr>
          <a:xfrm xmlns:a="http://schemas.openxmlformats.org/drawingml/2006/main">
            <a:off x="2809875" y="2343150"/>
            <a:ext cx="1581150" cy="76200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8" name="">
            <a:extLst xmlns:a="http://schemas.openxmlformats.org/drawingml/2006/main">
              <a:ext uri="{FF2B5EF4-FFF2-40B4-BE49-F238E27FC236}">
                <a16:creationId xmlns:a16="http://schemas.microsoft.com/office/drawing/2014/main" id="{2B02D85E-5767-4B12-92DE-CB93AAB7CDCD}"/>
              </a:ext>
            </a:extLst>
          </p:cNvPr>
          <p:cNvSpPr>
            <a:spLocks xmlns:a="http://schemas.openxmlformats.org/drawingml/2006/main" noGrp="1"/>
          </p:cNvSpPr>
          <p:nvPr/>
        </p:nvSpPr>
        <p:spPr>
          <a:xfrm xmlns:a="http://schemas.openxmlformats.org/drawingml/2006/main">
            <a:off x="2952750" y="2466975"/>
            <a:ext cx="1295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BETO</a:t>
            </a:r>
          </a:p>
        </p:txBody>
      </p:sp>
      <p:sp>
        <p:nvSpPr>
          <p:cNvPr id="9" name="">
            <a:extLst xmlns:a="http://schemas.openxmlformats.org/drawingml/2006/main">
              <a:ext uri="{FF2B5EF4-FFF2-40B4-BE49-F238E27FC236}">
                <a16:creationId xmlns:a16="http://schemas.microsoft.com/office/drawing/2014/main" id="{3979A5AC-C67F-4597-A090-428092012907}"/>
              </a:ext>
            </a:extLst>
          </p:cNvPr>
          <p:cNvSpPr>
            <a:spLocks xmlns:a="http://schemas.openxmlformats.org/drawingml/2006/main" noGrp="1"/>
          </p:cNvSpPr>
          <p:nvPr/>
        </p:nvSpPr>
        <p:spPr>
          <a:xfrm xmlns:a="http://schemas.openxmlformats.org/drawingml/2006/main">
            <a:off x="5114925" y="1905000"/>
            <a:ext cx="6524625" cy="82867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0" name="">
            <a:extLst xmlns:a="http://schemas.openxmlformats.org/drawingml/2006/main">
              <a:ext uri="{FF2B5EF4-FFF2-40B4-BE49-F238E27FC236}">
                <a16:creationId xmlns:a16="http://schemas.microsoft.com/office/drawing/2014/main" id="{03B55AD5-C63A-498F-B9CF-DE958EEAFF22}"/>
              </a:ext>
            </a:extLst>
          </p:cNvPr>
          <p:cNvSpPr>
            <a:spLocks xmlns:a="http://schemas.openxmlformats.org/drawingml/2006/main" noGrp="1"/>
          </p:cNvSpPr>
          <p:nvPr/>
        </p:nvSpPr>
        <p:spPr>
          <a:xfrm xmlns:a="http://schemas.openxmlformats.org/drawingml/2006/main">
            <a:off x="5257800" y="2028825"/>
            <a:ext cx="623887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Softmax</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Mild / Medium / High / Severe</a:t>
            </a:r>
          </a:p>
        </p:txBody>
      </p:sp>
      <p:sp>
        <p:nvSpPr>
          <p:cNvPr id="11" name="">
            <a:extLst xmlns:a="http://schemas.openxmlformats.org/drawingml/2006/main">
              <a:ext uri="{FF2B5EF4-FFF2-40B4-BE49-F238E27FC236}">
                <a16:creationId xmlns:a16="http://schemas.microsoft.com/office/drawing/2014/main" id="{1FF856CA-897E-430D-8EDE-080C4347FB33}"/>
              </a:ext>
            </a:extLst>
          </p:cNvPr>
          <p:cNvSpPr>
            <a:spLocks xmlns:a="http://schemas.openxmlformats.org/drawingml/2006/main" noGrp="1"/>
          </p:cNvSpPr>
          <p:nvPr/>
        </p:nvSpPr>
        <p:spPr>
          <a:xfrm xmlns:a="http://schemas.openxmlformats.org/drawingml/2006/main">
            <a:off x="5114925" y="3333750"/>
            <a:ext cx="6524625" cy="8191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2" name="">
            <a:extLst xmlns:a="http://schemas.openxmlformats.org/drawingml/2006/main">
              <a:ext uri="{FF2B5EF4-FFF2-40B4-BE49-F238E27FC236}">
                <a16:creationId xmlns:a16="http://schemas.microsoft.com/office/drawing/2014/main" id="{1F865B7D-ECD2-47F7-A7E0-3668F9125AEF}"/>
              </a:ext>
            </a:extLst>
          </p:cNvPr>
          <p:cNvSpPr>
            <a:spLocks xmlns:a="http://schemas.openxmlformats.org/drawingml/2006/main" noGrp="1"/>
          </p:cNvSpPr>
          <p:nvPr/>
        </p:nvSpPr>
        <p:spPr>
          <a:xfrm xmlns:a="http://schemas.openxmlformats.org/drawingml/2006/main">
            <a:off x="5257800" y="3457575"/>
            <a:ext cx="62388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Cabeza auxiliar de 7 tipos</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Etiquetas suaves donde existen</a:t>
            </a:r>
          </a:p>
        </p:txBody>
      </p:sp>
      <p:cxnSp>
        <p:nvCxnSpPr>
          <p:cNvPr id="38" name=""/>
          <p:cNvCxnSpPr>
            <a:stCxn xmlns:a="http://schemas.openxmlformats.org/drawingml/2006/main" id="5" idx="3"/>
            <a:endCxn xmlns:a="http://schemas.openxmlformats.org/drawingml/2006/main" id="7" idx="1"/>
          </p:cNvCxnSpPr>
          <p:nvPr/>
        </p:nvCxnSpPr>
        <p:spPr>
          <a:xfrm xmlns:a="http://schemas.openxmlformats.org/drawingml/2006/main" flipV="1">
            <a:off x="2343150" y="2724150"/>
            <a:ext cx="466725" cy="4763"/>
          </a:xfrm>
          <a:prstGeom xmlns:a="http://schemas.openxmlformats.org/drawingml/2006/main" prst="bentConnector3">
            <a:avLst>
              <a:gd name="adj1" fmla="val 50000"/>
            </a:avLst>
          </a:prstGeom>
          <a:ln xmlns:a="http://schemas.openxmlformats.org/drawingml/2006/main" w="21908">
            <a:solidFill>
              <a:srgbClr val="2C637F"/>
            </a:solidFill>
            <a:headEnd type="none" w="med" len="med"/>
            <a:tailEnd type="triangle" w="med" len="med"/>
          </a:ln>
        </p:spPr>
      </p:cxnSp>
      <p:cxnSp>
        <p:nvCxnSpPr>
          <p:cNvPr id="39" name=""/>
          <p:cNvCxnSpPr>
            <a:stCxn xmlns:a="http://schemas.openxmlformats.org/drawingml/2006/main" id="7" idx="3"/>
            <a:endCxn xmlns:a="http://schemas.openxmlformats.org/drawingml/2006/main" id="9" idx="1"/>
          </p:cNvCxnSpPr>
          <p:nvPr/>
        </p:nvCxnSpPr>
        <p:spPr>
          <a:xfrm xmlns:a="http://schemas.openxmlformats.org/drawingml/2006/main" flipV="1">
            <a:off x="4391025" y="2319338"/>
            <a:ext cx="723900" cy="404813"/>
          </a:xfrm>
          <a:prstGeom xmlns:a="http://schemas.openxmlformats.org/drawingml/2006/main" prst="bentConnector3">
            <a:avLst>
              <a:gd name="adj1" fmla="val 50000"/>
            </a:avLst>
          </a:prstGeom>
          <a:ln xmlns:a="http://schemas.openxmlformats.org/drawingml/2006/main" w="21908">
            <a:solidFill>
              <a:srgbClr val="2C637F"/>
            </a:solidFill>
            <a:headEnd type="none" w="med" len="med"/>
            <a:tailEnd type="triangle" w="med" len="med"/>
          </a:ln>
        </p:spPr>
      </p:cxnSp>
      <p:cxnSp>
        <p:nvCxnSpPr>
          <p:cNvPr id="40" name=""/>
          <p:cNvCxnSpPr>
            <a:stCxn xmlns:a="http://schemas.openxmlformats.org/drawingml/2006/main" id="7" idx="3"/>
            <a:endCxn xmlns:a="http://schemas.openxmlformats.org/drawingml/2006/main" id="11" idx="1"/>
          </p:cNvCxnSpPr>
          <p:nvPr/>
        </p:nvCxnSpPr>
        <p:spPr>
          <a:xfrm xmlns:a="http://schemas.openxmlformats.org/drawingml/2006/main">
            <a:off x="4391025" y="2724150"/>
            <a:ext cx="723900" cy="1019175"/>
          </a:xfrm>
          <a:prstGeom xmlns:a="http://schemas.openxmlformats.org/drawingml/2006/main" prst="bentConnector3">
            <a:avLst>
              <a:gd name="adj1" fmla="val 50000"/>
            </a:avLst>
          </a:prstGeom>
          <a:ln xmlns:a="http://schemas.openxmlformats.org/drawingml/2006/main" w="21908">
            <a:solidFill>
              <a:srgbClr val="2C637F"/>
            </a:solidFill>
            <a:headEnd type="none" w="med" len="med"/>
            <a:tailEnd type="triangle" w="med" len="med"/>
          </a:ln>
        </p:spPr>
      </p:cxnSp>
      <p:sp>
        <p:nvSpPr>
          <p:cNvPr id="16" name="">
            <a:extLst xmlns:a="http://schemas.openxmlformats.org/drawingml/2006/main">
              <a:ext uri="{FF2B5EF4-FFF2-40B4-BE49-F238E27FC236}">
                <a16:creationId xmlns:a16="http://schemas.microsoft.com/office/drawing/2014/main" id="{98BA6939-CF7F-414C-95B4-A112FAE19B2B}"/>
              </a:ext>
            </a:extLst>
          </p:cNvPr>
          <p:cNvSpPr>
            <a:spLocks xmlns:a="http://schemas.openxmlformats.org/drawingml/2006/main" noGrp="1"/>
          </p:cNvSpPr>
          <p:nvPr/>
        </p:nvSpPr>
        <p:spPr>
          <a:xfrm xmlns:a="http://schemas.openxmlformats.org/drawingml/2006/main">
            <a:off x="5286375" y="2857500"/>
            <a:ext cx="6334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Focal ponderada + distancia ordinal (0.05)</a:t>
            </a:r>
          </a:p>
        </p:txBody>
      </p:sp>
      <p:sp>
        <p:nvSpPr>
          <p:cNvPr id="17" name="">
            <a:extLst xmlns:a="http://schemas.openxmlformats.org/drawingml/2006/main">
              <a:ext uri="{FF2B5EF4-FFF2-40B4-BE49-F238E27FC236}">
                <a16:creationId xmlns:a16="http://schemas.microsoft.com/office/drawing/2014/main" id="{0A95B114-527A-4103-8302-A437B049D5B2}"/>
              </a:ext>
            </a:extLst>
          </p:cNvPr>
          <p:cNvSpPr>
            <a:spLocks xmlns:a="http://schemas.openxmlformats.org/drawingml/2006/main" noGrp="1"/>
          </p:cNvSpPr>
          <p:nvPr/>
        </p:nvSpPr>
        <p:spPr>
          <a:xfrm xmlns:a="http://schemas.openxmlformats.org/drawingml/2006/main">
            <a:off x="5286375" y="4257675"/>
            <a:ext cx="63341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BCE enmascarada · Peso 0.3 · Incluye N/A</a:t>
            </a:r>
          </a:p>
        </p:txBody>
      </p:sp>
      <p:sp>
        <p:nvSpPr>
          <p:cNvPr id="18" name="">
            <a:extLst xmlns:a="http://schemas.openxmlformats.org/drawingml/2006/main">
              <a:ext uri="{FF2B5EF4-FFF2-40B4-BE49-F238E27FC236}">
                <a16:creationId xmlns:a16="http://schemas.microsoft.com/office/drawing/2014/main" id="{29092DAF-03F4-43B7-B207-62600E699BF3}"/>
              </a:ext>
            </a:extLst>
          </p:cNvPr>
          <p:cNvSpPr>
            <a:spLocks xmlns:a="http://schemas.openxmlformats.org/drawingml/2006/main" noGrp="1"/>
          </p:cNvSpPr>
          <p:nvPr/>
        </p:nvSpPr>
        <p:spPr>
          <a:xfrm xmlns:a="http://schemas.openxmlformats.org/drawingml/2006/main">
            <a:off x="457200" y="3476625"/>
            <a:ext cx="3905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Espacios normalizados</a:t>
            </a:r>
          </a:p>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Tokenización y truncamiento</a:t>
            </a:r>
          </a:p>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Padding por lote</a:t>
            </a:r>
          </a:p>
        </p:txBody>
      </p:sp>
      <p:sp>
        <p:nvSpPr>
          <p:cNvPr id="19" name="">
            <a:extLst xmlns:a="http://schemas.openxmlformats.org/drawingml/2006/main">
              <a:ext uri="{FF2B5EF4-FFF2-40B4-BE49-F238E27FC236}">
                <a16:creationId xmlns:a16="http://schemas.microsoft.com/office/drawing/2014/main" id="{35793CC1-760F-4250-B29C-C4B267B527F9}"/>
              </a:ext>
            </a:extLst>
          </p:cNvPr>
          <p:cNvSpPr>
            <a:spLocks xmlns:a="http://schemas.openxmlformats.org/drawingml/2006/main" noGrp="1"/>
          </p:cNvSpPr>
          <p:nvPr/>
        </p:nvSpPr>
        <p:spPr>
          <a:xfrm xmlns:a="http://schemas.openxmlformats.org/drawingml/2006/main">
            <a:off x="457200" y="4762500"/>
            <a:ext cx="11239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C637F"/>
                </a:solidFill>
                <a:latin typeface="Inter"/>
                <a:ea typeface="Inter"/>
                <a:cs typeface="Inter"/>
              </a:defRPr>
            </a:pPr>
            <a:r>
              <a:rPr sz="1875" b="1">
                <a:solidFill>
                  <a:srgbClr val="2C637F"/>
                </a:solidFill>
                <a:latin typeface="Inter"/>
                <a:ea typeface="Inter"/>
                <a:cs typeface="Inter"/>
              </a:rPr>
              <a:t>S2 · Componente final independiente</a:t>
            </a:r>
          </a:p>
        </p:txBody>
      </p:sp>
      <p:sp>
        <p:nvSpPr>
          <p:cNvPr id="20" name="">
            <a:extLst xmlns:a="http://schemas.openxmlformats.org/drawingml/2006/main">
              <a:ext uri="{FF2B5EF4-FFF2-40B4-BE49-F238E27FC236}">
                <a16:creationId xmlns:a16="http://schemas.microsoft.com/office/drawing/2014/main" id="{0271595F-027E-40C6-9B0B-D7B68758A5DA}"/>
              </a:ext>
            </a:extLst>
          </p:cNvPr>
          <p:cNvSpPr>
            <a:spLocks xmlns:a="http://schemas.openxmlformats.org/drawingml/2006/main" noGrp="1"/>
          </p:cNvSpPr>
          <p:nvPr/>
        </p:nvSpPr>
        <p:spPr>
          <a:xfrm xmlns:a="http://schemas.openxmlformats.org/drawingml/2006/main">
            <a:off x="457200" y="5257800"/>
            <a:ext cx="2428875" cy="8191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21" name="">
            <a:extLst xmlns:a="http://schemas.openxmlformats.org/drawingml/2006/main">
              <a:ext uri="{FF2B5EF4-FFF2-40B4-BE49-F238E27FC236}">
                <a16:creationId xmlns:a16="http://schemas.microsoft.com/office/drawing/2014/main" id="{4A20E82E-B975-4374-815A-6571D7A38826}"/>
              </a:ext>
            </a:extLst>
          </p:cNvPr>
          <p:cNvSpPr>
            <a:spLocks xmlns:a="http://schemas.openxmlformats.org/drawingml/2006/main" noGrp="1"/>
          </p:cNvSpPr>
          <p:nvPr/>
        </p:nvSpPr>
        <p:spPr>
          <a:xfrm xmlns:a="http://schemas.openxmlformats.org/drawingml/2006/main">
            <a:off x="600075" y="5381625"/>
            <a:ext cx="21431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BETO</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384 tokens</a:t>
            </a:r>
          </a:p>
        </p:txBody>
      </p:sp>
      <p:sp>
        <p:nvSpPr>
          <p:cNvPr id="22" name="">
            <a:extLst xmlns:a="http://schemas.openxmlformats.org/drawingml/2006/main">
              <a:ext uri="{FF2B5EF4-FFF2-40B4-BE49-F238E27FC236}">
                <a16:creationId xmlns:a16="http://schemas.microsoft.com/office/drawing/2014/main" id="{A7964232-B119-46D9-95ED-421A874D0702}"/>
              </a:ext>
            </a:extLst>
          </p:cNvPr>
          <p:cNvSpPr>
            <a:spLocks xmlns:a="http://schemas.openxmlformats.org/drawingml/2006/main" noGrp="1"/>
          </p:cNvSpPr>
          <p:nvPr/>
        </p:nvSpPr>
        <p:spPr>
          <a:xfrm xmlns:a="http://schemas.openxmlformats.org/drawingml/2006/main">
            <a:off x="3390900" y="5257800"/>
            <a:ext cx="2476500" cy="8191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23" name="">
            <a:extLst xmlns:a="http://schemas.openxmlformats.org/drawingml/2006/main">
              <a:ext uri="{FF2B5EF4-FFF2-40B4-BE49-F238E27FC236}">
                <a16:creationId xmlns:a16="http://schemas.microsoft.com/office/drawing/2014/main" id="{C026D9C8-A84E-456C-BB06-AE84CCC9CB2D}"/>
              </a:ext>
            </a:extLst>
          </p:cNvPr>
          <p:cNvSpPr>
            <a:spLocks xmlns:a="http://schemas.openxmlformats.org/drawingml/2006/main" noGrp="1"/>
          </p:cNvSpPr>
          <p:nvPr/>
        </p:nvSpPr>
        <p:spPr>
          <a:xfrm xmlns:a="http://schemas.openxmlformats.org/drawingml/2006/main">
            <a:off x="3533775" y="5381625"/>
            <a:ext cx="2190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6 sigmoid</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Umbral ≥ 0.45</a:t>
            </a:r>
          </a:p>
        </p:txBody>
      </p:sp>
      <p:cxnSp>
        <p:nvCxnSpPr>
          <p:cNvPr id="49" name=""/>
          <p:cNvCxnSpPr>
            <a:stCxn xmlns:a="http://schemas.openxmlformats.org/drawingml/2006/main" id="20" idx="3"/>
            <a:endCxn xmlns:a="http://schemas.openxmlformats.org/drawingml/2006/main" id="22" idx="1"/>
          </p:cNvCxnSpPr>
          <p:nvPr/>
        </p:nvCxnSpPr>
        <p:spPr>
          <a:xfrm xmlns:a="http://schemas.openxmlformats.org/drawingml/2006/main">
            <a:off x="2886075" y="5667375"/>
            <a:ext cx="504825" cy="0"/>
          </a:xfrm>
          <a:prstGeom xmlns:a="http://schemas.openxmlformats.org/drawingml/2006/main" prst="straightConnector1">
            <a:avLst/>
          </a:prstGeom>
          <a:ln xmlns:a="http://schemas.openxmlformats.org/drawingml/2006/main" w="21908">
            <a:solidFill>
              <a:srgbClr val="2C637F"/>
            </a:solidFill>
            <a:headEnd type="none" w="med" len="med"/>
            <a:tailEnd type="triangle" w="med" len="med"/>
          </a:ln>
        </p:spPr>
      </p:cxnSp>
      <p:sp>
        <p:nvSpPr>
          <p:cNvPr id="25" name="">
            <a:extLst xmlns:a="http://schemas.openxmlformats.org/drawingml/2006/main">
              <a:ext uri="{FF2B5EF4-FFF2-40B4-BE49-F238E27FC236}">
                <a16:creationId xmlns:a16="http://schemas.microsoft.com/office/drawing/2014/main" id="{2D6B6502-ECDA-4C44-9819-0EEBD81941FB}"/>
              </a:ext>
            </a:extLst>
          </p:cNvPr>
          <p:cNvSpPr>
            <a:spLocks xmlns:a="http://schemas.openxmlformats.org/drawingml/2006/main" noGrp="1"/>
          </p:cNvSpPr>
          <p:nvPr/>
        </p:nvSpPr>
        <p:spPr>
          <a:xfrm xmlns:a="http://schemas.openxmlformats.org/drawingml/2006/main">
            <a:off x="6324600" y="5219700"/>
            <a:ext cx="54102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Económica, física, patrimonial,</a:t>
            </a:r>
          </a:p>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psicológica, sexual, vicaria</a:t>
            </a:r>
          </a:p>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N/A si ninguna se activa</a:t>
            </a:r>
          </a:p>
        </p:txBody>
      </p:sp>
    </p:spTree>
    <p:extLst>
      <p:ext uri="{BB962C8B-B14F-4D97-AF65-F5344CB8AC3E}">
        <p14:creationId xmlns:p14="http://schemas.microsoft.com/office/powerpoint/2010/main" val="360145486"/>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55F2E1F7-D456-4C6C-A4D7-D3B47C190BEB}"/>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Aumentación dirigida a Severe</a:t>
            </a:r>
          </a:p>
        </p:txBody>
      </p:sp>
      <p:sp>
        <p:nvSpPr>
          <p:cNvPr id="2" name="">
            <a:extLst xmlns:a="http://schemas.openxmlformats.org/drawingml/2006/main">
              <a:ext uri="{FF2B5EF4-FFF2-40B4-BE49-F238E27FC236}">
                <a16:creationId xmlns:a16="http://schemas.microsoft.com/office/drawing/2014/main" id="{76066B96-30A1-41F3-B984-568AE05F3975}"/>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6A2C843E-E3DA-4C65-806F-F07FEEBBB1E3}"/>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05</a:t>
            </a:r>
          </a:p>
        </p:txBody>
      </p:sp>
      <p:sp>
        <p:nvSpPr>
          <p:cNvPr id="4" name="">
            <a:extLst xmlns:a="http://schemas.openxmlformats.org/drawingml/2006/main">
              <a:ext uri="{FF2B5EF4-FFF2-40B4-BE49-F238E27FC236}">
                <a16:creationId xmlns:a16="http://schemas.microsoft.com/office/drawing/2014/main" id="{F0DA8A56-6F76-4E02-A102-59F6E7913805}"/>
              </a:ext>
            </a:extLst>
          </p:cNvPr>
          <p:cNvSpPr>
            <a:spLocks xmlns:a="http://schemas.openxmlformats.org/drawingml/2006/main" noGrp="1"/>
          </p:cNvSpPr>
          <p:nvPr/>
        </p:nvSpPr>
        <p:spPr>
          <a:xfrm xmlns:a="http://schemas.openxmlformats.org/drawingml/2006/main">
            <a:off x="457200" y="1362075"/>
            <a:ext cx="11239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Solo entrenamiento · Originales conservados · Etiquetas heredadas</a:t>
            </a:r>
          </a:p>
        </p:txBody>
      </p:sp>
      <p:sp>
        <p:nvSpPr>
          <p:cNvPr id="5" name="">
            <a:extLst xmlns:a="http://schemas.openxmlformats.org/drawingml/2006/main">
              <a:ext uri="{FF2B5EF4-FFF2-40B4-BE49-F238E27FC236}">
                <a16:creationId xmlns:a16="http://schemas.microsoft.com/office/drawing/2014/main" id="{A08B2825-C37B-4E54-8C3B-84B2ABF44397}"/>
              </a:ext>
            </a:extLst>
          </p:cNvPr>
          <p:cNvSpPr>
            <a:spLocks xmlns:a="http://schemas.openxmlformats.org/drawingml/2006/main" noGrp="1"/>
          </p:cNvSpPr>
          <p:nvPr/>
        </p:nvSpPr>
        <p:spPr>
          <a:xfrm xmlns:a="http://schemas.openxmlformats.org/drawingml/2006/main">
            <a:off x="457200" y="2019300"/>
            <a:ext cx="2447925" cy="100012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6" name="">
            <a:extLst xmlns:a="http://schemas.openxmlformats.org/drawingml/2006/main">
              <a:ext uri="{FF2B5EF4-FFF2-40B4-BE49-F238E27FC236}">
                <a16:creationId xmlns:a16="http://schemas.microsoft.com/office/drawing/2014/main" id="{CE3328D4-A709-4AF9-BC68-BBBB697D04AE}"/>
              </a:ext>
            </a:extLst>
          </p:cNvPr>
          <p:cNvSpPr>
            <a:spLocks xmlns:a="http://schemas.openxmlformats.org/drawingml/2006/main" noGrp="1"/>
          </p:cNvSpPr>
          <p:nvPr/>
        </p:nvSpPr>
        <p:spPr>
          <a:xfrm xmlns:a="http://schemas.openxmlformats.org/drawingml/2006/main">
            <a:off x="600075" y="2143125"/>
            <a:ext cx="21621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616 Severe</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13,630 reportes</a:t>
            </a:r>
          </a:p>
        </p:txBody>
      </p:sp>
      <p:sp>
        <p:nvSpPr>
          <p:cNvPr id="7" name="">
            <a:extLst xmlns:a="http://schemas.openxmlformats.org/drawingml/2006/main">
              <a:ext uri="{FF2B5EF4-FFF2-40B4-BE49-F238E27FC236}">
                <a16:creationId xmlns:a16="http://schemas.microsoft.com/office/drawing/2014/main" id="{077349FE-76AB-4428-92D3-56A45A5F939E}"/>
              </a:ext>
            </a:extLst>
          </p:cNvPr>
          <p:cNvSpPr>
            <a:spLocks xmlns:a="http://schemas.openxmlformats.org/drawingml/2006/main" noGrp="1"/>
          </p:cNvSpPr>
          <p:nvPr/>
        </p:nvSpPr>
        <p:spPr>
          <a:xfrm xmlns:a="http://schemas.openxmlformats.org/drawingml/2006/main">
            <a:off x="3562350" y="2019300"/>
            <a:ext cx="4210050" cy="100012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8" name="">
            <a:extLst xmlns:a="http://schemas.openxmlformats.org/drawingml/2006/main">
              <a:ext uri="{FF2B5EF4-FFF2-40B4-BE49-F238E27FC236}">
                <a16:creationId xmlns:a16="http://schemas.microsoft.com/office/drawing/2014/main" id="{AE8205B1-460C-45A1-8A49-D8A9628A3D46}"/>
              </a:ext>
            </a:extLst>
          </p:cNvPr>
          <p:cNvSpPr>
            <a:spLocks xmlns:a="http://schemas.openxmlformats.org/drawingml/2006/main" noGrp="1"/>
          </p:cNvSpPr>
          <p:nvPr/>
        </p:nvSpPr>
        <p:spPr>
          <a:xfrm xmlns:a="http://schemas.openxmlformats.org/drawingml/2006/main">
            <a:off x="3705225" y="2143125"/>
            <a:ext cx="39243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Indicios del original</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Relación, horario, acciones</a:t>
            </a:r>
          </a:p>
        </p:txBody>
      </p:sp>
      <p:sp>
        <p:nvSpPr>
          <p:cNvPr id="9" name="">
            <a:extLst xmlns:a="http://schemas.openxmlformats.org/drawingml/2006/main">
              <a:ext uri="{FF2B5EF4-FFF2-40B4-BE49-F238E27FC236}">
                <a16:creationId xmlns:a16="http://schemas.microsoft.com/office/drawing/2014/main" id="{D15E1BCF-BB4E-4652-96FA-30823C87BD4C}"/>
              </a:ext>
            </a:extLst>
          </p:cNvPr>
          <p:cNvSpPr>
            <a:spLocks xmlns:a="http://schemas.openxmlformats.org/drawingml/2006/main" noGrp="1"/>
          </p:cNvSpPr>
          <p:nvPr/>
        </p:nvSpPr>
        <p:spPr>
          <a:xfrm xmlns:a="http://schemas.openxmlformats.org/drawingml/2006/main">
            <a:off x="8439150" y="2019300"/>
            <a:ext cx="3238500" cy="100012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0" name="">
            <a:extLst xmlns:a="http://schemas.openxmlformats.org/drawingml/2006/main">
              <a:ext uri="{FF2B5EF4-FFF2-40B4-BE49-F238E27FC236}">
                <a16:creationId xmlns:a16="http://schemas.microsoft.com/office/drawing/2014/main" id="{5F6135E2-EA03-4B27-99D6-B973813B7928}"/>
              </a:ext>
            </a:extLst>
          </p:cNvPr>
          <p:cNvSpPr>
            <a:spLocks xmlns:a="http://schemas.openxmlformats.org/drawingml/2006/main" noGrp="1"/>
          </p:cNvSpPr>
          <p:nvPr/>
        </p:nvSpPr>
        <p:spPr>
          <a:xfrm xmlns:a="http://schemas.openxmlformats.org/drawingml/2006/main">
            <a:off x="8582025" y="2143125"/>
            <a:ext cx="295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+516 textos</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Máximo 2 por origen</a:t>
            </a:r>
          </a:p>
        </p:txBody>
      </p:sp>
      <p:cxnSp>
        <p:nvCxnSpPr>
          <p:cNvPr id="36" name=""/>
          <p:cNvCxnSpPr>
            <a:stCxn xmlns:a="http://schemas.openxmlformats.org/drawingml/2006/main" id="5" idx="3"/>
            <a:endCxn xmlns:a="http://schemas.openxmlformats.org/drawingml/2006/main" id="7" idx="1"/>
          </p:cNvCxnSpPr>
          <p:nvPr/>
        </p:nvCxnSpPr>
        <p:spPr>
          <a:xfrm xmlns:a="http://schemas.openxmlformats.org/drawingml/2006/main">
            <a:off x="2905125" y="2519363"/>
            <a:ext cx="657225" cy="0"/>
          </a:xfrm>
          <a:prstGeom xmlns:a="http://schemas.openxmlformats.org/drawingml/2006/main" prst="straightConnector1">
            <a:avLst/>
          </a:prstGeom>
          <a:ln xmlns:a="http://schemas.openxmlformats.org/drawingml/2006/main" w="21908">
            <a:solidFill>
              <a:srgbClr val="2C637F"/>
            </a:solidFill>
            <a:headEnd type="none" w="med" len="med"/>
            <a:tailEnd type="triangle" w="med" len="med"/>
          </a:ln>
        </p:spPr>
      </p:cxnSp>
      <p:cxnSp>
        <p:nvCxnSpPr>
          <p:cNvPr id="37" name=""/>
          <p:cNvCxnSpPr>
            <a:stCxn xmlns:a="http://schemas.openxmlformats.org/drawingml/2006/main" id="7" idx="3"/>
            <a:endCxn xmlns:a="http://schemas.openxmlformats.org/drawingml/2006/main" id="9" idx="1"/>
          </p:cNvCxnSpPr>
          <p:nvPr/>
        </p:nvCxnSpPr>
        <p:spPr>
          <a:xfrm xmlns:a="http://schemas.openxmlformats.org/drawingml/2006/main">
            <a:off x="7772400" y="2519363"/>
            <a:ext cx="666750" cy="0"/>
          </a:xfrm>
          <a:prstGeom xmlns:a="http://schemas.openxmlformats.org/drawingml/2006/main" prst="straightConnector1">
            <a:avLst/>
          </a:prstGeom>
          <a:ln xmlns:a="http://schemas.openxmlformats.org/drawingml/2006/main" w="21908">
            <a:solidFill>
              <a:srgbClr val="2C637F"/>
            </a:solidFill>
            <a:headEnd type="none" w="med" len="med"/>
            <a:tailEnd type="triangle" w="med" len="med"/>
          </a:ln>
        </p:spPr>
      </p:cxnSp>
      <p:sp>
        <p:nvSpPr>
          <p:cNvPr id="13" name="">
            <a:extLst xmlns:a="http://schemas.openxmlformats.org/drawingml/2006/main">
              <a:ext uri="{FF2B5EF4-FFF2-40B4-BE49-F238E27FC236}">
                <a16:creationId xmlns:a16="http://schemas.microsoft.com/office/drawing/2014/main" id="{CA5677FB-F0C6-4ECE-9532-F2DD5B0C5BF3}"/>
              </a:ext>
            </a:extLst>
          </p:cNvPr>
          <p:cNvSpPr>
            <a:spLocks xmlns:a="http://schemas.openxmlformats.org/drawingml/2006/main" noGrp="1"/>
          </p:cNvSpPr>
          <p:nvPr/>
        </p:nvSpPr>
        <p:spPr>
          <a:xfrm xmlns:a="http://schemas.openxmlformats.org/drawingml/2006/main">
            <a:off x="457200" y="3429000"/>
            <a:ext cx="7096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2C637F"/>
                </a:solidFill>
                <a:latin typeface="Inter"/>
                <a:ea typeface="Inter"/>
                <a:cs typeface="Inter"/>
              </a:defRPr>
            </a:pPr>
            <a:r>
              <a:rPr sz="1950" b="1">
                <a:solidFill>
                  <a:srgbClr val="2C637F"/>
                </a:solidFill>
                <a:latin typeface="Inter"/>
                <a:ea typeface="Inter"/>
                <a:cs typeface="Inter"/>
              </a:rPr>
              <a:t>Composición con plantillas de reporte</a:t>
            </a:r>
          </a:p>
        </p:txBody>
      </p:sp>
      <p:sp>
        <p:nvSpPr>
          <p:cNvPr id="14" name="">
            <a:extLst xmlns:a="http://schemas.openxmlformats.org/drawingml/2006/main">
              <a:ext uri="{FF2B5EF4-FFF2-40B4-BE49-F238E27FC236}">
                <a16:creationId xmlns:a16="http://schemas.microsoft.com/office/drawing/2014/main" id="{C8224814-56DD-4C7B-8E26-1250E13870B8}"/>
              </a:ext>
            </a:extLst>
          </p:cNvPr>
          <p:cNvSpPr>
            <a:spLocks xmlns:a="http://schemas.openxmlformats.org/drawingml/2006/main" noGrp="1"/>
          </p:cNvSpPr>
          <p:nvPr/>
        </p:nvSpPr>
        <p:spPr>
          <a:xfrm xmlns:a="http://schemas.openxmlformats.org/drawingml/2006/main">
            <a:off x="457200" y="3924300"/>
            <a:ext cx="1647825" cy="57150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5" name="">
            <a:extLst xmlns:a="http://schemas.openxmlformats.org/drawingml/2006/main">
              <a:ext uri="{FF2B5EF4-FFF2-40B4-BE49-F238E27FC236}">
                <a16:creationId xmlns:a16="http://schemas.microsoft.com/office/drawing/2014/main" id="{75607EA1-3114-4792-BE40-1DD31E93792F}"/>
              </a:ext>
            </a:extLst>
          </p:cNvPr>
          <p:cNvSpPr>
            <a:spLocks xmlns:a="http://schemas.openxmlformats.org/drawingml/2006/main" noGrp="1"/>
          </p:cNvSpPr>
          <p:nvPr/>
        </p:nvSpPr>
        <p:spPr>
          <a:xfrm xmlns:a="http://schemas.openxmlformats.org/drawingml/2006/main">
            <a:off x="600075" y="4048125"/>
            <a:ext cx="13620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2C637F"/>
                </a:solidFill>
                <a:latin typeface="Inter"/>
                <a:ea typeface="Inter"/>
                <a:cs typeface="Inter"/>
              </a:defRPr>
            </a:pPr>
            <a:r>
              <a:rPr sz="1650" b="0">
                <a:solidFill>
                  <a:srgbClr val="2C637F"/>
                </a:solidFill>
                <a:latin typeface="Inter"/>
                <a:ea typeface="Inter"/>
                <a:cs typeface="Inter"/>
              </a:rPr>
              <a:t>Apertura</a:t>
            </a:r>
          </a:p>
        </p:txBody>
      </p:sp>
      <p:sp>
        <p:nvSpPr>
          <p:cNvPr id="16" name="">
            <a:extLst xmlns:a="http://schemas.openxmlformats.org/drawingml/2006/main">
              <a:ext uri="{FF2B5EF4-FFF2-40B4-BE49-F238E27FC236}">
                <a16:creationId xmlns:a16="http://schemas.microsoft.com/office/drawing/2014/main" id="{DEBA66C9-FF79-4148-89E8-6AA89F9F896D}"/>
              </a:ext>
            </a:extLst>
          </p:cNvPr>
          <p:cNvSpPr>
            <a:spLocks xmlns:a="http://schemas.openxmlformats.org/drawingml/2006/main" noGrp="1"/>
          </p:cNvSpPr>
          <p:nvPr/>
        </p:nvSpPr>
        <p:spPr>
          <a:xfrm xmlns:a="http://schemas.openxmlformats.org/drawingml/2006/main">
            <a:off x="2286000" y="3924300"/>
            <a:ext cx="1647825" cy="57150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7" name="">
            <a:extLst xmlns:a="http://schemas.openxmlformats.org/drawingml/2006/main">
              <a:ext uri="{FF2B5EF4-FFF2-40B4-BE49-F238E27FC236}">
                <a16:creationId xmlns:a16="http://schemas.microsoft.com/office/drawing/2014/main" id="{5CE23E7A-C16A-4B34-B4B1-594D68FFD22B}"/>
              </a:ext>
            </a:extLst>
          </p:cNvPr>
          <p:cNvSpPr>
            <a:spLocks xmlns:a="http://schemas.openxmlformats.org/drawingml/2006/main" noGrp="1"/>
          </p:cNvSpPr>
          <p:nvPr/>
        </p:nvSpPr>
        <p:spPr>
          <a:xfrm xmlns:a="http://schemas.openxmlformats.org/drawingml/2006/main">
            <a:off x="2428875" y="4048125"/>
            <a:ext cx="13620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2C637F"/>
                </a:solidFill>
                <a:latin typeface="Inter"/>
                <a:ea typeface="Inter"/>
                <a:cs typeface="Inter"/>
              </a:defRPr>
            </a:pPr>
            <a:r>
              <a:rPr sz="1650" b="0">
                <a:solidFill>
                  <a:srgbClr val="2C637F"/>
                </a:solidFill>
                <a:latin typeface="Inter"/>
                <a:ea typeface="Inter"/>
                <a:cs typeface="Inter"/>
              </a:rPr>
              <a:t>Acciones</a:t>
            </a:r>
          </a:p>
        </p:txBody>
      </p:sp>
      <p:sp>
        <p:nvSpPr>
          <p:cNvPr id="18" name="">
            <a:extLst xmlns:a="http://schemas.openxmlformats.org/drawingml/2006/main">
              <a:ext uri="{FF2B5EF4-FFF2-40B4-BE49-F238E27FC236}">
                <a16:creationId xmlns:a16="http://schemas.microsoft.com/office/drawing/2014/main" id="{EE3CDDA2-C2FE-42B7-B75C-15F0EA1E843D}"/>
              </a:ext>
            </a:extLst>
          </p:cNvPr>
          <p:cNvSpPr>
            <a:spLocks xmlns:a="http://schemas.openxmlformats.org/drawingml/2006/main" noGrp="1"/>
          </p:cNvSpPr>
          <p:nvPr/>
        </p:nvSpPr>
        <p:spPr>
          <a:xfrm xmlns:a="http://schemas.openxmlformats.org/drawingml/2006/main">
            <a:off x="4114800" y="3924300"/>
            <a:ext cx="1647825" cy="57150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9" name="">
            <a:extLst xmlns:a="http://schemas.openxmlformats.org/drawingml/2006/main">
              <a:ext uri="{FF2B5EF4-FFF2-40B4-BE49-F238E27FC236}">
                <a16:creationId xmlns:a16="http://schemas.microsoft.com/office/drawing/2014/main" id="{B6F3BEE2-0ADC-4015-83A1-EED2F623E85D}"/>
              </a:ext>
            </a:extLst>
          </p:cNvPr>
          <p:cNvSpPr>
            <a:spLocks xmlns:a="http://schemas.openxmlformats.org/drawingml/2006/main" noGrp="1"/>
          </p:cNvSpPr>
          <p:nvPr/>
        </p:nvSpPr>
        <p:spPr>
          <a:xfrm xmlns:a="http://schemas.openxmlformats.org/drawingml/2006/main">
            <a:off x="4257675" y="4048125"/>
            <a:ext cx="13620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2C637F"/>
                </a:solidFill>
                <a:latin typeface="Inter"/>
                <a:ea typeface="Inter"/>
                <a:cs typeface="Inter"/>
              </a:defRPr>
            </a:pPr>
            <a:r>
              <a:rPr sz="1650" b="0">
                <a:solidFill>
                  <a:srgbClr val="2C637F"/>
                </a:solidFill>
                <a:latin typeface="Inter"/>
                <a:ea typeface="Inter"/>
                <a:cs typeface="Inter"/>
              </a:rPr>
              <a:t>Contexto</a:t>
            </a:r>
          </a:p>
        </p:txBody>
      </p:sp>
      <p:sp>
        <p:nvSpPr>
          <p:cNvPr id="20" name="">
            <a:extLst xmlns:a="http://schemas.openxmlformats.org/drawingml/2006/main">
              <a:ext uri="{FF2B5EF4-FFF2-40B4-BE49-F238E27FC236}">
                <a16:creationId xmlns:a16="http://schemas.microsoft.com/office/drawing/2014/main" id="{79B1C475-A651-4192-9ED6-529F11E62C95}"/>
              </a:ext>
            </a:extLst>
          </p:cNvPr>
          <p:cNvSpPr>
            <a:spLocks xmlns:a="http://schemas.openxmlformats.org/drawingml/2006/main" noGrp="1"/>
          </p:cNvSpPr>
          <p:nvPr/>
        </p:nvSpPr>
        <p:spPr>
          <a:xfrm xmlns:a="http://schemas.openxmlformats.org/drawingml/2006/main">
            <a:off x="5943600" y="3924300"/>
            <a:ext cx="1647825" cy="57150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21" name="">
            <a:extLst xmlns:a="http://schemas.openxmlformats.org/drawingml/2006/main">
              <a:ext uri="{FF2B5EF4-FFF2-40B4-BE49-F238E27FC236}">
                <a16:creationId xmlns:a16="http://schemas.microsoft.com/office/drawing/2014/main" id="{E2A1B6B5-E646-4DEB-91C6-F4B463CA98A8}"/>
              </a:ext>
            </a:extLst>
          </p:cNvPr>
          <p:cNvSpPr>
            <a:spLocks xmlns:a="http://schemas.openxmlformats.org/drawingml/2006/main" noGrp="1"/>
          </p:cNvSpPr>
          <p:nvPr/>
        </p:nvSpPr>
        <p:spPr>
          <a:xfrm xmlns:a="http://schemas.openxmlformats.org/drawingml/2006/main">
            <a:off x="6086475" y="4048125"/>
            <a:ext cx="13620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2C637F"/>
                </a:solidFill>
                <a:latin typeface="Inter"/>
                <a:ea typeface="Inter"/>
                <a:cs typeface="Inter"/>
              </a:defRPr>
            </a:pPr>
            <a:r>
              <a:rPr sz="1650" b="0">
                <a:solidFill>
                  <a:srgbClr val="2C637F"/>
                </a:solidFill>
                <a:latin typeface="Inter"/>
                <a:ea typeface="Inter"/>
                <a:cs typeface="Inter"/>
              </a:rPr>
              <a:t>Cierre</a:t>
            </a:r>
          </a:p>
        </p:txBody>
      </p:sp>
      <p:sp>
        <p:nvSpPr>
          <p:cNvPr id="22" name="">
            <a:extLst xmlns:a="http://schemas.openxmlformats.org/drawingml/2006/main">
              <a:ext uri="{FF2B5EF4-FFF2-40B4-BE49-F238E27FC236}">
                <a16:creationId xmlns:a16="http://schemas.microsoft.com/office/drawing/2014/main" id="{EA3524CD-817E-4F20-B549-F6B7911705C7}"/>
              </a:ext>
            </a:extLst>
          </p:cNvPr>
          <p:cNvSpPr>
            <a:spLocks xmlns:a="http://schemas.openxmlformats.org/drawingml/2006/main" noGrp="1"/>
          </p:cNvSpPr>
          <p:nvPr/>
        </p:nvSpPr>
        <p:spPr>
          <a:xfrm xmlns:a="http://schemas.openxmlformats.org/drawingml/2006/main">
            <a:off x="457200" y="4714875"/>
            <a:ext cx="7000875"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Semilla estable por registro.</a:t>
            </a:r>
          </a:p>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No se usó un LLM para estas variantes.</a:t>
            </a:r>
          </a:p>
          <a:p xmlns:a="http://schemas.openxmlformats.org/drawingml/2006/main">
            <a:r>
              <a:t/>
            </a:r>
          </a:p>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Pueden introducir hechos: falta auditar</a:t>
            </a:r>
          </a:p>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la fidelidad de las etiquetas.</a:t>
            </a:r>
          </a:p>
        </p:txBody>
      </p:sp>
      <p:sp>
        <p:nvSpPr>
          <p:cNvPr id="23" name="">
            <a:extLst xmlns:a="http://schemas.openxmlformats.org/drawingml/2006/main">
              <a:ext uri="{FF2B5EF4-FFF2-40B4-BE49-F238E27FC236}">
                <a16:creationId xmlns:a16="http://schemas.microsoft.com/office/drawing/2014/main" id="{1709D463-AA8E-48EC-9715-6E805D1D2507}"/>
              </a:ext>
            </a:extLst>
          </p:cNvPr>
          <p:cNvSpPr>
            <a:spLocks xmlns:a="http://schemas.openxmlformats.org/drawingml/2006/main" noGrp="1"/>
          </p:cNvSpPr>
          <p:nvPr/>
        </p:nvSpPr>
        <p:spPr>
          <a:xfrm xmlns:a="http://schemas.openxmlformats.org/drawingml/2006/main">
            <a:off x="8134350" y="3419475"/>
            <a:ext cx="3562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C637F"/>
                </a:solidFill>
                <a:latin typeface="Inter"/>
                <a:ea typeface="Inter"/>
                <a:cs typeface="Inter"/>
              </a:defRPr>
            </a:pPr>
            <a:r>
              <a:rPr sz="1800" b="1">
                <a:solidFill>
                  <a:srgbClr val="2C637F"/>
                </a:solidFill>
                <a:latin typeface="Inter"/>
                <a:ea typeface="Inter"/>
                <a:cs typeface="Inter"/>
              </a:rPr>
              <a:t>Proporción de Severe (%)</a:t>
            </a:r>
          </a:p>
        </p:txBody>
      </p:sp>
      <p:graphicFrame>
        <p:nvGraphicFramePr>
          <p:cNvPr id="49" name="Chart"/>
          <p:cNvGraphicFramePr/>
          <p:nvPr/>
        </p:nvGraphicFramePr>
        <p:xfrm>
          <a:off xmlns:a="http://schemas.openxmlformats.org/drawingml/2006/main" x="8115300" y="3876675"/>
          <a:ext xmlns:a="http://schemas.openxmlformats.org/drawingml/2006/main" cx="3619500" cy="1971675"/>
        </p:xfrm>
        <a:graphic xmlns:a="http://schemas.openxmlformats.org/drawingml/2006/main">
          <a:graphicData uri="http://schemas.openxmlformats.org/drawingml/2006/chart">
            <c:chart xmlns:r="http://schemas.openxmlformats.org/officeDocument/2006/relationships" xmlns:c="http://schemas.openxmlformats.org/drawingml/2006/chart" r:id="R3f7782be080d4947"/>
          </a:graphicData>
        </a:graphic>
      </p:graphicFrame>
      <p:sp>
        <p:nvSpPr>
          <p:cNvPr id="25" name="">
            <a:extLst xmlns:a="http://schemas.openxmlformats.org/drawingml/2006/main">
              <a:ext uri="{FF2B5EF4-FFF2-40B4-BE49-F238E27FC236}">
                <a16:creationId xmlns:a16="http://schemas.microsoft.com/office/drawing/2014/main" id="{AA338B2E-A9D1-4D9F-B4EE-49158BD42A1E}"/>
              </a:ext>
            </a:extLst>
          </p:cNvPr>
          <p:cNvSpPr>
            <a:spLocks xmlns:a="http://schemas.openxmlformats.org/drawingml/2006/main" noGrp="1"/>
          </p:cNvSpPr>
          <p:nvPr/>
        </p:nvSpPr>
        <p:spPr>
          <a:xfrm xmlns:a="http://schemas.openxmlformats.org/drawingml/2006/main">
            <a:off x="8134350" y="6010275"/>
            <a:ext cx="3562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06674"/>
                </a:solidFill>
                <a:latin typeface="Inter"/>
                <a:ea typeface="Inter"/>
                <a:cs typeface="Inter"/>
              </a:defRPr>
            </a:pPr>
            <a:r>
              <a:rPr sz="1500" b="0">
                <a:solidFill>
                  <a:srgbClr val="506674"/>
                </a:solidFill>
                <a:latin typeface="Inter"/>
                <a:ea typeface="Inter"/>
                <a:cs typeface="Inter"/>
              </a:rPr>
              <a:t>1,132 / 14,146 · Balance parcial</a:t>
            </a:r>
          </a:p>
        </p:txBody>
      </p:sp>
    </p:spTree>
    <p:extLst>
      <p:ext uri="{BB962C8B-B14F-4D97-AF65-F5344CB8AC3E}">
        <p14:creationId xmlns:p14="http://schemas.microsoft.com/office/powerpoint/2010/main" val="1678413312"/>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47BF3AE-902F-4A8A-A3E0-32A3072F78AA}"/>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La mejora incluye un intercambio de errores</a:t>
            </a:r>
          </a:p>
        </p:txBody>
      </p:sp>
      <p:sp>
        <p:nvSpPr>
          <p:cNvPr id="2" name="">
            <a:extLst xmlns:a="http://schemas.openxmlformats.org/drawingml/2006/main">
              <a:ext uri="{FF2B5EF4-FFF2-40B4-BE49-F238E27FC236}">
                <a16:creationId xmlns:a16="http://schemas.microsoft.com/office/drawing/2014/main" id="{DA9F8F96-4E69-404C-B77B-BA9AD367F1B6}"/>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E087D66D-7C19-4FF2-A09F-AFE493C3AFDA}"/>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06</a:t>
            </a:r>
          </a:p>
        </p:txBody>
      </p:sp>
      <p:sp>
        <p:nvSpPr>
          <p:cNvPr id="4" name="">
            <a:extLst xmlns:a="http://schemas.openxmlformats.org/drawingml/2006/main">
              <a:ext uri="{FF2B5EF4-FFF2-40B4-BE49-F238E27FC236}">
                <a16:creationId xmlns:a16="http://schemas.microsoft.com/office/drawing/2014/main" id="{3C56E6D3-A261-405A-935D-A5147AD15556}"/>
              </a:ext>
            </a:extLst>
          </p:cNvPr>
          <p:cNvSpPr>
            <a:spLocks xmlns:a="http://schemas.openxmlformats.org/drawingml/2006/main" noGrp="1"/>
          </p:cNvSpPr>
          <p:nvPr/>
        </p:nvSpPr>
        <p:spPr>
          <a:xfrm xmlns:a="http://schemas.openxmlformats.org/drawingml/2006/main">
            <a:off x="457200" y="1428750"/>
            <a:ext cx="676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2C637F"/>
                </a:solidFill>
                <a:latin typeface="Inter"/>
                <a:ea typeface="Inter"/>
                <a:cs typeface="Inter"/>
              </a:defRPr>
            </a:pPr>
            <a:r>
              <a:rPr sz="1950" b="1">
                <a:solidFill>
                  <a:srgbClr val="2C637F"/>
                </a:solidFill>
                <a:latin typeface="Inter"/>
                <a:ea typeface="Inter"/>
                <a:cs typeface="Inter"/>
              </a:rPr>
              <a:t>Cambio absoluto × 100 · Cero = sin cambio</a:t>
            </a:r>
          </a:p>
        </p:txBody>
      </p:sp>
      <p:graphicFrame>
        <p:nvGraphicFramePr>
          <p:cNvPr id="17" name="Chart"/>
          <p:cNvGraphicFramePr/>
          <p:nvPr/>
        </p:nvGraphicFramePr>
        <p:xfrm>
          <a:off xmlns:a="http://schemas.openxmlformats.org/drawingml/2006/main" x="428625" y="2066925"/>
          <a:ext xmlns:a="http://schemas.openxmlformats.org/drawingml/2006/main" cx="6762750" cy="3514725"/>
        </p:xfrm>
        <a:graphic xmlns:a="http://schemas.openxmlformats.org/drawingml/2006/main">
          <a:graphicData uri="http://schemas.openxmlformats.org/drawingml/2006/chart">
            <c:chart xmlns:r="http://schemas.openxmlformats.org/officeDocument/2006/relationships" xmlns:c="http://schemas.openxmlformats.org/drawingml/2006/chart" r:id="Rd300250823174722"/>
          </a:graphicData>
        </a:graphic>
      </p:graphicFrame>
      <p:sp>
        <p:nvSpPr>
          <p:cNvPr id="6" name="">
            <a:extLst xmlns:a="http://schemas.openxmlformats.org/drawingml/2006/main">
              <a:ext uri="{FF2B5EF4-FFF2-40B4-BE49-F238E27FC236}">
                <a16:creationId xmlns:a16="http://schemas.microsoft.com/office/drawing/2014/main" id="{730F6E3C-E305-4CC6-8ED7-AAF4F7730973}"/>
              </a:ext>
            </a:extLst>
          </p:cNvPr>
          <p:cNvSpPr>
            <a:spLocks xmlns:a="http://schemas.openxmlformats.org/drawingml/2006/main" noGrp="1"/>
          </p:cNvSpPr>
          <p:nvPr/>
        </p:nvSpPr>
        <p:spPr>
          <a:xfrm xmlns:a="http://schemas.openxmlformats.org/drawingml/2006/main">
            <a:off x="714375" y="5467350"/>
            <a:ext cx="15811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C637F"/>
                </a:solidFill>
                <a:latin typeface="Inter"/>
                <a:ea typeface="Inter"/>
                <a:cs typeface="Inter"/>
              </a:defRPr>
            </a:pPr>
            <a:r>
              <a:rPr sz="1650" b="1">
                <a:solidFill>
                  <a:srgbClr val="2C637F"/>
                </a:solidFill>
                <a:latin typeface="Inter"/>
                <a:ea typeface="Inter"/>
                <a:cs typeface="Inter"/>
              </a:rPr>
              <a:t>Macro-F1</a:t>
            </a:r>
          </a:p>
        </p:txBody>
      </p:sp>
      <p:sp>
        <p:nvSpPr>
          <p:cNvPr id="7" name="">
            <a:extLst xmlns:a="http://schemas.openxmlformats.org/drawingml/2006/main">
              <a:ext uri="{FF2B5EF4-FFF2-40B4-BE49-F238E27FC236}">
                <a16:creationId xmlns:a16="http://schemas.microsoft.com/office/drawing/2014/main" id="{94002A32-C96C-48F8-97CA-95C8DD453DCD}"/>
              </a:ext>
            </a:extLst>
          </p:cNvPr>
          <p:cNvSpPr>
            <a:spLocks xmlns:a="http://schemas.openxmlformats.org/drawingml/2006/main" noGrp="1"/>
          </p:cNvSpPr>
          <p:nvPr/>
        </p:nvSpPr>
        <p:spPr>
          <a:xfrm xmlns:a="http://schemas.openxmlformats.org/drawingml/2006/main">
            <a:off x="2428875" y="5467350"/>
            <a:ext cx="1714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16766E"/>
                </a:solidFill>
                <a:latin typeface="Inter"/>
                <a:ea typeface="Inter"/>
                <a:cs typeface="Inter"/>
              </a:defRPr>
            </a:pPr>
            <a:r>
              <a:rPr sz="1650" b="1">
                <a:solidFill>
                  <a:srgbClr val="16766E"/>
                </a:solidFill>
                <a:latin typeface="Inter"/>
                <a:ea typeface="Inter"/>
                <a:cs typeface="Inter"/>
              </a:rPr>
              <a:t>F1 Severe</a:t>
            </a:r>
          </a:p>
        </p:txBody>
      </p:sp>
      <p:sp>
        <p:nvSpPr>
          <p:cNvPr id="8" name="">
            <a:extLst xmlns:a="http://schemas.openxmlformats.org/drawingml/2006/main">
              <a:ext uri="{FF2B5EF4-FFF2-40B4-BE49-F238E27FC236}">
                <a16:creationId xmlns:a16="http://schemas.microsoft.com/office/drawing/2014/main" id="{17E1643E-7774-4B19-82FE-BBC3B6431773}"/>
              </a:ext>
            </a:extLst>
          </p:cNvPr>
          <p:cNvSpPr>
            <a:spLocks xmlns:a="http://schemas.openxmlformats.org/drawingml/2006/main" noGrp="1"/>
          </p:cNvSpPr>
          <p:nvPr/>
        </p:nvSpPr>
        <p:spPr>
          <a:xfrm xmlns:a="http://schemas.openxmlformats.org/drawingml/2006/main">
            <a:off x="4333875" y="5467350"/>
            <a:ext cx="2428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A86524"/>
                </a:solidFill>
                <a:latin typeface="Inter"/>
                <a:ea typeface="Inter"/>
                <a:cs typeface="Inter"/>
              </a:defRPr>
            </a:pPr>
            <a:r>
              <a:rPr sz="1650" b="1">
                <a:solidFill>
                  <a:srgbClr val="A86524"/>
                </a:solidFill>
                <a:latin typeface="Inter"/>
                <a:ea typeface="Inter"/>
                <a:cs typeface="Inter"/>
              </a:rPr>
              <a:t>Recall Severe</a:t>
            </a:r>
          </a:p>
        </p:txBody>
      </p:sp>
      <p:sp>
        <p:nvSpPr>
          <p:cNvPr id="9" name="">
            <a:extLst xmlns:a="http://schemas.openxmlformats.org/drawingml/2006/main">
              <a:ext uri="{FF2B5EF4-FFF2-40B4-BE49-F238E27FC236}">
                <a16:creationId xmlns:a16="http://schemas.microsoft.com/office/drawing/2014/main" id="{D7182A9D-588D-48C8-BB0B-FA416E0417D7}"/>
              </a:ext>
            </a:extLst>
          </p:cNvPr>
          <p:cNvSpPr>
            <a:spLocks xmlns:a="http://schemas.openxmlformats.org/drawingml/2006/main" noGrp="1"/>
          </p:cNvSpPr>
          <p:nvPr/>
        </p:nvSpPr>
        <p:spPr>
          <a:xfrm xmlns:a="http://schemas.openxmlformats.org/drawingml/2006/main">
            <a:off x="457200" y="5810250"/>
            <a:ext cx="666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Mismos 3,405 reportes de desarrollo.</a:t>
            </a:r>
          </a:p>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Sin aumentación en evaluación.</a:t>
            </a:r>
          </a:p>
        </p:txBody>
      </p:sp>
      <p:graphicFrame>
        <p:nvGraphicFramePr>
          <p:cNvPr id="22" name=""/>
          <p:cNvGraphicFramePr/>
          <p:nvPr/>
        </p:nvGraphicFramePr>
        <p:xfrm>
          <a:off xmlns:a="http://schemas.openxmlformats.org/drawingml/2006/main" x="7591425" y="1628775"/>
          <a:ext xmlns:a="http://schemas.openxmlformats.org/drawingml/2006/main" cx="4105275" cy="2381250"/>
        </p:xfrm>
        <a:graphic xmlns:a="http://schemas.openxmlformats.org/drawingml/2006/main">
          <a:graphicData uri="http://schemas.openxmlformats.org/drawingml/2006/table">
            <a:tbl>
              <a:tblPr/>
              <a:tblGrid>
                <a:gridCol w="1781175"/>
                <a:gridCol w="1162050"/>
                <a:gridCol w="1162050"/>
              </a:tblGrid>
              <a:tr h="595313">
                <a:tc>
                  <a:txBody>
                    <a:bodyPr/>
                    <a:lstStyle/>
                    <a:p>
                      <a:r>
                        <a:rPr sz="1725" b="1">
                          <a:solidFill>
                            <a:srgbClr val="2C637F"/>
                          </a:solidFill>
                          <a:latin typeface="Inter"/>
                          <a:ea typeface="Inter"/>
                          <a:cs typeface="Inter"/>
                        </a:rPr>
                        <a:t>Métrica</a:t>
                      </a:r>
                    </a:p>
                  </a:txBody>
                  <a:tcPr marL="91440" marR="91440" marT="45720" marB="45720">
                    <a:solidFill>
                      <a:srgbClr val="E2F2FA"/>
                    </a:solidFill>
                  </a:tcPr>
                </a:tc>
                <a:tc>
                  <a:txBody>
                    <a:bodyPr/>
                    <a:lstStyle/>
                    <a:p>
                      <a:r>
                        <a:rPr sz="1725" b="1">
                          <a:solidFill>
                            <a:srgbClr val="2C637F"/>
                          </a:solidFill>
                          <a:latin typeface="Inter"/>
                          <a:ea typeface="Inter"/>
                          <a:cs typeface="Inter"/>
                        </a:rPr>
                        <a:t>Base</a:t>
                      </a:r>
                    </a:p>
                  </a:txBody>
                  <a:tcPr marL="91440" marR="91440" marT="45720" marB="45720">
                    <a:solidFill>
                      <a:srgbClr val="E2F2FA"/>
                    </a:solidFill>
                  </a:tcPr>
                </a:tc>
                <a:tc>
                  <a:txBody>
                    <a:bodyPr/>
                    <a:lstStyle/>
                    <a:p>
                      <a:r>
                        <a:rPr sz="1725" b="1">
                          <a:solidFill>
                            <a:srgbClr val="2C637F"/>
                          </a:solidFill>
                          <a:latin typeface="Inter"/>
                          <a:ea typeface="Inter"/>
                          <a:cs typeface="Inter"/>
                        </a:rPr>
                        <a:t>Aug.</a:t>
                      </a:r>
                    </a:p>
                  </a:txBody>
                  <a:tcPr marL="91440" marR="91440" marT="45720" marB="45720">
                    <a:solidFill>
                      <a:srgbClr val="E2F2FA"/>
                    </a:solidFill>
                  </a:tcPr>
                </a:tc>
              </a:tr>
              <a:tr h="595313">
                <a:tc>
                  <a:txBody>
                    <a:bodyPr/>
                    <a:lstStyle/>
                    <a:p>
                      <a:r>
                        <a:rPr sz="1725" b="0">
                          <a:solidFill>
                            <a:srgbClr val="152E3C"/>
                          </a:solidFill>
                          <a:latin typeface="Inter"/>
                          <a:ea typeface="Inter"/>
                          <a:cs typeface="Inter"/>
                        </a:rPr>
                        <a:t>Macro-F1</a:t>
                      </a:r>
                    </a:p>
                  </a:txBody>
                  <a:tcPr marL="91440" marR="91440" marT="45720" marB="45720">
                    <a:solidFill>
                      <a:srgbClr val="FFFFFF"/>
                    </a:solidFill>
                  </a:tcPr>
                </a:tc>
                <a:tc>
                  <a:txBody>
                    <a:bodyPr/>
                    <a:lstStyle/>
                    <a:p>
                      <a:r>
                        <a:rPr sz="1725" b="0">
                          <a:solidFill>
                            <a:srgbClr val="152E3C"/>
                          </a:solidFill>
                          <a:latin typeface="Inter"/>
                          <a:ea typeface="Inter"/>
                          <a:cs typeface="Inter"/>
                        </a:rPr>
                        <a:t>0.5481</a:t>
                      </a:r>
                    </a:p>
                  </a:txBody>
                  <a:tcPr marL="91440" marR="91440" marT="45720" marB="45720">
                    <a:solidFill>
                      <a:srgbClr val="FFFFFF"/>
                    </a:solidFill>
                  </a:tcPr>
                </a:tc>
                <a:tc>
                  <a:txBody>
                    <a:bodyPr/>
                    <a:lstStyle/>
                    <a:p>
                      <a:r>
                        <a:rPr sz="1725" b="0">
                          <a:solidFill>
                            <a:srgbClr val="152E3C"/>
                          </a:solidFill>
                          <a:latin typeface="Inter"/>
                          <a:ea typeface="Inter"/>
                          <a:cs typeface="Inter"/>
                        </a:rPr>
                        <a:t>0.5552</a:t>
                      </a:r>
                    </a:p>
                  </a:txBody>
                  <a:tcPr marL="91440" marR="91440" marT="45720" marB="45720">
                    <a:solidFill>
                      <a:srgbClr val="FFFFFF"/>
                    </a:solidFill>
                  </a:tcPr>
                </a:tc>
              </a:tr>
              <a:tr h="595313">
                <a:tc>
                  <a:txBody>
                    <a:bodyPr/>
                    <a:lstStyle/>
                    <a:p>
                      <a:r>
                        <a:rPr sz="1725" b="0">
                          <a:solidFill>
                            <a:srgbClr val="152E3C"/>
                          </a:solidFill>
                          <a:latin typeface="Inter"/>
                          <a:ea typeface="Inter"/>
                          <a:cs typeface="Inter"/>
                        </a:rPr>
                        <a:t>F1 Severe</a:t>
                      </a:r>
                    </a:p>
                  </a:txBody>
                  <a:tcPr marL="91440" marR="91440" marT="45720" marB="45720">
                    <a:solidFill>
                      <a:srgbClr val="FFFFFF"/>
                    </a:solidFill>
                  </a:tcPr>
                </a:tc>
                <a:tc>
                  <a:txBody>
                    <a:bodyPr/>
                    <a:lstStyle/>
                    <a:p>
                      <a:r>
                        <a:rPr sz="1725" b="0">
                          <a:solidFill>
                            <a:srgbClr val="152E3C"/>
                          </a:solidFill>
                          <a:latin typeface="Inter"/>
                          <a:ea typeface="Inter"/>
                          <a:cs typeface="Inter"/>
                        </a:rPr>
                        <a:t>0.4178</a:t>
                      </a:r>
                    </a:p>
                  </a:txBody>
                  <a:tcPr marL="91440" marR="91440" marT="45720" marB="45720">
                    <a:solidFill>
                      <a:srgbClr val="FFFFFF"/>
                    </a:solidFill>
                  </a:tcPr>
                </a:tc>
                <a:tc>
                  <a:txBody>
                    <a:bodyPr/>
                    <a:lstStyle/>
                    <a:p>
                      <a:r>
                        <a:rPr sz="1725" b="0">
                          <a:solidFill>
                            <a:srgbClr val="152E3C"/>
                          </a:solidFill>
                          <a:latin typeface="Inter"/>
                          <a:ea typeface="Inter"/>
                          <a:cs typeface="Inter"/>
                        </a:rPr>
                        <a:t>0.4335</a:t>
                      </a:r>
                    </a:p>
                  </a:txBody>
                  <a:tcPr marL="91440" marR="91440" marT="45720" marB="45720">
                    <a:solidFill>
                      <a:srgbClr val="FFFFFF"/>
                    </a:solidFill>
                  </a:tcPr>
                </a:tc>
              </a:tr>
              <a:tr h="595313">
                <a:tc>
                  <a:txBody>
                    <a:bodyPr/>
                    <a:lstStyle/>
                    <a:p>
                      <a:r>
                        <a:rPr sz="1725" b="0">
                          <a:solidFill>
                            <a:srgbClr val="152E3C"/>
                          </a:solidFill>
                          <a:latin typeface="Inter"/>
                          <a:ea typeface="Inter"/>
                          <a:cs typeface="Inter"/>
                        </a:rPr>
                        <a:t>Recall</a:t>
                      </a:r>
                    </a:p>
                  </a:txBody>
                  <a:tcPr marL="91440" marR="91440" marT="45720" marB="45720">
                    <a:solidFill>
                      <a:srgbClr val="FFFFFF"/>
                    </a:solidFill>
                  </a:tcPr>
                </a:tc>
                <a:tc>
                  <a:txBody>
                    <a:bodyPr/>
                    <a:lstStyle/>
                    <a:p>
                      <a:r>
                        <a:rPr sz="1725" b="0">
                          <a:solidFill>
                            <a:srgbClr val="152E3C"/>
                          </a:solidFill>
                          <a:latin typeface="Inter"/>
                          <a:ea typeface="Inter"/>
                          <a:cs typeface="Inter"/>
                        </a:rPr>
                        <a:t>0.3961</a:t>
                      </a:r>
                    </a:p>
                  </a:txBody>
                  <a:tcPr marL="91440" marR="91440" marT="45720" marB="45720">
                    <a:solidFill>
                      <a:srgbClr val="FFFFFF"/>
                    </a:solidFill>
                  </a:tcPr>
                </a:tc>
                <a:tc>
                  <a:txBody>
                    <a:bodyPr/>
                    <a:lstStyle/>
                    <a:p>
                      <a:r>
                        <a:rPr sz="1725" b="0">
                          <a:solidFill>
                            <a:srgbClr val="152E3C"/>
                          </a:solidFill>
                          <a:latin typeface="Inter"/>
                          <a:ea typeface="Inter"/>
                          <a:cs typeface="Inter"/>
                        </a:rPr>
                        <a:t>0.3701</a:t>
                      </a:r>
                    </a:p>
                  </a:txBody>
                  <a:tcPr marL="91440" marR="91440" marT="45720" marB="45720">
                    <a:solidFill>
                      <a:srgbClr val="FFFFFF"/>
                    </a:solidFill>
                  </a:tcPr>
                </a:tc>
              </a:tr>
            </a:tbl>
          </a:graphicData>
        </a:graphic>
      </p:graphicFrame>
      <p:sp>
        <p:nvSpPr>
          <p:cNvPr id="11" name="">
            <a:extLst xmlns:a="http://schemas.openxmlformats.org/drawingml/2006/main">
              <a:ext uri="{FF2B5EF4-FFF2-40B4-BE49-F238E27FC236}">
                <a16:creationId xmlns:a16="http://schemas.microsoft.com/office/drawing/2014/main" id="{36AA4E61-F637-4169-88F1-127E7FC2D52C}"/>
              </a:ext>
            </a:extLst>
          </p:cNvPr>
          <p:cNvSpPr>
            <a:spLocks xmlns:a="http://schemas.openxmlformats.org/drawingml/2006/main" noGrp="1"/>
          </p:cNvSpPr>
          <p:nvPr/>
        </p:nvSpPr>
        <p:spPr>
          <a:xfrm xmlns:a="http://schemas.openxmlformats.org/drawingml/2006/main">
            <a:off x="7591425" y="4381500"/>
            <a:ext cx="410527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A86524"/>
                </a:solidFill>
                <a:latin typeface="Inter"/>
                <a:ea typeface="Inter"/>
                <a:cs typeface="Inter"/>
              </a:defRPr>
            </a:pPr>
            <a:r>
              <a:rPr sz="2175" b="1">
                <a:solidFill>
                  <a:srgbClr val="A86524"/>
                </a:solidFill>
                <a:latin typeface="Inter"/>
                <a:ea typeface="Inter"/>
                <a:cs typeface="Inter"/>
              </a:rPr>
              <a:t>F1 mejora; recall baja</a:t>
            </a:r>
          </a:p>
        </p:txBody>
      </p:sp>
      <p:sp>
        <p:nvSpPr>
          <p:cNvPr id="12" name="">
            <a:extLst xmlns:a="http://schemas.openxmlformats.org/drawingml/2006/main">
              <a:ext uri="{FF2B5EF4-FFF2-40B4-BE49-F238E27FC236}">
                <a16:creationId xmlns:a16="http://schemas.microsoft.com/office/drawing/2014/main" id="{46958175-B73D-4421-A77B-95425ADD79E9}"/>
              </a:ext>
            </a:extLst>
          </p:cNvPr>
          <p:cNvSpPr>
            <a:spLocks xmlns:a="http://schemas.openxmlformats.org/drawingml/2006/main" noGrp="1"/>
          </p:cNvSpPr>
          <p:nvPr/>
        </p:nvSpPr>
        <p:spPr>
          <a:xfrm xmlns:a="http://schemas.openxmlformats.org/drawingml/2006/main">
            <a:off x="7591425" y="5229225"/>
            <a:ext cx="41052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Estilo, balance y pesos cambian juntos.</a:t>
            </a:r>
          </a:p>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Falta aislar sus efectos.</a:t>
            </a:r>
          </a:p>
        </p:txBody>
      </p:sp>
    </p:spTree>
    <p:extLst>
      <p:ext uri="{BB962C8B-B14F-4D97-AF65-F5344CB8AC3E}">
        <p14:creationId xmlns:p14="http://schemas.microsoft.com/office/powerpoint/2010/main" val="3145975295"/>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99FB9DD-CE0C-4820-951A-541543ACBEC5}"/>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El desacuerdo permanece en las etiquetas</a:t>
            </a:r>
          </a:p>
        </p:txBody>
      </p:sp>
      <p:sp>
        <p:nvSpPr>
          <p:cNvPr id="2" name="">
            <a:extLst xmlns:a="http://schemas.openxmlformats.org/drawingml/2006/main">
              <a:ext uri="{FF2B5EF4-FFF2-40B4-BE49-F238E27FC236}">
                <a16:creationId xmlns:a16="http://schemas.microsoft.com/office/drawing/2014/main" id="{8BE85B90-131C-4A7A-9D6E-FFDA1C30DEA0}"/>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3105C824-376B-4D5C-B9D6-F6FC1EDB04D2}"/>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07</a:t>
            </a:r>
          </a:p>
        </p:txBody>
      </p:sp>
      <p:sp>
        <p:nvSpPr>
          <p:cNvPr id="4" name="">
            <a:extLst xmlns:a="http://schemas.openxmlformats.org/drawingml/2006/main">
              <a:ext uri="{FF2B5EF4-FFF2-40B4-BE49-F238E27FC236}">
                <a16:creationId xmlns:a16="http://schemas.microsoft.com/office/drawing/2014/main" id="{5F2A035A-76BC-4E2A-AA9F-0DA8A93E29EC}"/>
              </a:ext>
            </a:extLst>
          </p:cNvPr>
          <p:cNvSpPr>
            <a:spLocks xmlns:a="http://schemas.openxmlformats.org/drawingml/2006/main" noGrp="1"/>
          </p:cNvSpPr>
          <p:nvPr/>
        </p:nvSpPr>
        <p:spPr>
          <a:xfrm xmlns:a="http://schemas.openxmlformats.org/drawingml/2006/main">
            <a:off x="457200" y="1419225"/>
            <a:ext cx="11239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2C637F"/>
                </a:solidFill>
                <a:latin typeface="Inter"/>
                <a:ea typeface="Inter"/>
                <a:cs typeface="Inter"/>
              </a:defRPr>
            </a:pPr>
            <a:r>
              <a:rPr sz="1725" b="0">
                <a:solidFill>
                  <a:srgbClr val="2C637F"/>
                </a:solidFill>
                <a:latin typeface="Inter"/>
                <a:ea typeface="Inter"/>
                <a:cs typeface="Inter"/>
              </a:rPr>
              <a:t>Análisis nuevo de etiquetas suaves S2 · Desarrollo: 1,212 reportes</a:t>
            </a:r>
          </a:p>
        </p:txBody>
      </p:sp>
      <p:graphicFrame>
        <p:nvGraphicFramePr>
          <p:cNvPr id="20" name="Chart"/>
          <p:cNvGraphicFramePr/>
          <p:nvPr/>
        </p:nvGraphicFramePr>
        <p:xfrm>
          <a:off xmlns:a="http://schemas.openxmlformats.org/drawingml/2006/main" x="285750" y="2286000"/>
          <a:ext xmlns:a="http://schemas.openxmlformats.org/drawingml/2006/main" cx="6772275" cy="3667125"/>
        </p:xfrm>
        <a:graphic xmlns:a="http://schemas.openxmlformats.org/drawingml/2006/main">
          <a:graphicData uri="http://schemas.openxmlformats.org/drawingml/2006/chart">
            <c:chart xmlns:r="http://schemas.openxmlformats.org/officeDocument/2006/relationships" xmlns:c="http://schemas.openxmlformats.org/drawingml/2006/chart" r:id="Rddaa7dc53a9645eb"/>
          </a:graphicData>
        </a:graphic>
      </p:graphicFrame>
      <p:sp>
        <p:nvSpPr>
          <p:cNvPr id="6" name="">
            <a:extLst xmlns:a="http://schemas.openxmlformats.org/drawingml/2006/main">
              <a:ext uri="{FF2B5EF4-FFF2-40B4-BE49-F238E27FC236}">
                <a16:creationId xmlns:a16="http://schemas.microsoft.com/office/drawing/2014/main" id="{F47826CE-AB4D-4D5A-BED1-0B306087AEC7}"/>
              </a:ext>
            </a:extLst>
          </p:cNvPr>
          <p:cNvSpPr>
            <a:spLocks xmlns:a="http://schemas.openxmlformats.org/drawingml/2006/main" noGrp="1"/>
          </p:cNvSpPr>
          <p:nvPr/>
        </p:nvSpPr>
        <p:spPr>
          <a:xfrm xmlns:a="http://schemas.openxmlformats.org/drawingml/2006/main">
            <a:off x="457200" y="1924050"/>
            <a:ext cx="6905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06674"/>
                </a:solidFill>
                <a:latin typeface="Inter"/>
                <a:ea typeface="Inter"/>
                <a:cs typeface="Inter"/>
              </a:defRPr>
            </a:pPr>
            <a:r>
              <a:rPr sz="1425" b="0">
                <a:solidFill>
                  <a:srgbClr val="506674"/>
                </a:solidFill>
                <a:latin typeface="Inter"/>
                <a:ea typeface="Inter"/>
                <a:cs typeface="Inter"/>
              </a:rPr>
              <a:t>Decisiones con voto dividido (%) · Denominador: todos los reportes</a:t>
            </a:r>
          </a:p>
        </p:txBody>
      </p:sp>
      <p:sp>
        <p:nvSpPr>
          <p:cNvPr id="7" name="">
            <a:extLst xmlns:a="http://schemas.openxmlformats.org/drawingml/2006/main">
              <a:ext uri="{FF2B5EF4-FFF2-40B4-BE49-F238E27FC236}">
                <a16:creationId xmlns:a16="http://schemas.microsoft.com/office/drawing/2014/main" id="{59A75BC0-42B8-49D3-AD13-C1122FF7535B}"/>
              </a:ext>
            </a:extLst>
          </p:cNvPr>
          <p:cNvSpPr>
            <a:spLocks xmlns:a="http://schemas.openxmlformats.org/drawingml/2006/main" noGrp="1"/>
          </p:cNvSpPr>
          <p:nvPr/>
        </p:nvSpPr>
        <p:spPr>
          <a:xfrm xmlns:a="http://schemas.openxmlformats.org/drawingml/2006/main">
            <a:off x="7753350" y="2028825"/>
            <a:ext cx="37623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425" b="1">
                <a:solidFill>
                  <a:srgbClr val="2C637F"/>
                </a:solidFill>
                <a:latin typeface="Inter"/>
                <a:ea typeface="Inter"/>
                <a:cs typeface="Inter"/>
              </a:defRPr>
            </a:pPr>
            <a:r>
              <a:rPr sz="4425" b="1">
                <a:solidFill>
                  <a:srgbClr val="2C637F"/>
                </a:solidFill>
                <a:latin typeface="Inter"/>
                <a:ea typeface="Inter"/>
                <a:cs typeface="Inter"/>
              </a:rPr>
              <a:t>72.36%</a:t>
            </a:r>
          </a:p>
        </p:txBody>
      </p:sp>
      <p:sp>
        <p:nvSpPr>
          <p:cNvPr id="8" name="">
            <a:extLst xmlns:a="http://schemas.openxmlformats.org/drawingml/2006/main">
              <a:ext uri="{FF2B5EF4-FFF2-40B4-BE49-F238E27FC236}">
                <a16:creationId xmlns:a16="http://schemas.microsoft.com/office/drawing/2014/main" id="{838CB00F-7C6F-4194-B743-181FDE22499E}"/>
              </a:ext>
            </a:extLst>
          </p:cNvPr>
          <p:cNvSpPr>
            <a:spLocks xmlns:a="http://schemas.openxmlformats.org/drawingml/2006/main" noGrp="1"/>
          </p:cNvSpPr>
          <p:nvPr/>
        </p:nvSpPr>
        <p:spPr>
          <a:xfrm xmlns:a="http://schemas.openxmlformats.org/drawingml/2006/main">
            <a:off x="7753350" y="2952750"/>
            <a:ext cx="3810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52E3C"/>
                </a:solidFill>
                <a:latin typeface="Inter"/>
                <a:ea typeface="Inter"/>
                <a:cs typeface="Inter"/>
              </a:defRPr>
            </a:pPr>
            <a:r>
              <a:rPr sz="1875" b="0">
                <a:solidFill>
                  <a:srgbClr val="152E3C"/>
                </a:solidFill>
                <a:latin typeface="Inter"/>
                <a:ea typeface="Inter"/>
                <a:cs typeface="Inter"/>
              </a:rPr>
              <a:t>con al menos un tipo dividido</a:t>
            </a:r>
          </a:p>
          <a:p xmlns:a="http://schemas.openxmlformats.org/drawingml/2006/main">
            <a:pPr>
              <a:defRPr sz="1875" b="0">
                <a:solidFill>
                  <a:srgbClr val="152E3C"/>
                </a:solidFill>
                <a:latin typeface="Inter"/>
                <a:ea typeface="Inter"/>
                <a:cs typeface="Inter"/>
              </a:defRPr>
            </a:pPr>
            <a:r>
              <a:rPr sz="1875" b="0">
                <a:solidFill>
                  <a:srgbClr val="152E3C"/>
                </a:solidFill>
                <a:latin typeface="Inter"/>
                <a:ea typeface="Inter"/>
                <a:cs typeface="Inter"/>
              </a:rPr>
              <a:t>877 de 1,212 reportes</a:t>
            </a:r>
          </a:p>
        </p:txBody>
      </p:sp>
      <p:sp>
        <p:nvSpPr>
          <p:cNvPr id="9" name="">
            <a:extLst xmlns:a="http://schemas.openxmlformats.org/drawingml/2006/main">
              <a:ext uri="{FF2B5EF4-FFF2-40B4-BE49-F238E27FC236}">
                <a16:creationId xmlns:a16="http://schemas.microsoft.com/office/drawing/2014/main" id="{EA6DA300-B251-45EF-830B-8A5E5FC134CE}"/>
              </a:ext>
            </a:extLst>
          </p:cNvPr>
          <p:cNvSpPr>
            <a:spLocks xmlns:a="http://schemas.openxmlformats.org/drawingml/2006/main" noGrp="1"/>
          </p:cNvSpPr>
          <p:nvPr/>
        </p:nvSpPr>
        <p:spPr>
          <a:xfrm xmlns:a="http://schemas.openxmlformats.org/drawingml/2006/main">
            <a:off x="7772400" y="4038600"/>
            <a:ext cx="1990725" cy="54292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0" name="">
            <a:extLst xmlns:a="http://schemas.openxmlformats.org/drawingml/2006/main">
              <a:ext uri="{FF2B5EF4-FFF2-40B4-BE49-F238E27FC236}">
                <a16:creationId xmlns:a16="http://schemas.microsoft.com/office/drawing/2014/main" id="{0C9E0FCB-C176-4FD6-AA45-82349D876BFD}"/>
              </a:ext>
            </a:extLst>
          </p:cNvPr>
          <p:cNvSpPr>
            <a:spLocks xmlns:a="http://schemas.openxmlformats.org/drawingml/2006/main" noGrp="1"/>
          </p:cNvSpPr>
          <p:nvPr/>
        </p:nvSpPr>
        <p:spPr>
          <a:xfrm xmlns:a="http://schemas.openxmlformats.org/drawingml/2006/main">
            <a:off x="7915275" y="4162425"/>
            <a:ext cx="17049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2C637F"/>
                </a:solidFill>
                <a:latin typeface="Inter"/>
                <a:ea typeface="Inter"/>
                <a:cs typeface="Inter"/>
              </a:defRPr>
            </a:pPr>
            <a:r>
              <a:rPr sz="1950" b="0">
                <a:solidFill>
                  <a:srgbClr val="2C637F"/>
                </a:solidFill>
                <a:latin typeface="Inter"/>
                <a:ea typeface="Inter"/>
                <a:cs typeface="Inter"/>
              </a:rPr>
              <a:t>1     1     0</a:t>
            </a:r>
          </a:p>
        </p:txBody>
      </p:sp>
      <p:sp>
        <p:nvSpPr>
          <p:cNvPr id="11" name="">
            <a:extLst xmlns:a="http://schemas.openxmlformats.org/drawingml/2006/main">
              <a:ext uri="{FF2B5EF4-FFF2-40B4-BE49-F238E27FC236}">
                <a16:creationId xmlns:a16="http://schemas.microsoft.com/office/drawing/2014/main" id="{8209B059-F7EC-4617-85BE-0E7DA24D30A6}"/>
              </a:ext>
            </a:extLst>
          </p:cNvPr>
          <p:cNvSpPr>
            <a:spLocks xmlns:a="http://schemas.openxmlformats.org/drawingml/2006/main" noGrp="1"/>
          </p:cNvSpPr>
          <p:nvPr/>
        </p:nvSpPr>
        <p:spPr>
          <a:xfrm xmlns:a="http://schemas.openxmlformats.org/drawingml/2006/main">
            <a:off x="10287000" y="4038600"/>
            <a:ext cx="1400175" cy="54292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2" name="">
            <a:extLst xmlns:a="http://schemas.openxmlformats.org/drawingml/2006/main">
              <a:ext uri="{FF2B5EF4-FFF2-40B4-BE49-F238E27FC236}">
                <a16:creationId xmlns:a16="http://schemas.microsoft.com/office/drawing/2014/main" id="{DF4C4B90-3DFA-410D-A8DA-304DD256F857}"/>
              </a:ext>
            </a:extLst>
          </p:cNvPr>
          <p:cNvSpPr>
            <a:spLocks xmlns:a="http://schemas.openxmlformats.org/drawingml/2006/main" noGrp="1"/>
          </p:cNvSpPr>
          <p:nvPr/>
        </p:nvSpPr>
        <p:spPr>
          <a:xfrm xmlns:a="http://schemas.openxmlformats.org/drawingml/2006/main">
            <a:off x="10429875" y="4162425"/>
            <a:ext cx="11144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p = 2/3</a:t>
            </a:r>
          </a:p>
        </p:txBody>
      </p:sp>
      <p:cxnSp>
        <p:nvCxnSpPr>
          <p:cNvPr id="28" name=""/>
          <p:cNvCxnSpPr>
            <a:stCxn xmlns:a="http://schemas.openxmlformats.org/drawingml/2006/main" id="9" idx="3"/>
            <a:endCxn xmlns:a="http://schemas.openxmlformats.org/drawingml/2006/main" id="11" idx="1"/>
          </p:cNvCxnSpPr>
          <p:nvPr/>
        </p:nvCxnSpPr>
        <p:spPr>
          <a:xfrm xmlns:a="http://schemas.openxmlformats.org/drawingml/2006/main">
            <a:off x="9763125" y="4310063"/>
            <a:ext cx="523875" cy="0"/>
          </a:xfrm>
          <a:prstGeom xmlns:a="http://schemas.openxmlformats.org/drawingml/2006/main" prst="straightConnector1">
            <a:avLst/>
          </a:prstGeom>
          <a:ln xmlns:a="http://schemas.openxmlformats.org/drawingml/2006/main" w="21908">
            <a:solidFill>
              <a:srgbClr val="2C637F"/>
            </a:solidFill>
            <a:headEnd type="none" w="med" len="med"/>
            <a:tailEnd type="triangle" w="med" len="med"/>
          </a:ln>
        </p:spPr>
      </p:cxnSp>
      <p:sp>
        <p:nvSpPr>
          <p:cNvPr id="14" name="">
            <a:extLst xmlns:a="http://schemas.openxmlformats.org/drawingml/2006/main">
              <a:ext uri="{FF2B5EF4-FFF2-40B4-BE49-F238E27FC236}">
                <a16:creationId xmlns:a16="http://schemas.microsoft.com/office/drawing/2014/main" id="{5C3F2145-F2A3-4DC3-AAB9-C910CEBDB0D8}"/>
              </a:ext>
            </a:extLst>
          </p:cNvPr>
          <p:cNvSpPr>
            <a:spLocks xmlns:a="http://schemas.openxmlformats.org/drawingml/2006/main" noGrp="1"/>
          </p:cNvSpPr>
          <p:nvPr/>
        </p:nvSpPr>
        <p:spPr>
          <a:xfrm xmlns:a="http://schemas.openxmlformats.org/drawingml/2006/main">
            <a:off x="7753350" y="4810125"/>
            <a:ext cx="39433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52E3C"/>
                </a:solidFill>
                <a:latin typeface="Inter"/>
                <a:ea typeface="Inter"/>
                <a:cs typeface="Inter"/>
              </a:defRPr>
            </a:pPr>
            <a:r>
              <a:rPr sz="1725" b="0">
                <a:solidFill>
                  <a:srgbClr val="152E3C"/>
                </a:solidFill>
                <a:latin typeface="Inter"/>
                <a:ea typeface="Inter"/>
                <a:cs typeface="Inter"/>
              </a:rPr>
              <a:t>Ejemplo de 3 votos.</a:t>
            </a:r>
          </a:p>
          <a:p xmlns:a="http://schemas.openxmlformats.org/drawingml/2006/main">
            <a:pPr>
              <a:defRPr sz="1725" b="0">
                <a:solidFill>
                  <a:srgbClr val="152E3C"/>
                </a:solidFill>
                <a:latin typeface="Inter"/>
                <a:ea typeface="Inter"/>
                <a:cs typeface="Inter"/>
              </a:defRPr>
            </a:pPr>
            <a:r>
              <a:rPr sz="1725" b="0">
                <a:solidFill>
                  <a:srgbClr val="152E3C"/>
                </a:solidFill>
                <a:latin typeface="Inter"/>
                <a:ea typeface="Inter"/>
                <a:cs typeface="Inter"/>
              </a:rPr>
              <a:t>Varianza interna: p(1−p) = 2/9.</a:t>
            </a:r>
          </a:p>
        </p:txBody>
      </p:sp>
      <p:sp>
        <p:nvSpPr>
          <p:cNvPr id="15" name="">
            <a:extLst xmlns:a="http://schemas.openxmlformats.org/drawingml/2006/main">
              <a:ext uri="{FF2B5EF4-FFF2-40B4-BE49-F238E27FC236}">
                <a16:creationId xmlns:a16="http://schemas.microsoft.com/office/drawing/2014/main" id="{CA85F7DB-8C2D-45FB-BDD1-AF09E14EEA2F}"/>
              </a:ext>
            </a:extLst>
          </p:cNvPr>
          <p:cNvSpPr>
            <a:spLocks xmlns:a="http://schemas.openxmlformats.org/drawingml/2006/main" noGrp="1"/>
          </p:cNvSpPr>
          <p:nvPr/>
        </p:nvSpPr>
        <p:spPr>
          <a:xfrm xmlns:a="http://schemas.openxmlformats.org/drawingml/2006/main">
            <a:off x="457200" y="6086475"/>
            <a:ext cx="11239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06674"/>
                </a:solidFill>
                <a:latin typeface="Inter"/>
                <a:ea typeface="Inter"/>
                <a:cs typeface="Inter"/>
              </a:defRPr>
            </a:pPr>
            <a:r>
              <a:rPr sz="1425" b="0">
                <a:solidFill>
                  <a:srgbClr val="506674"/>
                </a:solidFill>
                <a:latin typeface="Inter"/>
                <a:ea typeface="Inter"/>
                <a:cs typeface="Inter"/>
              </a:rPr>
              <a:t>Sin identidades ni votos S1: no mide diferencias entre trabajadores. 24 discrepancias hard/soft en desarrollo.</a:t>
            </a:r>
          </a:p>
        </p:txBody>
      </p:sp>
    </p:spTree>
    <p:extLst>
      <p:ext uri="{BB962C8B-B14F-4D97-AF65-F5344CB8AC3E}">
        <p14:creationId xmlns:p14="http://schemas.microsoft.com/office/powerpoint/2010/main" val="3462458655"/>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6A65AC69-FA9B-40A4-BC48-FAD84B32C02B}"/>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El ancla limita los cambios finales</a:t>
            </a:r>
          </a:p>
        </p:txBody>
      </p:sp>
      <p:sp>
        <p:nvSpPr>
          <p:cNvPr id="2" name="">
            <a:extLst xmlns:a="http://schemas.openxmlformats.org/drawingml/2006/main">
              <a:ext uri="{FF2B5EF4-FFF2-40B4-BE49-F238E27FC236}">
                <a16:creationId xmlns:a16="http://schemas.microsoft.com/office/drawing/2014/main" id="{4AC7701D-88EF-45CB-8FCB-187290D7962B}"/>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1B1D2DCD-74CF-41AC-BECA-F485513ACF73}"/>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08</a:t>
            </a:r>
          </a:p>
        </p:txBody>
      </p:sp>
      <p:sp>
        <p:nvSpPr>
          <p:cNvPr id="4" name="">
            <a:extLst xmlns:a="http://schemas.openxmlformats.org/drawingml/2006/main">
              <a:ext uri="{FF2B5EF4-FFF2-40B4-BE49-F238E27FC236}">
                <a16:creationId xmlns:a16="http://schemas.microsoft.com/office/drawing/2014/main" id="{10800880-2E3A-42EB-A208-8C756BB11F6C}"/>
              </a:ext>
            </a:extLst>
          </p:cNvPr>
          <p:cNvSpPr>
            <a:spLocks xmlns:a="http://schemas.openxmlformats.org/drawingml/2006/main" noGrp="1"/>
          </p:cNvSpPr>
          <p:nvPr/>
        </p:nvSpPr>
        <p:spPr>
          <a:xfrm xmlns:a="http://schemas.openxmlformats.org/drawingml/2006/main">
            <a:off x="457200" y="1752600"/>
            <a:ext cx="3086100" cy="109537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5" name="">
            <a:extLst xmlns:a="http://schemas.openxmlformats.org/drawingml/2006/main">
              <a:ext uri="{FF2B5EF4-FFF2-40B4-BE49-F238E27FC236}">
                <a16:creationId xmlns:a16="http://schemas.microsoft.com/office/drawing/2014/main" id="{3ACF7F99-70FD-47F7-9FE6-78B60D2E9B33}"/>
              </a:ext>
            </a:extLst>
          </p:cNvPr>
          <p:cNvSpPr>
            <a:spLocks xmlns:a="http://schemas.openxmlformats.org/drawingml/2006/main" noGrp="1"/>
          </p:cNvSpPr>
          <p:nvPr/>
        </p:nvSpPr>
        <p:spPr>
          <a:xfrm xmlns:a="http://schemas.openxmlformats.org/drawingml/2006/main">
            <a:off x="600075" y="1876425"/>
            <a:ext cx="28003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Ancla Top10</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Mejor entrega previa</a:t>
            </a:r>
          </a:p>
        </p:txBody>
      </p:sp>
      <p:sp>
        <p:nvSpPr>
          <p:cNvPr id="6" name="">
            <a:extLst xmlns:a="http://schemas.openxmlformats.org/drawingml/2006/main">
              <a:ext uri="{FF2B5EF4-FFF2-40B4-BE49-F238E27FC236}">
                <a16:creationId xmlns:a16="http://schemas.microsoft.com/office/drawing/2014/main" id="{9B654E6E-18AD-4758-9CE2-22F1FFDB1E8A}"/>
              </a:ext>
            </a:extLst>
          </p:cNvPr>
          <p:cNvSpPr>
            <a:spLocks xmlns:a="http://schemas.openxmlformats.org/drawingml/2006/main" noGrp="1"/>
          </p:cNvSpPr>
          <p:nvPr/>
        </p:nvSpPr>
        <p:spPr>
          <a:xfrm xmlns:a="http://schemas.openxmlformats.org/drawingml/2006/main">
            <a:off x="457200" y="3752850"/>
            <a:ext cx="3086100" cy="114300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7" name="">
            <a:extLst xmlns:a="http://schemas.openxmlformats.org/drawingml/2006/main">
              <a:ext uri="{FF2B5EF4-FFF2-40B4-BE49-F238E27FC236}">
                <a16:creationId xmlns:a16="http://schemas.microsoft.com/office/drawing/2014/main" id="{F57ABCF8-44AC-4EA6-92F7-62BD0FF18ED9}"/>
              </a:ext>
            </a:extLst>
          </p:cNvPr>
          <p:cNvSpPr>
            <a:spLocks xmlns:a="http://schemas.openxmlformats.org/drawingml/2006/main" noGrp="1"/>
          </p:cNvSpPr>
          <p:nvPr/>
        </p:nvSpPr>
        <p:spPr>
          <a:xfrm xmlns:a="http://schemas.openxmlformats.org/drawingml/2006/main">
            <a:off x="600075" y="3876675"/>
            <a:ext cx="28003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Candidato foldbag</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5 BETO aug. + 5 Electricidad</a:t>
            </a:r>
          </a:p>
        </p:txBody>
      </p:sp>
      <p:sp>
        <p:nvSpPr>
          <p:cNvPr id="8" name="">
            <a:extLst xmlns:a="http://schemas.openxmlformats.org/drawingml/2006/main">
              <a:ext uri="{FF2B5EF4-FFF2-40B4-BE49-F238E27FC236}">
                <a16:creationId xmlns:a16="http://schemas.microsoft.com/office/drawing/2014/main" id="{79F2DF8A-C394-4252-BD44-A5D4A54A45D7}"/>
              </a:ext>
            </a:extLst>
          </p:cNvPr>
          <p:cNvSpPr>
            <a:spLocks xmlns:a="http://schemas.openxmlformats.org/drawingml/2006/main" noGrp="1"/>
          </p:cNvSpPr>
          <p:nvPr/>
        </p:nvSpPr>
        <p:spPr>
          <a:xfrm xmlns:a="http://schemas.openxmlformats.org/drawingml/2006/main">
            <a:off x="4429125" y="2724150"/>
            <a:ext cx="3181350" cy="113347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9" name="">
            <a:extLst xmlns:a="http://schemas.openxmlformats.org/drawingml/2006/main">
              <a:ext uri="{FF2B5EF4-FFF2-40B4-BE49-F238E27FC236}">
                <a16:creationId xmlns:a16="http://schemas.microsoft.com/office/drawing/2014/main" id="{6DD93E50-DAFA-429A-8DB3-06E141276F87}"/>
              </a:ext>
            </a:extLst>
          </p:cNvPr>
          <p:cNvSpPr>
            <a:spLocks xmlns:a="http://schemas.openxmlformats.org/drawingml/2006/main" noGrp="1"/>
          </p:cNvSpPr>
          <p:nvPr/>
        </p:nvSpPr>
        <p:spPr>
          <a:xfrm xmlns:a="http://schemas.openxmlformats.org/drawingml/2006/main">
            <a:off x="4572000" y="2847975"/>
            <a:ext cx="28956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Router</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Solo transiciones permitidas</a:t>
            </a:r>
          </a:p>
        </p:txBody>
      </p:sp>
      <p:sp>
        <p:nvSpPr>
          <p:cNvPr id="10" name="">
            <a:extLst xmlns:a="http://schemas.openxmlformats.org/drawingml/2006/main">
              <a:ext uri="{FF2B5EF4-FFF2-40B4-BE49-F238E27FC236}">
                <a16:creationId xmlns:a16="http://schemas.microsoft.com/office/drawing/2014/main" id="{5AC5C777-9140-402A-9BA1-A02440ADAFB3}"/>
              </a:ext>
            </a:extLst>
          </p:cNvPr>
          <p:cNvSpPr>
            <a:spLocks xmlns:a="http://schemas.openxmlformats.org/drawingml/2006/main" noGrp="1"/>
          </p:cNvSpPr>
          <p:nvPr/>
        </p:nvSpPr>
        <p:spPr>
          <a:xfrm xmlns:a="http://schemas.openxmlformats.org/drawingml/2006/main">
            <a:off x="8448675" y="1752600"/>
            <a:ext cx="3238500" cy="105727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1" name="">
            <a:extLst xmlns:a="http://schemas.openxmlformats.org/drawingml/2006/main">
              <a:ext uri="{FF2B5EF4-FFF2-40B4-BE49-F238E27FC236}">
                <a16:creationId xmlns:a16="http://schemas.microsoft.com/office/drawing/2014/main" id="{C0A2AE1D-2C78-4829-8B84-52B87F41B173}"/>
              </a:ext>
            </a:extLst>
          </p:cNvPr>
          <p:cNvSpPr>
            <a:spLocks xmlns:a="http://schemas.openxmlformats.org/drawingml/2006/main" noGrp="1"/>
          </p:cNvSpPr>
          <p:nvPr/>
        </p:nvSpPr>
        <p:spPr>
          <a:xfrm xmlns:a="http://schemas.openxmlformats.org/drawingml/2006/main">
            <a:off x="8591550" y="1876425"/>
            <a:ext cx="2952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Conservar ancla</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3,929 / 4,219 (93.13%)</a:t>
            </a:r>
          </a:p>
        </p:txBody>
      </p:sp>
      <p:sp>
        <p:nvSpPr>
          <p:cNvPr id="12" name="">
            <a:extLst xmlns:a="http://schemas.openxmlformats.org/drawingml/2006/main">
              <a:ext uri="{FF2B5EF4-FFF2-40B4-BE49-F238E27FC236}">
                <a16:creationId xmlns:a16="http://schemas.microsoft.com/office/drawing/2014/main" id="{4E1FFA86-AB09-43E5-9B7E-B08C3C637F83}"/>
              </a:ext>
            </a:extLst>
          </p:cNvPr>
          <p:cNvSpPr>
            <a:spLocks xmlns:a="http://schemas.openxmlformats.org/drawingml/2006/main" noGrp="1"/>
          </p:cNvSpPr>
          <p:nvPr/>
        </p:nvSpPr>
        <p:spPr>
          <a:xfrm xmlns:a="http://schemas.openxmlformats.org/drawingml/2006/main">
            <a:off x="8448675" y="3762375"/>
            <a:ext cx="3238500" cy="1057275"/>
          </a:xfrm>
          <a:prstGeom xmlns:a="http://schemas.openxmlformats.org/drawingml/2006/main" prst="rect">
            <a:avLst/>
          </a:prstGeom>
          <a:solidFill xmlns:a="http://schemas.openxmlformats.org/drawingml/2006/main">
            <a:srgbClr val="E8F3EF"/>
          </a:solidFill>
          <a:ln xmlns:a="http://schemas.openxmlformats.org/drawingml/2006/main" w="13335">
            <a:solidFill>
              <a:srgbClr val="16766E"/>
            </a:solidFill>
          </a:ln>
        </p:spPr>
      </p:sp>
      <p:sp>
        <p:nvSpPr>
          <p:cNvPr id="13" name="">
            <a:extLst xmlns:a="http://schemas.openxmlformats.org/drawingml/2006/main">
              <a:ext uri="{FF2B5EF4-FFF2-40B4-BE49-F238E27FC236}">
                <a16:creationId xmlns:a16="http://schemas.microsoft.com/office/drawing/2014/main" id="{518524E8-7199-406E-A576-FF9441A1154A}"/>
              </a:ext>
            </a:extLst>
          </p:cNvPr>
          <p:cNvSpPr>
            <a:spLocks xmlns:a="http://schemas.openxmlformats.org/drawingml/2006/main" noGrp="1"/>
          </p:cNvSpPr>
          <p:nvPr/>
        </p:nvSpPr>
        <p:spPr>
          <a:xfrm xmlns:a="http://schemas.openxmlformats.org/drawingml/2006/main">
            <a:off x="8591550" y="3886200"/>
            <a:ext cx="2952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6766E"/>
                </a:solidFill>
                <a:latin typeface="Inter"/>
                <a:ea typeface="Inter"/>
                <a:cs typeface="Inter"/>
              </a:defRPr>
            </a:pPr>
            <a:r>
              <a:rPr sz="1800" b="0">
                <a:solidFill>
                  <a:srgbClr val="16766E"/>
                </a:solidFill>
                <a:latin typeface="Inter"/>
                <a:ea typeface="Inter"/>
                <a:cs typeface="Inter"/>
              </a:rPr>
              <a:t>Aplicar cambio</a:t>
            </a:r>
          </a:p>
          <a:p xmlns:a="http://schemas.openxmlformats.org/drawingml/2006/main">
            <a:pPr>
              <a:defRPr sz="1800" b="0">
                <a:solidFill>
                  <a:srgbClr val="16766E"/>
                </a:solidFill>
                <a:latin typeface="Inter"/>
                <a:ea typeface="Inter"/>
                <a:cs typeface="Inter"/>
              </a:defRPr>
            </a:pPr>
            <a:r>
              <a:rPr sz="1800" b="0">
                <a:solidFill>
                  <a:srgbClr val="16766E"/>
                </a:solidFill>
                <a:latin typeface="Inter"/>
                <a:ea typeface="Inter"/>
                <a:cs typeface="Inter"/>
              </a:rPr>
              <a:t>290 / 4,219 (6.87%)</a:t>
            </a:r>
          </a:p>
        </p:txBody>
      </p:sp>
      <p:cxnSp>
        <p:nvCxnSpPr>
          <p:cNvPr id="35" name=""/>
          <p:cNvCxnSpPr>
            <a:stCxn xmlns:a="http://schemas.openxmlformats.org/drawingml/2006/main" id="4" idx="3"/>
            <a:endCxn xmlns:a="http://schemas.openxmlformats.org/drawingml/2006/main" id="8" idx="1"/>
          </p:cNvCxnSpPr>
          <p:nvPr/>
        </p:nvCxnSpPr>
        <p:spPr>
          <a:xfrm xmlns:a="http://schemas.openxmlformats.org/drawingml/2006/main">
            <a:off x="3543300" y="2300288"/>
            <a:ext cx="885825" cy="990600"/>
          </a:xfrm>
          <a:prstGeom xmlns:a="http://schemas.openxmlformats.org/drawingml/2006/main" prst="bentConnector3">
            <a:avLst>
              <a:gd name="adj1" fmla="val 50000"/>
            </a:avLst>
          </a:prstGeom>
          <a:ln xmlns:a="http://schemas.openxmlformats.org/drawingml/2006/main" w="21908">
            <a:solidFill>
              <a:srgbClr val="2C637F"/>
            </a:solidFill>
            <a:headEnd type="none" w="med" len="med"/>
            <a:tailEnd type="triangle" w="med" len="med"/>
          </a:ln>
        </p:spPr>
      </p:cxnSp>
      <p:cxnSp>
        <p:nvCxnSpPr>
          <p:cNvPr id="36" name=""/>
          <p:cNvCxnSpPr>
            <a:stCxn xmlns:a="http://schemas.openxmlformats.org/drawingml/2006/main" id="6" idx="3"/>
            <a:endCxn xmlns:a="http://schemas.openxmlformats.org/drawingml/2006/main" id="8" idx="1"/>
          </p:cNvCxnSpPr>
          <p:nvPr/>
        </p:nvCxnSpPr>
        <p:spPr>
          <a:xfrm xmlns:a="http://schemas.openxmlformats.org/drawingml/2006/main" flipV="1">
            <a:off x="3543300" y="3290888"/>
            <a:ext cx="885825" cy="1033463"/>
          </a:xfrm>
          <a:prstGeom xmlns:a="http://schemas.openxmlformats.org/drawingml/2006/main" prst="bentConnector3">
            <a:avLst>
              <a:gd name="adj1" fmla="val 50000"/>
            </a:avLst>
          </a:prstGeom>
          <a:ln xmlns:a="http://schemas.openxmlformats.org/drawingml/2006/main" w="21908">
            <a:solidFill>
              <a:srgbClr val="2C637F"/>
            </a:solidFill>
            <a:headEnd type="none" w="med" len="med"/>
            <a:tailEnd type="triangle" w="med" len="med"/>
          </a:ln>
        </p:spPr>
      </p:cxnSp>
      <p:cxnSp>
        <p:nvCxnSpPr>
          <p:cNvPr id="37" name=""/>
          <p:cNvCxnSpPr>
            <a:stCxn xmlns:a="http://schemas.openxmlformats.org/drawingml/2006/main" id="8" idx="3"/>
            <a:endCxn xmlns:a="http://schemas.openxmlformats.org/drawingml/2006/main" id="10" idx="1"/>
          </p:cNvCxnSpPr>
          <p:nvPr/>
        </p:nvCxnSpPr>
        <p:spPr>
          <a:xfrm xmlns:a="http://schemas.openxmlformats.org/drawingml/2006/main" flipV="1">
            <a:off x="7610475" y="2281238"/>
            <a:ext cx="838200" cy="1009650"/>
          </a:xfrm>
          <a:prstGeom xmlns:a="http://schemas.openxmlformats.org/drawingml/2006/main" prst="bentConnector3">
            <a:avLst>
              <a:gd name="adj1" fmla="val 50000"/>
            </a:avLst>
          </a:prstGeom>
          <a:ln xmlns:a="http://schemas.openxmlformats.org/drawingml/2006/main" w="21908">
            <a:solidFill>
              <a:srgbClr val="2C637F"/>
            </a:solidFill>
            <a:headEnd type="none" w="med" len="med"/>
            <a:tailEnd type="triangle" w="med" len="med"/>
          </a:ln>
        </p:spPr>
      </p:cxnSp>
      <p:cxnSp>
        <p:nvCxnSpPr>
          <p:cNvPr id="38" name=""/>
          <p:cNvCxnSpPr>
            <a:stCxn xmlns:a="http://schemas.openxmlformats.org/drawingml/2006/main" id="8" idx="3"/>
            <a:endCxn xmlns:a="http://schemas.openxmlformats.org/drawingml/2006/main" id="12" idx="1"/>
          </p:cNvCxnSpPr>
          <p:nvPr/>
        </p:nvCxnSpPr>
        <p:spPr>
          <a:xfrm xmlns:a="http://schemas.openxmlformats.org/drawingml/2006/main">
            <a:off x="7610475" y="3290888"/>
            <a:ext cx="838200" cy="1000125"/>
          </a:xfrm>
          <a:prstGeom xmlns:a="http://schemas.openxmlformats.org/drawingml/2006/main" prst="bentConnector3">
            <a:avLst>
              <a:gd name="adj1" fmla="val 50000"/>
            </a:avLst>
          </a:prstGeom>
          <a:ln xmlns:a="http://schemas.openxmlformats.org/drawingml/2006/main" w="21908">
            <a:solidFill>
              <a:srgbClr val="2C637F"/>
            </a:solidFill>
            <a:headEnd type="none" w="med" len="med"/>
            <a:tailEnd type="triangle" w="med" len="med"/>
          </a:ln>
        </p:spPr>
      </p:cxnSp>
      <p:sp>
        <p:nvSpPr>
          <p:cNvPr id="18" name="">
            <a:extLst xmlns:a="http://schemas.openxmlformats.org/drawingml/2006/main">
              <a:ext uri="{FF2B5EF4-FFF2-40B4-BE49-F238E27FC236}">
                <a16:creationId xmlns:a16="http://schemas.microsoft.com/office/drawing/2014/main" id="{FDB21126-93E4-45A5-85F4-BFABF2A3C56A}"/>
              </a:ext>
            </a:extLst>
          </p:cNvPr>
          <p:cNvSpPr>
            <a:spLocks xmlns:a="http://schemas.openxmlformats.org/drawingml/2006/main" noGrp="1"/>
          </p:cNvSpPr>
          <p:nvPr/>
        </p:nvSpPr>
        <p:spPr>
          <a:xfrm xmlns:a="http://schemas.openxmlformats.org/drawingml/2006/main">
            <a:off x="7696200" y="175260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06674"/>
                </a:solidFill>
                <a:latin typeface="Inter"/>
                <a:ea typeface="Inter"/>
                <a:cs typeface="Inter"/>
              </a:defRPr>
            </a:pPr>
            <a:r>
              <a:rPr sz="1350" b="0">
                <a:solidFill>
                  <a:srgbClr val="506674"/>
                </a:solidFill>
                <a:latin typeface="Inter"/>
                <a:ea typeface="Inter"/>
                <a:cs typeface="Inter"/>
              </a:rPr>
              <a:t>No</a:t>
            </a:r>
          </a:p>
        </p:txBody>
      </p:sp>
      <p:sp>
        <p:nvSpPr>
          <p:cNvPr id="19" name="">
            <a:extLst xmlns:a="http://schemas.openxmlformats.org/drawingml/2006/main">
              <a:ext uri="{FF2B5EF4-FFF2-40B4-BE49-F238E27FC236}">
                <a16:creationId xmlns:a16="http://schemas.microsoft.com/office/drawing/2014/main" id="{93A9F6F0-6D69-4DD5-B9AF-2E4F07F285F0}"/>
              </a:ext>
            </a:extLst>
          </p:cNvPr>
          <p:cNvSpPr>
            <a:spLocks xmlns:a="http://schemas.openxmlformats.org/drawingml/2006/main" noGrp="1"/>
          </p:cNvSpPr>
          <p:nvPr/>
        </p:nvSpPr>
        <p:spPr>
          <a:xfrm xmlns:a="http://schemas.openxmlformats.org/drawingml/2006/main">
            <a:off x="7696200" y="440055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16766E"/>
                </a:solidFill>
                <a:latin typeface="Inter"/>
                <a:ea typeface="Inter"/>
                <a:cs typeface="Inter"/>
              </a:defRPr>
            </a:pPr>
            <a:r>
              <a:rPr sz="1350" b="0">
                <a:solidFill>
                  <a:srgbClr val="16766E"/>
                </a:solidFill>
                <a:latin typeface="Inter"/>
                <a:ea typeface="Inter"/>
                <a:cs typeface="Inter"/>
              </a:rPr>
              <a:t>Sí</a:t>
            </a:r>
          </a:p>
        </p:txBody>
      </p:sp>
      <p:sp>
        <p:nvSpPr>
          <p:cNvPr id="20" name="">
            <a:extLst xmlns:a="http://schemas.openxmlformats.org/drawingml/2006/main">
              <a:ext uri="{FF2B5EF4-FFF2-40B4-BE49-F238E27FC236}">
                <a16:creationId xmlns:a16="http://schemas.microsoft.com/office/drawing/2014/main" id="{A61A8351-6EBF-4DDC-ACA5-525EC9AB50F4}"/>
              </a:ext>
            </a:extLst>
          </p:cNvPr>
          <p:cNvSpPr>
            <a:spLocks xmlns:a="http://schemas.openxmlformats.org/drawingml/2006/main" noGrp="1"/>
          </p:cNvSpPr>
          <p:nvPr/>
        </p:nvSpPr>
        <p:spPr>
          <a:xfrm xmlns:a="http://schemas.openxmlformats.org/drawingml/2006/main">
            <a:off x="457200" y="5286375"/>
            <a:ext cx="1123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2C637F"/>
                </a:solidFill>
                <a:latin typeface="Inter"/>
                <a:ea typeface="Inter"/>
                <a:cs typeface="Inter"/>
              </a:defRPr>
            </a:pPr>
            <a:r>
              <a:rPr sz="2025" b="1">
                <a:solidFill>
                  <a:srgbClr val="2C637F"/>
                </a:solidFill>
                <a:latin typeface="Inter"/>
                <a:ea typeface="Inter"/>
                <a:cs typeface="Inter"/>
              </a:rPr>
              <a:t>Medium → Mild: 177     Mild → Medium: 101     High → Severe: 12</a:t>
            </a:r>
          </a:p>
        </p:txBody>
      </p:sp>
      <p:sp>
        <p:nvSpPr>
          <p:cNvPr id="21" name="">
            <a:extLst xmlns:a="http://schemas.openxmlformats.org/drawingml/2006/main">
              <a:ext uri="{FF2B5EF4-FFF2-40B4-BE49-F238E27FC236}">
                <a16:creationId xmlns:a16="http://schemas.microsoft.com/office/drawing/2014/main" id="{AAB752E8-0685-49DC-A290-AF745BD8D45E}"/>
              </a:ext>
            </a:extLst>
          </p:cNvPr>
          <p:cNvSpPr>
            <a:spLocks xmlns:a="http://schemas.openxmlformats.org/drawingml/2006/main" noGrp="1"/>
          </p:cNvSpPr>
          <p:nvPr/>
        </p:nvSpPr>
        <p:spPr>
          <a:xfrm xmlns:a="http://schemas.openxmlformats.org/drawingml/2006/main">
            <a:off x="457200" y="5886450"/>
            <a:ext cx="1123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06674"/>
                </a:solidFill>
                <a:latin typeface="Inter"/>
                <a:ea typeface="Inter"/>
                <a:cs typeface="Inter"/>
              </a:defRPr>
            </a:pPr>
            <a:r>
              <a:rPr sz="1725" b="0">
                <a:solidFill>
                  <a:srgbClr val="506674"/>
                </a:solidFill>
                <a:latin typeface="Inter"/>
                <a:ea typeface="Inter"/>
                <a:cs typeface="Inter"/>
              </a:rPr>
              <a:t>High → Severe exige indicios léxicos severos. Recetas seleccionadas + regla de decisión final.</a:t>
            </a:r>
          </a:p>
        </p:txBody>
      </p:sp>
    </p:spTree>
    <p:extLst>
      <p:ext uri="{BB962C8B-B14F-4D97-AF65-F5344CB8AC3E}">
        <p14:creationId xmlns:p14="http://schemas.microsoft.com/office/powerpoint/2010/main" val="2075362051"/>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EEEAE1A-06AC-4970-AE6A-1D0AD4349A57}"/>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Resultados del sistema completo</a:t>
            </a:r>
          </a:p>
        </p:txBody>
      </p:sp>
      <p:sp>
        <p:nvSpPr>
          <p:cNvPr id="2" name="">
            <a:extLst xmlns:a="http://schemas.openxmlformats.org/drawingml/2006/main">
              <a:ext uri="{FF2B5EF4-FFF2-40B4-BE49-F238E27FC236}">
                <a16:creationId xmlns:a16="http://schemas.microsoft.com/office/drawing/2014/main" id="{334A4184-2840-4B8F-A8EB-7582B133E317}"/>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373DDC29-D447-4185-85B0-04928301763A}"/>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09</a:t>
            </a:r>
          </a:p>
        </p:txBody>
      </p:sp>
      <p:sp>
        <p:nvSpPr>
          <p:cNvPr id="4" name="">
            <a:extLst xmlns:a="http://schemas.openxmlformats.org/drawingml/2006/main">
              <a:ext uri="{FF2B5EF4-FFF2-40B4-BE49-F238E27FC236}">
                <a16:creationId xmlns:a16="http://schemas.microsoft.com/office/drawing/2014/main" id="{4BC4D94C-A29A-4D36-B905-4126C95DE742}"/>
              </a:ext>
            </a:extLst>
          </p:cNvPr>
          <p:cNvSpPr>
            <a:spLocks xmlns:a="http://schemas.openxmlformats.org/drawingml/2006/main" noGrp="1"/>
          </p:cNvSpPr>
          <p:nvPr/>
        </p:nvSpPr>
        <p:spPr>
          <a:xfrm xmlns:a="http://schemas.openxmlformats.org/drawingml/2006/main">
            <a:off x="457200" y="1657350"/>
            <a:ext cx="6238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C637F"/>
                </a:solidFill>
                <a:latin typeface="Inter"/>
                <a:ea typeface="Inter"/>
                <a:cs typeface="Inter"/>
              </a:defRPr>
            </a:pPr>
            <a:r>
              <a:rPr sz="1800" b="1">
                <a:solidFill>
                  <a:srgbClr val="2C637F"/>
                </a:solidFill>
                <a:latin typeface="Inter"/>
                <a:ea typeface="Inter"/>
                <a:cs typeface="Inter"/>
              </a:rPr>
              <a:t>SEVERIDAD · MACRO-F1</a:t>
            </a:r>
          </a:p>
        </p:txBody>
      </p:sp>
      <p:sp>
        <p:nvSpPr>
          <p:cNvPr id="5" name="">
            <a:extLst xmlns:a="http://schemas.openxmlformats.org/drawingml/2006/main">
              <a:ext uri="{FF2B5EF4-FFF2-40B4-BE49-F238E27FC236}">
                <a16:creationId xmlns:a16="http://schemas.microsoft.com/office/drawing/2014/main" id="{80F746C4-C393-4C6F-855D-D763BEFC476F}"/>
              </a:ext>
            </a:extLst>
          </p:cNvPr>
          <p:cNvSpPr>
            <a:spLocks xmlns:a="http://schemas.openxmlformats.org/drawingml/2006/main" noGrp="1"/>
          </p:cNvSpPr>
          <p:nvPr/>
        </p:nvSpPr>
        <p:spPr>
          <a:xfrm xmlns:a="http://schemas.openxmlformats.org/drawingml/2006/main">
            <a:off x="457200" y="2143125"/>
            <a:ext cx="6286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925" b="1">
                <a:solidFill>
                  <a:srgbClr val="2C637F"/>
                </a:solidFill>
                <a:latin typeface="Inter"/>
                <a:ea typeface="Inter"/>
                <a:cs typeface="Inter"/>
              </a:defRPr>
            </a:pPr>
            <a:r>
              <a:rPr sz="5925" b="1">
                <a:solidFill>
                  <a:srgbClr val="2C637F"/>
                </a:solidFill>
                <a:latin typeface="Inter"/>
                <a:ea typeface="Inter"/>
                <a:cs typeface="Inter"/>
              </a:rPr>
              <a:t>0.60798</a:t>
            </a:r>
          </a:p>
        </p:txBody>
      </p:sp>
      <p:sp>
        <p:nvSpPr>
          <p:cNvPr id="6" name="">
            <a:extLst xmlns:a="http://schemas.openxmlformats.org/drawingml/2006/main">
              <a:ext uri="{FF2B5EF4-FFF2-40B4-BE49-F238E27FC236}">
                <a16:creationId xmlns:a16="http://schemas.microsoft.com/office/drawing/2014/main" id="{B5A89058-E461-4903-9A2C-C4E8B4F0FF5C}"/>
              </a:ext>
            </a:extLst>
          </p:cNvPr>
          <p:cNvSpPr>
            <a:spLocks xmlns:a="http://schemas.openxmlformats.org/drawingml/2006/main" noGrp="1"/>
          </p:cNvSpPr>
          <p:nvPr/>
        </p:nvSpPr>
        <p:spPr>
          <a:xfrm xmlns:a="http://schemas.openxmlformats.org/drawingml/2006/main">
            <a:off x="457200" y="3343275"/>
            <a:ext cx="59055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52E3C"/>
                </a:solidFill>
                <a:latin typeface="Inter"/>
                <a:ea typeface="Inter"/>
                <a:cs typeface="Inter"/>
              </a:defRPr>
            </a:pPr>
            <a:r>
              <a:rPr sz="2100" b="0">
                <a:solidFill>
                  <a:srgbClr val="152E3C"/>
                </a:solidFill>
                <a:latin typeface="Inter"/>
                <a:ea typeface="Inter"/>
                <a:cs typeface="Inter"/>
              </a:rPr>
              <a:t>3.º / 16 equipos</a:t>
            </a:r>
          </a:p>
        </p:txBody>
      </p:sp>
      <p:sp>
        <p:nvSpPr>
          <p:cNvPr id="7" name="">
            <a:extLst xmlns:a="http://schemas.openxmlformats.org/drawingml/2006/main">
              <a:ext uri="{FF2B5EF4-FFF2-40B4-BE49-F238E27FC236}">
                <a16:creationId xmlns:a16="http://schemas.microsoft.com/office/drawing/2014/main" id="{903166F1-7B0D-4C7A-AD15-7E9483E66BF9}"/>
              </a:ext>
            </a:extLst>
          </p:cNvPr>
          <p:cNvSpPr>
            <a:spLocks xmlns:a="http://schemas.openxmlformats.org/drawingml/2006/main" noGrp="1"/>
          </p:cNvSpPr>
          <p:nvPr/>
        </p:nvSpPr>
        <p:spPr>
          <a:xfrm xmlns:a="http://schemas.openxmlformats.org/drawingml/2006/main">
            <a:off x="457200" y="4219575"/>
            <a:ext cx="62388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6766E"/>
                </a:solidFill>
                <a:latin typeface="Inter"/>
                <a:ea typeface="Inter"/>
                <a:cs typeface="Inter"/>
              </a:defRPr>
            </a:pPr>
            <a:r>
              <a:rPr sz="2175" b="0">
                <a:solidFill>
                  <a:srgbClr val="16766E"/>
                </a:solidFill>
                <a:latin typeface="Inter"/>
                <a:ea typeface="Inter"/>
                <a:cs typeface="Inter"/>
              </a:rPr>
              <a:t>Ancla 0.60678   →   Final 0.60798</a:t>
            </a:r>
          </a:p>
          <a:p xmlns:a="http://schemas.openxmlformats.org/drawingml/2006/main">
            <a:pPr>
              <a:defRPr sz="2175" b="0">
                <a:solidFill>
                  <a:srgbClr val="16766E"/>
                </a:solidFill>
                <a:latin typeface="Inter"/>
                <a:ea typeface="Inter"/>
                <a:cs typeface="Inter"/>
              </a:defRPr>
            </a:pPr>
            <a:r>
              <a:rPr sz="2175" b="0">
                <a:solidFill>
                  <a:srgbClr val="16766E"/>
                </a:solidFill>
                <a:latin typeface="Inter"/>
                <a:ea typeface="Inter"/>
                <a:cs typeface="Inter"/>
              </a:rPr>
              <a:t>Cambio: +0.00120</a:t>
            </a:r>
          </a:p>
        </p:txBody>
      </p:sp>
      <p:sp>
        <p:nvSpPr>
          <p:cNvPr id="8" name="">
            <a:extLst xmlns:a="http://schemas.openxmlformats.org/drawingml/2006/main">
              <a:ext uri="{FF2B5EF4-FFF2-40B4-BE49-F238E27FC236}">
                <a16:creationId xmlns:a16="http://schemas.microsoft.com/office/drawing/2014/main" id="{D0559461-08B8-4425-A61C-A9927732EEC9}"/>
              </a:ext>
            </a:extLst>
          </p:cNvPr>
          <p:cNvSpPr>
            <a:spLocks xmlns:a="http://schemas.openxmlformats.org/drawingml/2006/main" noGrp="1"/>
          </p:cNvSpPr>
          <p:nvPr/>
        </p:nvSpPr>
        <p:spPr>
          <a:xfrm xmlns:a="http://schemas.openxmlformats.org/drawingml/2006/main">
            <a:off x="7486650" y="1657350"/>
            <a:ext cx="42195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C637F"/>
                </a:solidFill>
                <a:latin typeface="Inter"/>
                <a:ea typeface="Inter"/>
                <a:cs typeface="Inter"/>
              </a:defRPr>
            </a:pPr>
            <a:r>
              <a:rPr sz="1800" b="1">
                <a:solidFill>
                  <a:srgbClr val="2C637F"/>
                </a:solidFill>
                <a:latin typeface="Inter"/>
                <a:ea typeface="Inter"/>
                <a:cs typeface="Inter"/>
              </a:rPr>
              <a:t>TIPOS · MICRO-F1</a:t>
            </a:r>
          </a:p>
        </p:txBody>
      </p:sp>
      <p:sp>
        <p:nvSpPr>
          <p:cNvPr id="9" name="">
            <a:extLst xmlns:a="http://schemas.openxmlformats.org/drawingml/2006/main">
              <a:ext uri="{FF2B5EF4-FFF2-40B4-BE49-F238E27FC236}">
                <a16:creationId xmlns:a16="http://schemas.microsoft.com/office/drawing/2014/main" id="{1E7A9A97-23E2-4F1C-BDEF-5653761BE7A9}"/>
              </a:ext>
            </a:extLst>
          </p:cNvPr>
          <p:cNvSpPr>
            <a:spLocks xmlns:a="http://schemas.openxmlformats.org/drawingml/2006/main" noGrp="1"/>
          </p:cNvSpPr>
          <p:nvPr/>
        </p:nvSpPr>
        <p:spPr>
          <a:xfrm xmlns:a="http://schemas.openxmlformats.org/drawingml/2006/main">
            <a:off x="7486650" y="2143125"/>
            <a:ext cx="421957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400" b="1">
                <a:solidFill>
                  <a:srgbClr val="2C637F"/>
                </a:solidFill>
                <a:latin typeface="Inter"/>
                <a:ea typeface="Inter"/>
                <a:cs typeface="Inter"/>
              </a:defRPr>
            </a:pPr>
            <a:r>
              <a:rPr sz="5400" b="1">
                <a:solidFill>
                  <a:srgbClr val="2C637F"/>
                </a:solidFill>
                <a:latin typeface="Inter"/>
                <a:ea typeface="Inter"/>
                <a:cs typeface="Inter"/>
              </a:rPr>
              <a:t>0.87016</a:t>
            </a:r>
          </a:p>
        </p:txBody>
      </p:sp>
      <p:sp>
        <p:nvSpPr>
          <p:cNvPr id="10" name="">
            <a:extLst xmlns:a="http://schemas.openxmlformats.org/drawingml/2006/main">
              <a:ext uri="{FF2B5EF4-FFF2-40B4-BE49-F238E27FC236}">
                <a16:creationId xmlns:a16="http://schemas.microsoft.com/office/drawing/2014/main" id="{A871E5D2-153C-4729-BB37-AD1A8E853718}"/>
              </a:ext>
            </a:extLst>
          </p:cNvPr>
          <p:cNvSpPr>
            <a:spLocks xmlns:a="http://schemas.openxmlformats.org/drawingml/2006/main" noGrp="1"/>
          </p:cNvSpPr>
          <p:nvPr/>
        </p:nvSpPr>
        <p:spPr>
          <a:xfrm xmlns:a="http://schemas.openxmlformats.org/drawingml/2006/main">
            <a:off x="7486650" y="3343275"/>
            <a:ext cx="421957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52E3C"/>
                </a:solidFill>
                <a:latin typeface="Inter"/>
                <a:ea typeface="Inter"/>
                <a:cs typeface="Inter"/>
              </a:defRPr>
            </a:pPr>
            <a:r>
              <a:rPr sz="2100" b="0">
                <a:solidFill>
                  <a:srgbClr val="152E3C"/>
                </a:solidFill>
                <a:latin typeface="Inter"/>
                <a:ea typeface="Inter"/>
                <a:cs typeface="Inter"/>
              </a:rPr>
              <a:t>6.º / 15 equipos</a:t>
            </a:r>
          </a:p>
        </p:txBody>
      </p:sp>
      <p:sp>
        <p:nvSpPr>
          <p:cNvPr id="11" name="">
            <a:extLst xmlns:a="http://schemas.openxmlformats.org/drawingml/2006/main">
              <a:ext uri="{FF2B5EF4-FFF2-40B4-BE49-F238E27FC236}">
                <a16:creationId xmlns:a16="http://schemas.microsoft.com/office/drawing/2014/main" id="{9F2AF0E1-18B7-4643-94D6-55DBB1AB0F88}"/>
              </a:ext>
            </a:extLst>
          </p:cNvPr>
          <p:cNvSpPr>
            <a:spLocks xmlns:a="http://schemas.openxmlformats.org/drawingml/2006/main" noGrp="1"/>
          </p:cNvSpPr>
          <p:nvPr/>
        </p:nvSpPr>
        <p:spPr>
          <a:xfrm xmlns:a="http://schemas.openxmlformats.org/drawingml/2006/main">
            <a:off x="7486650" y="4219575"/>
            <a:ext cx="42195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2E3C"/>
                </a:solidFill>
                <a:latin typeface="Inter"/>
                <a:ea typeface="Inter"/>
                <a:cs typeface="Inter"/>
              </a:defRPr>
            </a:pPr>
            <a:r>
              <a:rPr sz="2175" b="0">
                <a:solidFill>
                  <a:srgbClr val="152E3C"/>
                </a:solidFill>
                <a:latin typeface="Inter"/>
                <a:ea typeface="Inter"/>
                <a:cs typeface="Inter"/>
              </a:rPr>
              <a:t>Predicciones S2</a:t>
            </a:r>
          </a:p>
          <a:p xmlns:a="http://schemas.openxmlformats.org/drawingml/2006/main">
            <a:pPr>
              <a:defRPr sz="2175" b="0">
                <a:solidFill>
                  <a:srgbClr val="152E3C"/>
                </a:solidFill>
                <a:latin typeface="Inter"/>
                <a:ea typeface="Inter"/>
                <a:cs typeface="Inter"/>
              </a:defRPr>
            </a:pPr>
            <a:r>
              <a:rPr sz="2175" b="0">
                <a:solidFill>
                  <a:srgbClr val="152E3C"/>
                </a:solidFill>
                <a:latin typeface="Inter"/>
                <a:ea typeface="Inter"/>
                <a:cs typeface="Inter"/>
              </a:rPr>
              <a:t>sin cambios finales</a:t>
            </a:r>
          </a:p>
        </p:txBody>
      </p:sp>
      <p:sp>
        <p:nvSpPr>
          <p:cNvPr id="12" name="">
            <a:extLst xmlns:a="http://schemas.openxmlformats.org/drawingml/2006/main">
              <a:ext uri="{FF2B5EF4-FFF2-40B4-BE49-F238E27FC236}">
                <a16:creationId xmlns:a16="http://schemas.microsoft.com/office/drawing/2014/main" id="{55CD43A5-AF9D-4820-B311-E68B6C21193D}"/>
              </a:ext>
            </a:extLst>
          </p:cNvPr>
          <p:cNvSpPr>
            <a:spLocks xmlns:a="http://schemas.openxmlformats.org/drawingml/2006/main" noGrp="1"/>
          </p:cNvSpPr>
          <p:nvPr/>
        </p:nvSpPr>
        <p:spPr>
          <a:xfrm xmlns:a="http://schemas.openxmlformats.org/drawingml/2006/main">
            <a:off x="457200" y="5857875"/>
            <a:ext cx="11239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06674"/>
                </a:solidFill>
                <a:latin typeface="Inter"/>
                <a:ea typeface="Inter"/>
                <a:cs typeface="Inter"/>
              </a:defRPr>
            </a:pPr>
            <a:r>
              <a:rPr sz="1800" b="0">
                <a:solidFill>
                  <a:srgbClr val="506674"/>
                </a:solidFill>
                <a:latin typeface="Inter"/>
                <a:ea typeface="Inter"/>
                <a:cs typeface="Inter"/>
              </a:rPr>
              <a:t>El test oficial orientó la selección. La transferencia entre instituciones sigue sin evaluarse.</a:t>
            </a:r>
          </a:p>
        </p:txBody>
      </p:sp>
    </p:spTree>
    <p:extLst>
      <p:ext uri="{BB962C8B-B14F-4D97-AF65-F5344CB8AC3E}">
        <p14:creationId xmlns:p14="http://schemas.microsoft.com/office/powerpoint/2010/main" val="3756368278"/>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14" name="Picture 7"/>
          <p:cNvPicPr>
            <a:picLocks xmlns:a="http://schemas.openxmlformats.org/drawingml/2006/main" noChangeAspect="1"/>
          </p:cNvPicPr>
          <p:nvPr/>
        </p:nvPicPr>
        <p:blipFill>
          <a:blip xmlns:r="http://schemas.openxmlformats.org/officeDocument/2006/relationships" xmlns:a="http://schemas.openxmlformats.org/drawingml/2006/main" r:embed="R583d068c73cb4cd9"/>
          <a:srcRect xmlns:a="http://schemas.openxmlformats.org/drawingml/2006/main" l="0" t="25645" r="0" b="61469"/>
          <a:stretch xmlns:a="http://schemas.openxmlformats.org/drawingml/2006/main">
            <a:fillRect l="0" t="0" r="0" b="0"/>
          </a:stretch>
        </p:blipFill>
        <p:spPr>
          <a:xfrm xmlns:a="http://schemas.openxmlformats.org/drawingml/2006/main">
            <a:off x="0" y="4763386"/>
            <a:ext cx="12192000" cy="2094614"/>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BA89C229-693E-4DF2-8232-AC4D73017229}"/>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525" b="1">
                <a:solidFill>
                  <a:srgbClr val="2C637F"/>
                </a:solidFill>
                <a:latin typeface="Inter"/>
                <a:ea typeface="Inter"/>
                <a:cs typeface="Inter"/>
              </a:defRPr>
            </a:pPr>
            <a:r>
              <a:rPr sz="3525" b="1">
                <a:solidFill>
                  <a:srgbClr val="2C637F"/>
                </a:solidFill>
                <a:latin typeface="Inter"/>
                <a:ea typeface="Inter"/>
                <a:cs typeface="Inter"/>
              </a:rPr>
              <a:t>Una estrategia que se puede</a:t>
            </a:r>
          </a:p>
          <a:p xmlns:a="http://schemas.openxmlformats.org/drawingml/2006/main">
            <a:pPr>
              <a:defRPr sz="3525" b="1">
                <a:solidFill>
                  <a:srgbClr val="2C637F"/>
                </a:solidFill>
                <a:latin typeface="Inter"/>
                <a:ea typeface="Inter"/>
                <a:cs typeface="Inter"/>
              </a:defRPr>
            </a:pPr>
            <a:r>
              <a:rPr sz="3525" b="1">
                <a:solidFill>
                  <a:srgbClr val="2C637F"/>
                </a:solidFill>
                <a:latin typeface="Inter"/>
                <a:ea typeface="Inter"/>
                <a:cs typeface="Inter"/>
              </a:rPr>
              <a:t>poner a prueba en otros contextos</a:t>
            </a:r>
          </a:p>
        </p:txBody>
      </p:sp>
      <p:sp>
        <p:nvSpPr>
          <p:cNvPr id="9" name="">
            <a:extLst xmlns:a="http://schemas.openxmlformats.org/drawingml/2006/main">
              <a:ext uri="{FF2B5EF4-FFF2-40B4-BE49-F238E27FC236}">
                <a16:creationId xmlns:a16="http://schemas.microsoft.com/office/drawing/2014/main" id="{28A0487A-6470-460E-85E1-920FCBF09DAB}"/>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10" name="">
            <a:extLst xmlns:a="http://schemas.openxmlformats.org/drawingml/2006/main">
              <a:ext uri="{FF2B5EF4-FFF2-40B4-BE49-F238E27FC236}">
                <a16:creationId xmlns:a16="http://schemas.microsoft.com/office/drawing/2014/main" id="{05691853-E905-42D2-BC82-F50579A0F360}"/>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10</a:t>
            </a:r>
          </a:p>
        </p:txBody>
      </p:sp>
      <p:sp>
        <p:nvSpPr>
          <p:cNvPr id="11" name="">
            <a:extLst xmlns:a="http://schemas.openxmlformats.org/drawingml/2006/main">
              <a:ext uri="{FF2B5EF4-FFF2-40B4-BE49-F238E27FC236}">
                <a16:creationId xmlns:a16="http://schemas.microsoft.com/office/drawing/2014/main" id="{EA873620-7186-4473-BD26-39D44F2B0DB1}"/>
              </a:ext>
            </a:extLst>
          </p:cNvPr>
          <p:cNvSpPr>
            <a:spLocks xmlns:a="http://schemas.openxmlformats.org/drawingml/2006/main" noGrp="1"/>
          </p:cNvSpPr>
          <p:nvPr/>
        </p:nvSpPr>
        <p:spPr>
          <a:xfrm xmlns:a="http://schemas.openxmlformats.org/drawingml/2006/main">
            <a:off x="476250" y="2085975"/>
            <a:ext cx="110490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52E3C"/>
                </a:solidFill>
                <a:latin typeface="Inter"/>
                <a:ea typeface="Inter"/>
                <a:cs typeface="Inter"/>
              </a:defRPr>
            </a:pPr>
            <a:r>
              <a:rPr sz="2325" b="0">
                <a:solidFill>
                  <a:srgbClr val="152E3C"/>
                </a:solidFill>
                <a:latin typeface="Inter"/>
                <a:ea typeface="Inter"/>
                <a:cs typeface="Inter"/>
              </a:rPr>
              <a:t>Comparar familias con el mismo protocolo</a:t>
            </a:r>
          </a:p>
          <a:p xmlns:a="http://schemas.openxmlformats.org/drawingml/2006/main">
            <a:pPr>
              <a:defRPr sz="2325" b="0">
                <a:solidFill>
                  <a:srgbClr val="152E3C"/>
                </a:solidFill>
                <a:latin typeface="Inter"/>
                <a:ea typeface="Inter"/>
                <a:cs typeface="Inter"/>
              </a:defRPr>
            </a:pPr>
            <a:r>
              <a:rPr sz="2325" b="0">
                <a:solidFill>
                  <a:srgbClr val="152E3C"/>
                </a:solidFill>
                <a:latin typeface="Inter"/>
                <a:ea typeface="Inter"/>
                <a:cs typeface="Inter"/>
              </a:rPr>
              <a:t>Adaptar salidas y pérdidas a las etiquetas</a:t>
            </a:r>
          </a:p>
          <a:p xmlns:a="http://schemas.openxmlformats.org/drawingml/2006/main">
            <a:pPr>
              <a:defRPr sz="2325" b="0">
                <a:solidFill>
                  <a:srgbClr val="152E3C"/>
                </a:solidFill>
                <a:latin typeface="Inter"/>
                <a:ea typeface="Inter"/>
                <a:cs typeface="Inter"/>
              </a:defRPr>
            </a:pPr>
            <a:r>
              <a:rPr sz="2325" b="0">
                <a:solidFill>
                  <a:srgbClr val="152E3C"/>
                </a:solidFill>
                <a:latin typeface="Inter"/>
                <a:ea typeface="Inter"/>
                <a:cs typeface="Inter"/>
              </a:rPr>
              <a:t>Evaluar aumentación por clase y tipo de error</a:t>
            </a:r>
          </a:p>
        </p:txBody>
      </p:sp>
      <p:sp>
        <p:nvSpPr>
          <p:cNvPr id="12" name="">
            <a:extLst xmlns:a="http://schemas.openxmlformats.org/drawingml/2006/main">
              <a:ext uri="{FF2B5EF4-FFF2-40B4-BE49-F238E27FC236}">
                <a16:creationId xmlns:a16="http://schemas.microsoft.com/office/drawing/2014/main" id="{CD28B465-57E9-49A9-B500-AE476E44CB8B}"/>
              </a:ext>
            </a:extLst>
          </p:cNvPr>
          <p:cNvSpPr>
            <a:spLocks xmlns:a="http://schemas.openxmlformats.org/drawingml/2006/main" noGrp="1"/>
          </p:cNvSpPr>
          <p:nvPr/>
        </p:nvSpPr>
        <p:spPr>
          <a:xfrm xmlns:a="http://schemas.openxmlformats.org/drawingml/2006/main">
            <a:off x="476250" y="4238625"/>
            <a:ext cx="11049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C637F"/>
                </a:solidFill>
                <a:latin typeface="Inter"/>
                <a:ea typeface="Inter"/>
                <a:cs typeface="Inter"/>
              </a:defRPr>
            </a:pPr>
            <a:r>
              <a:rPr sz="2250" b="1">
                <a:solidFill>
                  <a:srgbClr val="2C637F"/>
                </a:solidFill>
                <a:latin typeface="Inter"/>
                <a:ea typeface="Inter"/>
                <a:cs typeface="Inter"/>
              </a:rPr>
              <a:t>Próximas pruebas</a:t>
            </a:r>
          </a:p>
        </p:txBody>
      </p:sp>
      <p:sp>
        <p:nvSpPr>
          <p:cNvPr id="13" name="">
            <a:extLst xmlns:a="http://schemas.openxmlformats.org/drawingml/2006/main">
              <a:ext uri="{FF2B5EF4-FFF2-40B4-BE49-F238E27FC236}">
                <a16:creationId xmlns:a16="http://schemas.microsoft.com/office/drawing/2014/main" id="{43172547-8360-4AF9-BE15-82BC66E3F849}"/>
              </a:ext>
            </a:extLst>
          </p:cNvPr>
          <p:cNvSpPr>
            <a:spLocks xmlns:a="http://schemas.openxmlformats.org/drawingml/2006/main" noGrp="1"/>
          </p:cNvSpPr>
          <p:nvPr/>
        </p:nvSpPr>
        <p:spPr>
          <a:xfrm xmlns:a="http://schemas.openxmlformats.org/drawingml/2006/main">
            <a:off x="476250" y="4867275"/>
            <a:ext cx="11049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2E3C"/>
                </a:solidFill>
                <a:latin typeface="Inter"/>
                <a:ea typeface="Inter"/>
                <a:cs typeface="Inter"/>
              </a:defRPr>
            </a:pPr>
            <a:r>
              <a:rPr sz="2175" b="0">
                <a:solidFill>
                  <a:srgbClr val="152E3C"/>
                </a:solidFill>
                <a:latin typeface="Inter"/>
                <a:ea typeface="Inter"/>
                <a:cs typeface="Inter"/>
              </a:rPr>
              <a:t>Auditoría de variantes · Control de balance y pesos</a:t>
            </a:r>
          </a:p>
          <a:p xmlns:a="http://schemas.openxmlformats.org/drawingml/2006/main">
            <a:pPr>
              <a:defRPr sz="2175" b="0">
                <a:solidFill>
                  <a:srgbClr val="152E3C"/>
                </a:solidFill>
                <a:latin typeface="Inter"/>
                <a:ea typeface="Inter"/>
                <a:cs typeface="Inter"/>
              </a:defRPr>
            </a:pPr>
            <a:r>
              <a:rPr sz="2175" b="0">
                <a:solidFill>
                  <a:srgbClr val="152E3C"/>
                </a:solidFill>
                <a:latin typeface="Inter"/>
                <a:ea typeface="Inter"/>
                <a:cs typeface="Inter"/>
              </a:rPr>
              <a:t>Varias semillas · Validación por institución y consenso</a:t>
            </a:r>
          </a:p>
        </p:txBody>
      </p:sp>
    </p:spTree>
    <p:extLst>
      <p:ext uri="{BB962C8B-B14F-4D97-AF65-F5344CB8AC3E}">
        <p14:creationId xmlns:p14="http://schemas.microsoft.com/office/powerpoint/2010/main" val="2346949709"/>
      </p:ext>
    </p:extLst>
  </p:cSld>
</p:sld>
</file>

<file path=ppt/theme/theme1.xml><?xml version="1.0" encoding="utf-8"?>
<a:theme xmlns:a="http://schemas.openxmlformats.org/drawingml/2006/main" name="Default Codex Theme">
  <a:themeElements>
    <a:clrScheme name="Color Block Theme">
      <a:dk1>
        <a:srgbClr val="000000"/>
      </a:dk1>
      <a:lt1>
        <a:srgbClr val="FFFFFF"/>
      </a:lt1>
      <a:dk2>
        <a:srgbClr val="393939"/>
      </a:dk2>
      <a:lt2>
        <a:srgbClr val="F5F5F5"/>
      </a:lt2>
      <a:accent1>
        <a:srgbClr val="2ED978"/>
      </a:accent1>
      <a:accent2>
        <a:srgbClr val="9FB6FE"/>
      </a:accent2>
      <a:accent3>
        <a:srgbClr val="F3F161"/>
      </a:accent3>
      <a:accent4>
        <a:srgbClr val="FF5F27"/>
      </a:accent4>
      <a:accent5>
        <a:srgbClr val="5EC4FF"/>
      </a:accent5>
      <a:accent6>
        <a:srgbClr val="3C7DA3"/>
      </a:accent6>
      <a:hlink>
        <a:srgbClr val="FFA83A"/>
      </a:hlink>
      <a:folHlink>
        <a:srgbClr val="96607D"/>
      </a:folHlink>
    </a:clrScheme>
    <a:fontScheme name="Inter">
      <a:majorFont>
        <a:latin typeface="Inter"/>
        <a:ea typeface=""/>
        <a:cs typeface=""/>
      </a:majorFont>
      <a:minorFont>
        <a:latin typeface="Inter"/>
        <a:ea typeface=""/>
        <a:cs typeface=""/>
      </a:minorFont>
    </a:fontScheme>
    <a:fmtScheme name="Color Block Them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2026-09-21T19:29:25.4270000Z</dcterms:created>
  <dcterms:modified xsi:type="dcterms:W3CDTF">2026-09-21T19:29:25.4270000Z</dcterms:modified>
</coreProperties>
</file>