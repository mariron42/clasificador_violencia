
<file path=[Content_Types].xml><?xml version="1.0" encoding="utf-8"?>
<Types xmlns="http://schemas.openxmlformats.org/package/2006/content-types">
  <Default Extension="xml" ContentType="application/vnd.openxmlformats-package.core-properties+xml"/>
  <Default Extension="png" ContentType="image/png"/>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fa49092e40a4b66" /><Relationship Type="http://schemas.openxmlformats.org/officeDocument/2006/relationships/extended-properties" Target="/docProps/app.xml" Id="Rf309213fb3df43a4" /><Relationship Type="http://schemas.openxmlformats.org/officeDocument/2006/relationships/officeDocument" Target="/ppt/presentation.xml" Id="R05cbc3182e554c3e"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507bf79bea10453c"/>
  </p:sldMasterIdLst>
  <p:notesMasterIdLst>
    <p:notesMasterId xmlns:r="http://schemas.openxmlformats.org/officeDocument/2006/relationships" r:id="Ra94cd163933b4bea"/>
  </p:notesMasterIdLst>
  <p:sldIdLst>
    <p:sldId xmlns:r="http://schemas.openxmlformats.org/officeDocument/2006/relationships" id="256" r:id="R9c25e256470441e5"/>
    <p:sldId xmlns:r="http://schemas.openxmlformats.org/officeDocument/2006/relationships" id="257" r:id="R2aee2aa7dc524a0f"/>
    <p:sldId xmlns:r="http://schemas.openxmlformats.org/officeDocument/2006/relationships" id="258" r:id="R2d4f09a3cf8345b4"/>
    <p:sldId xmlns:r="http://schemas.openxmlformats.org/officeDocument/2006/relationships" id="259" r:id="R39c76a8233f74587"/>
    <p:sldId xmlns:r="http://schemas.openxmlformats.org/officeDocument/2006/relationships" id="260" r:id="R2428024feaa741f8"/>
    <p:sldId xmlns:r="http://schemas.openxmlformats.org/officeDocument/2006/relationships" id="261" r:id="R59de7d10a2c54740"/>
    <p:sldId xmlns:r="http://schemas.openxmlformats.org/officeDocument/2006/relationships" id="262" r:id="Ra78df2d8d5d748ed"/>
    <p:sldId xmlns:r="http://schemas.openxmlformats.org/officeDocument/2006/relationships" id="263" r:id="R9b98cbc2845b4ee8"/>
    <p:sldId xmlns:r="http://schemas.openxmlformats.org/officeDocument/2006/relationships" id="264" r:id="R0a52e14d45bf4900"/>
    <p:sldId xmlns:r="http://schemas.openxmlformats.org/officeDocument/2006/relationships" id="265" r:id="Rea8eab9bc2684378"/>
    <p:sldId xmlns:r="http://schemas.openxmlformats.org/officeDocument/2006/relationships" id="266" r:id="R37091346a3cb4c7a"/>
  </p:sldIdLst>
  <p:sldSz cx="12192000" cy="6858000"/>
  <p:notesSz cx="6858000" cy="9144000"/>
  <p:embeddedFontLst>
    <p:embeddedFont>
      <p:font typeface="Inter"/>
      <p:regular xmlns:r="http://schemas.openxmlformats.org/officeDocument/2006/relationships" r:id="Rc86fe09f81bd4829"/>
      <p:bold xmlns:r="http://schemas.openxmlformats.org/officeDocument/2006/relationships" r:id="R73f2699c43dc4688"/>
    </p:embeddedFont>
    <p:embeddedFont>
      <p:font typeface="Inter Medium"/>
      <p:regular xmlns:r="http://schemas.openxmlformats.org/officeDocument/2006/relationships" r:id="R59330013d2184da9"/>
    </p:embeddedFont>
    <p:embeddedFont>
      <p:font typeface="Inter SemiBold"/>
      <p:regular xmlns:r="http://schemas.openxmlformats.org/officeDocument/2006/relationships" r:id="R5aa366dfe2b246ec"/>
      <p:bold xmlns:r="http://schemas.openxmlformats.org/officeDocument/2006/relationships" r:id="Rabec1c9d35104314"/>
    </p:embeddedFont>
    <p:embeddedFont>
      <p:font typeface="OpenAI Sans"/>
      <p:regular xmlns:r="http://schemas.openxmlformats.org/officeDocument/2006/relationships" r:id="Re7aa044a3aee45ee"/>
      <p:bold xmlns:r="http://schemas.openxmlformats.org/officeDocument/2006/relationships" r:id="Rab419a235eaa4e3b"/>
      <p:italic xmlns:r="http://schemas.openxmlformats.org/officeDocument/2006/relationships" r:id="R9cc94bd0197243fe"/>
      <p:boldItalic xmlns:r="http://schemas.openxmlformats.org/officeDocument/2006/relationships" r:id="Rfc8401cbdda249ac"/>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6834eb5f1f464a0f" /><Relationship Type="http://schemas.openxmlformats.org/officeDocument/2006/relationships/slideMaster" Target="/ppt/slideMasters/slideMaster1.xml" Id="R507bf79bea10453c" /><Relationship Type="http://schemas.openxmlformats.org/officeDocument/2006/relationships/notesMaster" Target="/ppt/notesMasters/notesMaster1.xml" Id="Ra94cd163933b4bea" /><Relationship Type="http://schemas.openxmlformats.org/officeDocument/2006/relationships/presProps" Target="/ppt/presProps.xml" Id="Rda04571d47914390" /><Relationship Type="http://schemas.openxmlformats.org/officeDocument/2006/relationships/viewProps" Target="/ppt/viewProps.xml" Id="Rf4f786ec935d4bf2" /><Relationship Type="http://schemas.openxmlformats.org/officeDocument/2006/relationships/tableStyles" Target="/ppt/tableStyles.xml" Id="R8b2e16e67a8d4542" /><Relationship Type="http://schemas.openxmlformats.org/officeDocument/2006/relationships/font" Target="/ppt/fonts/font.dat" Id="Rc86fe09f81bd4829" /><Relationship Type="http://schemas.openxmlformats.org/officeDocument/2006/relationships/font" Target="/ppt/fonts/font2.dat" Id="R73f2699c43dc4688" /><Relationship Type="http://schemas.openxmlformats.org/officeDocument/2006/relationships/font" Target="/ppt/fonts/font3.dat" Id="R59330013d2184da9" /><Relationship Type="http://schemas.openxmlformats.org/officeDocument/2006/relationships/font" Target="/ppt/fonts/font4.dat" Id="R5aa366dfe2b246ec" /><Relationship Type="http://schemas.openxmlformats.org/officeDocument/2006/relationships/font" Target="/ppt/fonts/font5.dat" Id="Rabec1c9d35104314" /><Relationship Type="http://schemas.openxmlformats.org/officeDocument/2006/relationships/font" Target="/ppt/fonts/font6.dat" Id="Re7aa044a3aee45ee" /><Relationship Type="http://schemas.openxmlformats.org/officeDocument/2006/relationships/font" Target="/ppt/fonts/font7.dat" Id="Rab419a235eaa4e3b" /><Relationship Type="http://schemas.openxmlformats.org/officeDocument/2006/relationships/font" Target="/ppt/fonts/font8.dat" Id="R9cc94bd0197243fe" /><Relationship Type="http://schemas.openxmlformats.org/officeDocument/2006/relationships/font" Target="/ppt/fonts/font9.dat" Id="Rfc8401cbdda249ac" /><Relationship Type="http://schemas.openxmlformats.org/officeDocument/2006/relationships/slide" Target="/ppt/slides/slide1.xml" Id="R9c25e256470441e5" /><Relationship Type="http://schemas.openxmlformats.org/officeDocument/2006/relationships/slide" Target="/ppt/slides/slide2.xml" Id="R2aee2aa7dc524a0f" /><Relationship Type="http://schemas.openxmlformats.org/officeDocument/2006/relationships/slide" Target="/ppt/slides/slide3.xml" Id="R2d4f09a3cf8345b4" /><Relationship Type="http://schemas.openxmlformats.org/officeDocument/2006/relationships/slide" Target="/ppt/slides/slide4.xml" Id="R39c76a8233f74587" /><Relationship Type="http://schemas.openxmlformats.org/officeDocument/2006/relationships/slide" Target="/ppt/slides/slide5.xml" Id="R2428024feaa741f8" /><Relationship Type="http://schemas.openxmlformats.org/officeDocument/2006/relationships/slide" Target="/ppt/slides/slide6.xml" Id="R59de7d10a2c54740" /><Relationship Type="http://schemas.openxmlformats.org/officeDocument/2006/relationships/slide" Target="/ppt/slides/slide7.xml" Id="Ra78df2d8d5d748ed" /><Relationship Type="http://schemas.openxmlformats.org/officeDocument/2006/relationships/slide" Target="/ppt/slides/slide8.xml" Id="R9b98cbc2845b4ee8" /><Relationship Type="http://schemas.openxmlformats.org/officeDocument/2006/relationships/slide" Target="/ppt/slides/slide9.xml" Id="R0a52e14d45bf4900" /><Relationship Type="http://schemas.openxmlformats.org/officeDocument/2006/relationships/slide" Target="/ppt/slides/slide10.xml" Id="Rea8eab9bc2684378" /><Relationship Type="http://schemas.openxmlformats.org/officeDocument/2006/relationships/slide" Target="/ppt/slides/slide11.xml" Id="R37091346a3cb4c7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3177518fd75450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0042955752944fa" /><Relationship Type="http://schemas.openxmlformats.org/officeDocument/2006/relationships/notesMaster" Target="/ppt/notesMasters/notesMaster1.xml" Id="Rbfd3f32b94c64bc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921dde7f8d146c2" /><Relationship Type="http://schemas.openxmlformats.org/officeDocument/2006/relationships/notesMaster" Target="/ppt/notesMasters/notesMaster1.xml" Id="R22bba18f00d349f6" /></Relationships>
</file>

<file path=ppt/notesSlides/_rels/notesSlide3.xml.rels>&#65279;<?xml version="1.0" encoding="utf-8"?><Relationships xmlns="http://schemas.openxmlformats.org/package/2006/relationships"><Relationship Type="http://schemas.openxmlformats.org/officeDocument/2006/relationships/slide" Target="/ppt/slides/slide3.xml" Id="R0f286b9a3f8f4906" /><Relationship Type="http://schemas.openxmlformats.org/officeDocument/2006/relationships/notesMaster" Target="/ppt/notesMasters/notesMaster1.xml" Id="R1ce2dd172e9a4d6c" /></Relationships>
</file>

<file path=ppt/notesSlides/_rels/notesSlide4.xml.rels>&#65279;<?xml version="1.0" encoding="utf-8"?><Relationships xmlns="http://schemas.openxmlformats.org/package/2006/relationships"><Relationship Type="http://schemas.openxmlformats.org/officeDocument/2006/relationships/slide" Target="/ppt/slides/slide4.xml" Id="Rd5233bf4a9fb4b54" /><Relationship Type="http://schemas.openxmlformats.org/officeDocument/2006/relationships/notesMaster" Target="/ppt/notesMasters/notesMaster1.xml" Id="R515cbd1b24a44ef7"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a8f828afdc4d5d" /><Relationship Type="http://schemas.openxmlformats.org/officeDocument/2006/relationships/notesMaster" Target="/ppt/notesMasters/notesMaster1.xml" Id="R6c56342b59724640" /></Relationships>
</file>

<file path=ppt/notesSlides/_rels/notesSlide6.xml.rels>&#65279;<?xml version="1.0" encoding="utf-8"?><Relationships xmlns="http://schemas.openxmlformats.org/package/2006/relationships"><Relationship Type="http://schemas.openxmlformats.org/officeDocument/2006/relationships/slide" Target="/ppt/slides/slide6.xml" Id="R67eb4683c1a94165" /><Relationship Type="http://schemas.openxmlformats.org/officeDocument/2006/relationships/notesMaster" Target="/ppt/notesMasters/notesMaster1.xml" Id="R002141b140e14c6e" /></Relationships>
</file>

<file path=ppt/notesSlides/_rels/notesSlide7.xml.rels>&#65279;<?xml version="1.0" encoding="utf-8"?><Relationships xmlns="http://schemas.openxmlformats.org/package/2006/relationships"><Relationship Type="http://schemas.openxmlformats.org/officeDocument/2006/relationships/slide" Target="/ppt/slides/slide7.xml" Id="Ra9f6b540fcab49cc" /><Relationship Type="http://schemas.openxmlformats.org/officeDocument/2006/relationships/notesMaster" Target="/ppt/notesMasters/notesMaster1.xml" Id="R166b4a1788be40e2" /></Relationships>
</file>

<file path=ppt/notesSlides/_rels/notesSlide8.xml.rels>&#65279;<?xml version="1.0" encoding="utf-8"?><Relationships xmlns="http://schemas.openxmlformats.org/package/2006/relationships"><Relationship Type="http://schemas.openxmlformats.org/officeDocument/2006/relationships/slide" Target="/ppt/slides/slide8.xml" Id="R1126878869cc4b1b" /><Relationship Type="http://schemas.openxmlformats.org/officeDocument/2006/relationships/notesMaster" Target="/ppt/notesMasters/notesMaster1.xml" Id="R8dc26ea3c27b4f96" /></Relationships>
</file>

<file path=ppt/notesSlides/_rels/notesSlide9.xml.rels>&#65279;<?xml version="1.0" encoding="utf-8"?><Relationships xmlns="http://schemas.openxmlformats.org/package/2006/relationships"><Relationship Type="http://schemas.openxmlformats.org/officeDocument/2006/relationships/slide" Target="/ppt/slides/slide9.xml" Id="R00a496bb52554574" /><Relationship Type="http://schemas.openxmlformats.org/officeDocument/2006/relationships/notesMaster" Target="/ppt/notesMasters/notesMaster1.xml" Id="R0a73efe3248a4be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32659c2125a4ab7" /><Relationship Type="http://schemas.openxmlformats.org/officeDocument/2006/relationships/notesMaster" Target="/ppt/notesMasters/notesMaster1.xml" Id="Rc3e7391ecac3431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929a54eed134f53" /><Relationship Type="http://schemas.openxmlformats.org/officeDocument/2006/relationships/notesMaster" Target="/ppt/notesMasters/notesMaster1.xml" Id="R9420f3e77d92491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0:00–0:30</a:t>
            </a:r>
            <a:endParaRPr/>
          </a:p>
          <a:p xmlns:a="http://schemas.openxmlformats.org/drawingml/2006/main">
            <a:r>
              <a:t/>
            </a:r>
            <a:endParaRPr/>
          </a:p>
          <a:p xmlns:a="http://schemas.openxmlformats.org/drawingml/2006/main">
            <a:r>
              <a:t>Buenos días. Soy Marcel Herrera Rendón, de la Universidad de Sonora. Voy a contar la estrategia que seguimos para clasificar reportes de violencia en WomenHelp. El punto central es cómo el problema orientó la elección de modelos, las salidas y los datos de entrenamiento. Después de encontrar recetas útiles, limitamos los cambios finales alrededor de una referencia. El corpus ya se explica en otra sesión, por lo que me concentraré en la implementación.</a:t>
            </a:r>
            <a:endParaRPr/>
          </a:p>
          <a:p xmlns:a="http://schemas.openxmlformats.org/drawingml/2006/main">
            <a:r>
              <a:t/>
            </a:r>
            <a:endParaRPr/>
          </a:p>
          <a:p xmlns:a="http://schemas.openxmlformats.org/drawingml/2006/main">
            <a:r>
              <a:t>Source: https://github.com/mariron42/clasificador_violencia/blob/92aa2ad0a8568dc729da674bcc81040d01f64fa4/docs/method.md; https://github.com/mariron42/clasificador_violencia/blob/92aa2ad0a8568dc729da674bcc81040d01f64fa4/docs/results.md (corrected system-description paper).</a:t>
            </a:r>
            <a:endParaRPr/>
          </a:p>
          <a:p xmlns:a="http://schemas.openxmlformats.org/drawingml/2006/main">
            <a:r>
              <a:t/>
            </a:r>
            <a:endParaRPr/>
          </a:p>
          <a:p xmlns:a="http://schemas.openxmlformats.org/drawingml/2006/main">
            <a:r>
              <a:t>Respaldo para preguntas: Buenos días. Soy Marcel Herrera Rendón, de la Universidad de Sonora. Voy a contar la estrategia que seguimos para clasificar reportes de violencia en WomenHelp. El punto central es cómo el problema orientó la elección de modelos, las salidas y los datos de entrenamiento. Después de encontrar recetas útiles, limitamos los cambios finales alrededor de una referencia. El corpus ya se explica en otra sesión, por lo que me concentraré en la implementación.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0:30–1:30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Exploramos tres familias. Los modelos clásicos convierten palabras y caracteres en vectores TF-IDF y después clasifican. Los LLM generativos reciben instrucciones y producen una respuesta estructurada; probamos prompting y adaptación LoRA. Los encoders Transformer, como BETO, aprenden una representación contextual y alimentan cabezas de clasificación. Los LLM también usan Transformers: la distinción aquí es su forma de uso, generativa frente a discriminativa. Los clásicos dieron referencias fuertes y diversidad; los encoders permitieron controlar las salidas. La vía generativa quedó fuera del sistema final. La elección respondió a nuestros experimentos y recursos, no a una superioridad universal de una familia.</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https://github.com/mariron42/clasificador_violencia/blob/92aa2ad0a8568dc729da674bcc81040d01f64fa4/docs/method.md, model families and implementation.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Respaldo para preguntas: Exploramos tres familias. Los modelos clásicos convierten palabras y caracteres en vectores TF-IDF y después clasifican. Los LLM generativos reciben instrucciones y producen una respuesta estructurada; probamos prompting y adaptación LoRA. Los encoders Transformer, como BETO, aprenden una representación contextual y alimentan cabezas de clasificación. Los LLM también usan Transformers: la distinción aquí es su forma de uso, generativa frente a discriminativa. Los clásicos dieron referencias fuertes y diversidad; los encoders permitieron controlar las salidas. La vía generativa quedó fuera del sistema final. La elección respondió a nuestros experimentos y recursos, no a una superioridad universal de una familia.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1:30–2:20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Comparamos las vías de modelado con dos evaluaciones identificadas en pantalla. A la izquierda, sobre los mismos 133 reportes, la exactitud conjunta fue 0.2331 con TF-IDF y SGD, 0.1955 con Gemma LoRA y 0.1053 con Qwen prompting. El piloto LoRA usó 625 ejemplos y 80 pasos. A la derecha, sobre desarrollo completo, BETO superó a la referencia clásica temprana de severidad y al SVM de caracteres para tipos. La conclusión práctica fue mantener los clásicos como referencia y como componentes del ensamble, y profundizar en encoders especializados.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https://github.com/mariron42/clasificador_violencia/blob/92aa2ad0a8568dc729da674bcc81040d01f64fa4/docs/results.md, classical/encoder and common 133-record comparisons.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Respaldo para preguntas: A la izquierda comparo exactamente los mismos 133 reportes. La exactitud conjunta exige acertar severidad y todos los tipos: TF-IDF con SGD obtuvo 0.2331, el piloto Gemma con LoRA 0.1955 y Qwen con prompting 0.1053. El piloto LoRA usó 625 ejemplos y 80 pasos. No representa el potencial de todos los LLM. A la derecha comparo recetas clásicas y BETO en desarrollo completo. En severidad, la referencia clásica temprana dio 0.4974 y BETO focal 0.5429 de macro-F1. Hubo ensambles clásicos posteriores de 0.5047 y 0.5215. En tipos, el SVM de caracteres dio 0.7642 de macro-F1 y 0.8449 de micro-F1; BETO con umbral fijo 0.45 dio 0.8198 y 0.8685. Son recetas distintas, no una ablación aislada de arquitectura. No mezclo ambas escalas porque cambian los datos y la métrica. La conclusión práctica fue conservar referencias clásicas y profundizar en encoders especializados.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2:20–3:35</a:t>
            </a:r>
          </a:p>
          <a:p xmlns:a="http://schemas.openxmlformats.org/drawingml/2006/main">
            <a:r>
              <a:t/>
            </a:r>
          </a:p>
          <a:p xmlns:a="http://schemas.openxmlformats.org/drawingml/2006/main">
            <a:r>
              <a:t>Severidad requiere una sola categoría ordenada: Mild, Medium, High o Severe. Los tipos pueden coexistir: económica, física, patrimonial, psicológica, sexual y vicaria. El diagrama superior muestra la receta BETO aumentada: normalizamos espacios, tokenizamos y truncamos a 512 tokens. La cabeza principal usa softmax, focal ponderada y una penalización ordinal de 0.05. Una cabeza auxiliar aprende siete etiquetas de tipos, incluida N/A, con etiquetas suaves y peso 0.3, solo donde existen. Esta máscara evita interpretar información ausente como negativa. El componente final de tipos es otro BETO: procesa hasta 384 tokens, tiene seis sigmoid y umbral 0.45, y deriva N/A cuando ninguna alcanza el umbral. El código confirma seis salidas, aunque una descripción general del paper habla de siete. Estas decisiones adaptan arquitecturas existentes al problema; no proponemos una arquitectura nueva.</a:t>
            </a:r>
          </a:p>
          <a:p xmlns:a="http://schemas.openxmlformats.org/drawingml/2006/main">
            <a:r>
              <a:t/>
            </a:r>
          </a:p>
          <a:p xmlns:a="http://schemas.openxmlformats.org/drawingml/2006/main">
            <a:r>
              <a:t>Source: https://github.com/mariron42/clasificador_violencia/blob/92aa2ad0a8568dc729da674bcc81040d01f64fa4/scripts/run_competitive_encoder_severity.py; https://github.com/mariron42/clasificador_violencia/blob/92aa2ad0a8568dc729da674bcc81040d01f64fa4/scripts/run_subtask2_encoder_20260429.py; https://github.com/mariron42/clasificador_violencia/blob/92aa2ad0a8568dc729da674bcc81040d01f64fa4/docs/method.md.</a:t>
            </a:r>
          </a:p>
          <a:p xmlns:a="http://schemas.openxmlformats.org/drawingml/2006/main">
            <a:r>
              <a:t/>
            </a:r>
          </a:p>
          <a:p xmlns:a="http://schemas.openxmlformats.org/drawingml/2006/main">
            <a:r>
              <a:t>Respaldo para preguntas: Severidad requiere una sola categoría ordenada: Mild, Medium, High o Severe. Los tipos pueden coexistir: económica, física, patrimonial, psicológica, sexual y vicaria. El diagrama superior muestra la receta BETO aumentada: normalizamos espacios, tokenizamos y truncamos a 512 tokens. La cabeza principal usa softmax, focal ponderada y una penalización ordinal de 0.05. Una cabeza auxiliar aprende siete etiquetas de tipos, incluida N/A, con etiquetas suaves y peso 0.3, solo donde existen. Esta máscara evita interpretar información ausente como negativa. El componente final de tipos es otro BETO: procesa hasta 384 tokens, tiene seis sigmoid y umbral 0.45, y deriva N/A cuando ninguna alcanza el umbral. El código confirma seis salidas, aunque una descripción general del paper habla de siete. Estas decisiones adaptan arquitecturas existentes al problema; no proponemos una arquitectura nueva.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3:35–5:05</a:t>
            </a:r>
          </a:p>
          <a:p xmlns:a="http://schemas.openxmlformats.org/drawingml/2006/main">
            <a:r>
              <a:t/>
            </a:r>
          </a:p>
          <a:p xmlns:a="http://schemas.openxmlformats.org/drawingml/2006/main">
            <a:r>
              <a:t>Severe tenía 616 de 13,630 reportes de entrenamiento, un 4.52%. La aumentación seleccionada compone plantillas de apertura, acciones, contexto y cierre. Los indicios del original condicionan parte de la composición. Usamos una semilla estable, conservamos los originales y las variantes heredan sus etiquetas. Con un máximo de dos variantes por origen añadimos 516 textos. Severe pasó a 1,132 de 14,146 registros, un 8%. Se trata de un balance parcial dirigido a la clase escasa. La generación se hizo mediante plantillas y la evaluación conservó los reportes originales.</a:t>
            </a:r>
          </a:p>
          <a:p xmlns:a="http://schemas.openxmlformats.org/drawingml/2006/main">
            <a:r>
              <a:t/>
            </a:r>
          </a:p>
          <a:p xmlns:a="http://schemas.openxmlformats.org/drawingml/2006/main">
            <a:r>
              <a:t>Source: https://github.com/mariron42/clasificador_violencia/blob/92aa2ad0a8568dc729da674bcc81040d01f64fa4/src/womenhelp_competition/text_augmentation.py; https://github.com/mariron42/clasificador_violencia/blob/92aa2ad0a8568dc729da674bcc81040d01f64fa4/results/evidence.json.</a:t>
            </a:r>
          </a:p>
          <a:p xmlns:a="http://schemas.openxmlformats.org/drawingml/2006/main">
            <a:r>
              <a:t/>
            </a:r>
          </a:p>
          <a:p xmlns:a="http://schemas.openxmlformats.org/drawingml/2006/main">
            <a:r>
              <a:t>Respaldo para preguntas: Severe tenía 616 de 13,630 ejemplos, apenas 4.52%. Elegimos aumentar solo esa clase en entrenamiento. El método destacado no utiliza un LLM: combina plantillas de apertura, acciones, contexto y cierre con estilo de reporte institucional. Los indicios del original, como relación, horario o referencias a amenazas, condicionan parte de las elecciones. La semilla es estable por registro y generamos como máximo dos variantes por origen. Retenemos los originales y heredamos sus etiquetas. Añadimos 516 textos: ahora Severe tiene 1,132 de 14,146, es decir, 8%. Reducimos el desequilibrio, sin igualar las cuatro clases. Las plantillas pueden introducir hechos, por lo que estos textos no deben presentarse como paráfrasis verificadas. El proyecto también exploró sinónimos y variantes de Mild; la gráfica siguiente corresponde específicamente a las plantillas Severe.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5:05–6:15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La comparación usa los mismos 3,405 reportes de desarrollo. La gráfica muestra diferencias absolutas multiplicadas por cien: el macro-F1 sube 0.71 puntos y el F1 de Severe sube 1.57. A la vez, su recall baja 2.60 puntos. Por eso evaluamos la receta con varias métricas: mejora el F1, pero recupera una menor proporción de los casos Severe. Los pesos de clase se recalcularon con los datos aumentados. Esta comparación describe el efecto observado de la receta completa. La diapositiva de respaldo muestra qué ocurrió al integrar esta variante en un ensamble posterior.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https://github.com/mariron42/clasificador_violencia/blob/92aa2ad0a8568dc729da674bcc81040d01f64fa4/results/evidence.json; https://github.com/mariron42/clasificador_violencia/blob/92aa2ad0a8568dc729da674bcc81040d01f64fa4/docs/results.md. Delta = 100*(augmented - baseline).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Respaldo para preguntas: Para que se vea el efecto, la gráfica muestra cambios absolutos multiplicados por cien y conserva el cero: 0.71 puntos de macro-F1, 1.57 de F1 Severe y menos 2.60 de recall Severe. Al lado están los valores originales en escala cero a uno. El conjunto de desarrollo contiene los mismos 3,405 reportes, sin aumentación. La mejora en F1 no implica recuperar más casos Severe: el recall bajó. Además, al aumentar datos cambiaron las proporciones y los pesos de clase recalculados. No podemos adjudicar el resultado exclusivamente al estilo de las plantillas. Faltan un control de sobremuestreo equivalente, pesos controlados, varias semillas y una auditoría de etiquetas. Esta es evidencia de una receta concreta, no una garantía de mejora general.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6:15–7:15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Este análisis se añadió después del paper y utiliza las etiquetas suaves de tipos. Cada proporción resume tres votos. En desarrollo, 877 de 1,212 reportes, un 72.36%, tienen al menos uno de los seis tipos con votos divididos. La gráfica muestra la proporción sobre todos los reportes para cada tipo. En una decisión con dos votos positivos y uno negativo, p es dos tercios y la varianza interna es dos novenos. Estas etiquetas conservan información sobre consenso que una etiqueta dura pierde. La cabeza auxiliar de la receta S1 aprovechó esa información donde estaba disponible.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https://github.com/mariron42/clasificador_violencia/blob/92aa2ad0a8568dc729da674bcc81040d01f64fa4/docs/annotation_consensus.md; https://github.com/mariron42/clasificador_violencia/blob/92aa2ad0a8568dc729da674bcc81040d01f64fa4/results/annotation_consensus.json; https://github.com/mariron42/clasificador_violencia/blob/92aa2ad0a8568dc729da674bcc81040d01f64fa4/scripts/analyze_annotations.py. New analysis after the paper.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Respaldo para preguntas: Añadí este análisis después del envío del paper. Las etiquetas suaves de tipos toman valores cero, un tercio, dos tercios y uno: conservan la fracción de tres votos positivos. En desarrollo, 877 de 1,212 reportes, 72.36%, tienen al menos uno de los seis tipos con voto dividido. Psicológica registra 33% de decisiones divididas y sexual 6.44%, siempre sobre todos los reportes. Las prevalencias influyen, así que esta comparación no mide directamente la dificultad de cada categoría. La varianza dentro de una decisión binaria es p por uno menos p: cero en unanimidad y dos novenos en división. No tenemos identidades para comparar trabajadores, ni votos de severidad, y la fuente consultada solo identifica anotadores humanos. Encontramos además 24 discrepancias entre mayoría suave y etiqueta dura en desarrollo, cuya causa no conocemos. Esta evidencia invita a evaluar por consenso. La cabeza auxiliar S1 sí aprovechó etiquetas suaves, pero el componente S2 final usó duras; los experimentos S2 con suaves fueron posteriores al envío.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7:15–8:30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Al final ya teníamos recetas útiles. En lugar de volver a entrenarlas para cada ajuste, fijamos como ancla las predicciones de la mejor entrega previa. Esa referencia procedía de un ensamble Top10 con tres BETO, tres Electricidad, tres componentes clásicos y un BERTin. Un candidato de cinco folds BETO aumentado y cinco Electricidad propone cambios mediante umbrales ordinales. El router solo admite Medium a Mild, Mild a Medium y High a Severe. Este último necesita además indicios léxicos severos. Si la propuesta no cumple la regla, se conserva el ancla. Cambiaron 290 de 4,219 predicciones: 177, 101 y 12 respectivamente. El 93.13% permaneció idéntico. Es una regla aplicada a las decisiones, no una afirmación de que ningún modelo adicional se entrenó. La estrategia mantiene las recetas seleccionadas y reduce el alcance de la modificación final.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https://github.com/mariron42/clasificador_violencia/blob/92aa2ad0a8568dc729da674bcc81040d01f64fa4/scripts/materialize_hailmary_s1_foldbag_router_20260507.py; https://github.com/mariron42/clasificador_violencia/blob/92aa2ad0a8568dc729da674bcc81040d01f64fa4/docs/method.md.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Respaldo para preguntas: Al final ya teníamos recetas útiles. En lugar de volver a entrenarlas para cada ajuste, fijamos como ancla las predicciones de la mejor entrega previa. Esa referencia procedía de un ensamble Top10 con tres BETO, tres Electricidad, tres componentes clásicos y un BERTin. Un candidato de cinco folds BETO aumentado y cinco Electricidad propone cambios mediante umbrales ordinales. El router solo admite Medium a Mild, Mild a Medium y High a Severe. Este último necesita además indicios léxicos severos. Si la propuesta no cumple la regla, se conserva el ancla. Cambiaron 290 de 4,219 predicciones: 177, 101 y 12 respectivamente. El 93.13% permaneció idéntico. Es una regla aplicada a las decisiones, no una afirmación de que ningún modelo adicional se entrenó. La estrategia mantiene las recetas seleccionadas y reduce el alcance de la modificación final.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8:30–9:20</a:t>
            </a:r>
          </a:p>
          <a:p xmlns:a="http://schemas.openxmlformats.org/drawingml/2006/main">
            <a:r>
              <a:t/>
            </a:r>
          </a:p>
          <a:p xmlns:a="http://schemas.openxmlformats.org/drawingml/2006/main">
            <a:r>
              <a:t>El sistema completo alcanzó 0.60798 de macro-F1 en severidad, tercer lugar de dieciséis equipos, y 0.87016 de micro-F1 en tipos, sexto de quince. El ajuste final pasó de 0.60678 a 0.60798 y mantuvo las predicciones de tipos. Es un incremento pequeño alrededor de recetas ya seleccionadas. Los resultados oficiales orientaron la selección de entregas, y por eso los presentamos como resultados del benchmark.</a:t>
            </a:r>
          </a:p>
          <a:p xmlns:a="http://schemas.openxmlformats.org/drawingml/2006/main">
            <a:r>
              <a:t/>
            </a:r>
          </a:p>
          <a:p xmlns:a="http://schemas.openxmlformats.org/drawingml/2006/main">
            <a:r>
              <a:t>Source: https://github.com/mariron42/clasificador_violencia/blob/92aa2ad0a8568dc729da674bcc81040d01f64fa4/docs/results.md; corrected paper, official results. https://www.codabench.org/competitions/14614/</a:t>
            </a:r>
          </a:p>
          <a:p xmlns:a="http://schemas.openxmlformats.org/drawingml/2006/main">
            <a:r>
              <a:t/>
            </a:r>
          </a:p>
          <a:p xmlns:a="http://schemas.openxmlformats.org/drawingml/2006/main">
            <a:r>
              <a:t>Respaldo para preguntas: El sistema completo obtuvo 0.60798 de macro-F1 en severidad, tercer lugar de dieciséis equipos. Para tipos obtuvo 0.87016 de micro-F1, sexto de quince. La mejora final sobre el ancla fue pequeña: de 0.60678 a 0.60798, alrededor de 0.00120. La salida de tipos permaneció exactamente igual. Separar esta mejora de la aumentación evita atribuirle al último ajuste toda la historia del proyecto. Los resultados oficiales orientaron la selección, por lo que el test no fue una evaluación final completamente independiente. Estos son resultados de benchmark, no validación en atención social ni evidencia de transferencia entre instituciones.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9:20–10:00</a:t>
            </a:r>
            <a:endParaRPr/>
          </a:p>
          <a:p xmlns:a="http://schemas.openxmlformats.org/drawingml/2006/main">
            <a:r>
              <a:t/>
            </a:r>
            <a:endParaRPr/>
          </a:p>
          <a:p xmlns:a="http://schemas.openxmlformats.org/drawingml/2006/main">
            <a:r>
              <a:t>La propuesta que puede generalizarse es una estrategia comprobable: comparar familias con protocolos comunes, adaptar salidas y pérdidas al significado de las etiquetas, intervenir sobre clases escasas y medir todos los errores relevantes. Una vez elegidas las recetas, limitar cambios alrededor de una referencia permite controlar cuántas decisiones se modifican. Para poner a prueba esa estrategia fuera del concurso, proponemos auditar las variantes sintéticas, controlar balance y pesos, repetir semillas y evaluar por institución y nivel de consenso. Estas son las siguientes pruebas; todavía no demostramos generalización entre instituciones. Gracias.</a:t>
            </a:r>
            <a:endParaRPr/>
          </a:p>
          <a:p xmlns:a="http://schemas.openxmlformats.org/drawingml/2006/main">
            <a:r>
              <a:t/>
            </a:r>
            <a:endParaRPr/>
          </a:p>
          <a:p xmlns:a="http://schemas.openxmlformats.org/drawingml/2006/main">
            <a:r>
              <a:t>Source: https://github.com/mariron42/clasificador_violencia/blob/92aa2ad0a8568dc729da674bcc81040d01f64fa4/docs/method.md, limitations and future validation.</a:t>
            </a:r>
            <a:endParaRPr/>
          </a:p>
          <a:p xmlns:a="http://schemas.openxmlformats.org/drawingml/2006/main">
            <a:r>
              <a:t/>
            </a:r>
            <a:endParaRPr/>
          </a:p>
          <a:p xmlns:a="http://schemas.openxmlformats.org/drawingml/2006/main">
            <a:r>
              <a:t>Respaldo para preguntas: La propuesta que puede generalizarse es una estrategia comprobable: comparar familias con protocolos comunes, adaptar salidas y pérdidas al significado de las etiquetas, intervenir sobre clases escasas y medir todos los errores relevantes. Una vez elegidas las recetas, limitar cambios alrededor de una referencia permite controlar cuántas decisiones se modifican. Para poner a prueba esa estrategia fuera del concurso, proponemos auditar las variantes sintéticas, controlar balance y pesos, repetir semillas y evaluar por institución y nivel de consenso. Estas son las siguientes pruebas; todavía no demostramos generalización entre instituciones. Gracias.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Respaldo / Q&amp;A: 45–60 s</a:t>
            </a:r>
          </a:p>
          <a:p xmlns:a="http://schemas.openxmlformats.org/drawingml/2006/main">
            <a:r>
              <a:t/>
            </a:r>
          </a:p>
          <a:p xmlns:a="http://schemas.openxmlformats.org/drawingml/2006/main">
            <a:r>
              <a:t>Esta comparación responde qué ocurrió al combinar el modelo aumentado con otras fuentes. Sobre los mismos 3,405 reportes originales de desarrollo, el recall de Severe fue 39.61% para BETO base y 37.01% para BETO con aumentación. Un ensamble posterior de diez fuentes, que incluía esa variante, alcanzó 40.91% de recall, 0.4737 de F1 Severe y 0.5805 de macro-F1. En los 154 reportes Severe, esto corresponde a 61 aciertos para la base, 57 para el modelo aumentado y 63 para el ensamble. Por tanto, la pérdida de recall del componente individual no se mantuvo en este ensamble. Es un resultado intermedio de desarrollo del 5 de mayo, separado del resultado oficial final.</a:t>
            </a:r>
          </a:p>
          <a:p xmlns:a="http://schemas.openxmlformats.org/drawingml/2006/main">
            <a:r>
              <a:t/>
            </a:r>
          </a:p>
          <a:p xmlns:a="http://schemas.openxmlformats.org/drawingml/2006/main">
            <a:r>
              <a:t>Source: https://github.com/mariron42/clasificador_violencia/blob/main/docs/augmentation_ensemble.md; https://github.com/mariron42/clasificador_violencia/blob/main/results/evidence.json. Archived source: reporte_s1_reproducible_sources_search_20260505.md.</a:t>
            </a:r>
          </a:p>
          <a:p xmlns:a="http://schemas.openxmlformats.org/drawingml/2006/main">
            <a:r>
              <a:t/>
            </a:r>
          </a:p>
          <a:p xmlns:a="http://schemas.openxmlformats.org/drawingml/2006/main">
            <a:r>
              <a:t>Respaldo para preguntas: Candidato repro_diverse10_dw0.50_equal_ordmix: diez fuentes con peso igual y umbrales acumulativos [0.50, 0.50, 0.50]. Incluye augrep08, otras variantes de aumentación BETO, Electricidad, XLM-R, mmBERT y mean_top3, que ya es una fuente compuesta. El reporte documenta reproducción del score al materializar. El candidato se seleccionó sobre desarrollo: esta comparación no es una ablación ni aísla la aportación de augrep08. Corrección respecto de la explicación previa: el recall 41.56% correspondía a un candidato de búsqueda anterior cuya reconstrucción no reprodujo el score. Aquí usamos 40.91% del candidato posterior verificado. No se afirma que sea el recall del sistema 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00828c6a52b4ec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0d3914d24d344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1986b792c9246d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95a2db9c5d34be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ea42b276ab4440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57df3cb2612497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8c5eba9f863b4b7d"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4eba249cd1e4dcf"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db263efedb8b4345" /><Relationship Type="http://schemas.openxmlformats.org/officeDocument/2006/relationships/image" Target="/ppt/media/image.png" Id="Rb943451becc3440d"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a71a43d6cb3f44e2" /><Relationship Type="http://schemas.openxmlformats.org/officeDocument/2006/relationships/image" Target="/ppt/media/image2.png" Id="Raba9f32a3c464fd3"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b="1" i="0">
                <a:solidFill>
                  <a:schemeClr val="accent1"/>
                </a:solidFill>
                <a:latin typeface="Inter SemiBold"/>
                <a:ea typeface="Inter SemiBold"/>
                <a:cs typeface="Inter SemiBold"/>
              </a:defRPr>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952"/>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Layouts/slideLayout9.xml><?xml version="1.0" encoding="utf-8"?>
<p:sldLayout xmlns:p="http://schemas.openxmlformats.org/presentationml/2006/main" preserve="1" userDrawn="1">
  <p:cSld name="36 Field Grid">
    <p:bg>
      <p:bgPr>
        <a:blipFill xmlns:a="http://schemas.openxmlformats.org/drawingml/2006/main" rotWithShape="1">
          <a:blip xmlns:r="http://schemas.openxmlformats.org/officeDocument/2006/relationships" r:embed="Rb943451becc3440d">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Layouts/slideLayout10.xml><?xml version="1.0" encoding="utf-8"?>
<p:sldLayout xmlns:p="http://schemas.openxmlformats.org/presentationml/2006/main" preserve="1" userDrawn="1">
  <p:cSld name="48 Field Grid">
    <p:bg>
      <p:bgPr>
        <a:blipFill xmlns:a="http://schemas.openxmlformats.org/drawingml/2006/main" rotWithShape="1">
          <a:blip xmlns:r="http://schemas.openxmlformats.org/officeDocument/2006/relationships" r:embed="Raba9f32a3c464fd3">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b8cc988f9af493d" /><Relationship Type="http://schemas.openxmlformats.org/officeDocument/2006/relationships/slideLayout" Target="/ppt/slideLayouts/slideLayout1.xml" Id="Rc5a7c1adcd8b4908" /><Relationship Type="http://schemas.openxmlformats.org/officeDocument/2006/relationships/slideLayout" Target="/ppt/slideLayouts/slideLayout2.xml" Id="Rd490a9d7d71641dc" /><Relationship Type="http://schemas.openxmlformats.org/officeDocument/2006/relationships/slideLayout" Target="/ppt/slideLayouts/slideLayout3.xml" Id="Reb46bd720a2a4874" /><Relationship Type="http://schemas.openxmlformats.org/officeDocument/2006/relationships/slideLayout" Target="/ppt/slideLayouts/slideLayout4.xml" Id="R3f34c175501047a8" /><Relationship Type="http://schemas.openxmlformats.org/officeDocument/2006/relationships/slideLayout" Target="/ppt/slideLayouts/slideLayout5.xml" Id="R0e2d2510a80f4fbe" /><Relationship Type="http://schemas.openxmlformats.org/officeDocument/2006/relationships/slideLayout" Target="/ppt/slideLayouts/slideLayout6.xml" Id="R7b62e06299684382" /><Relationship Type="http://schemas.openxmlformats.org/officeDocument/2006/relationships/slideLayout" Target="/ppt/slideLayouts/slideLayout7.xml" Id="Ra9521b08d8f24f99" /><Relationship Type="http://schemas.openxmlformats.org/officeDocument/2006/relationships/slideLayout" Target="/ppt/slideLayouts/slideLayout8.xml" Id="R3816dfea222f42fb" /><Relationship Type="http://schemas.openxmlformats.org/officeDocument/2006/relationships/slideLayout" Target="/ppt/slideLayouts/slideLayout9.xml" Id="R93233fe96d9c4951" /><Relationship Type="http://schemas.openxmlformats.org/officeDocument/2006/relationships/slideLayout" Target="/ppt/slideLayouts/slideLayout10.xml" Id="R9523ba098bde481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a7c1adcd8b4908"/>
    <p:sldLayoutId xmlns:r="http://schemas.openxmlformats.org/officeDocument/2006/relationships" id="2147483650" r:id="Rd490a9d7d71641dc"/>
    <p:sldLayoutId xmlns:r="http://schemas.openxmlformats.org/officeDocument/2006/relationships" id="2147483651" r:id="Reb46bd720a2a4874"/>
    <p:sldLayoutId xmlns:r="http://schemas.openxmlformats.org/officeDocument/2006/relationships" id="2147483652" r:id="R3f34c175501047a8"/>
    <p:sldLayoutId xmlns:r="http://schemas.openxmlformats.org/officeDocument/2006/relationships" id="2147483653" r:id="R0e2d2510a80f4fbe"/>
    <p:sldLayoutId xmlns:r="http://schemas.openxmlformats.org/officeDocument/2006/relationships" id="2147483654" r:id="R7b62e06299684382"/>
    <p:sldLayoutId xmlns:r="http://schemas.openxmlformats.org/officeDocument/2006/relationships" id="2147483655" r:id="Ra9521b08d8f24f99"/>
    <p:sldLayoutId xmlns:r="http://schemas.openxmlformats.org/officeDocument/2006/relationships" id="2147483656" r:id="R3816dfea222f42fb"/>
    <p:sldLayoutId xmlns:r="http://schemas.openxmlformats.org/officeDocument/2006/relationships" id="2147483657" r:id="R93233fe96d9c4951"/>
    <p:sldLayoutId xmlns:r="http://schemas.openxmlformats.org/officeDocument/2006/relationships" id="2147483658" r:id="R9523ba098bde4816"/>
  </p:sldLayoutIdLst>
  <p:hf hdr="0" dt="0"/>
  <p:txStyles>
    <p:titleStyle>
      <a:lvl1pPr xmlns:a="http://schemas.openxmlformats.org/drawingml/2006/main" algn="l" defTabSz="914400">
        <a:lnSpc>
          <a:spcPct val="90000"/>
        </a:lnSpc>
        <a:spcBef>
          <a:spcPct val="0"/>
        </a:spcBef>
        <a:buNone/>
        <a:defRPr sz="2900" b="0" i="0" kern="1200">
          <a:solidFill>
            <a:schemeClr val="tx1"/>
          </a:solidFill>
          <a:latin typeface="Inter Medium"/>
          <a:ea typeface="Inter Medium"/>
          <a:cs typeface="Inter Medium"/>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9ff0e29ba9641ff" /><Relationship Type="http://schemas.openxmlformats.org/officeDocument/2006/relationships/image" Target="/ppt/media/image3.png" Id="R14d9689930bd4cec" /><Relationship Type="http://schemas.openxmlformats.org/officeDocument/2006/relationships/notesSlide" Target="/ppt/notesSlides/notesSlide1.xml" Id="R33b4191d19aa4c9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cb5c8e35bd44b4e" /><Relationship Type="http://schemas.openxmlformats.org/officeDocument/2006/relationships/notesSlide" Target="/ppt/notesSlides/notesSlide2.xml" Id="R780bc96760e741a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1ac5f0962d44d8a" /><Relationship Type="http://schemas.openxmlformats.org/officeDocument/2006/relationships/chart" Target="/ppt/slides/charts/chart1.xml" Id="R69734c6ac4da49f2" /><Relationship Type="http://schemas.openxmlformats.org/officeDocument/2006/relationships/notesSlide" Target="/ppt/notesSlides/notesSlide3.xml" Id="R649052d0a3c94549"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fbb53cb19a604ff3" /><Relationship Type="http://schemas.openxmlformats.org/officeDocument/2006/relationships/notesSlide" Target="/ppt/notesSlides/notesSlide4.xml" Id="R748cff5f476d4cf9" /></Relationships>
</file>

<file path=ppt/slides/_rels/slide5.xml.rels>&#65279;<?xml version="1.0" encoding="utf-8"?><Relationships xmlns="http://schemas.openxmlformats.org/package/2006/relationships"><Relationship Type="http://schemas.openxmlformats.org/officeDocument/2006/relationships/slideLayout" Target="/ppt/slideLayouts/slideLayout5.xml" Id="R0f36062bf967470c" /><Relationship Type="http://schemas.openxmlformats.org/officeDocument/2006/relationships/chart" Target="/ppt/slides/charts/chart2.xml" Id="R58dddedfc76b4b74" /><Relationship Type="http://schemas.openxmlformats.org/officeDocument/2006/relationships/notesSlide" Target="/ppt/notesSlides/notesSlide5.xml" Id="R6cb7a7d64d21401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5b802330a024832" /><Relationship Type="http://schemas.openxmlformats.org/officeDocument/2006/relationships/chart" Target="/ppt/slides/charts/chart3.xml" Id="Rce76b6ab198240d6" /><Relationship Type="http://schemas.openxmlformats.org/officeDocument/2006/relationships/notesSlide" Target="/ppt/notesSlides/notesSlide6.xml" Id="R4379779832ba44e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6c2ff67efec4ffd" /><Relationship Type="http://schemas.openxmlformats.org/officeDocument/2006/relationships/chart" Target="/ppt/slides/charts/chart4.xml" Id="Rc3b22e436734430c" /><Relationship Type="http://schemas.openxmlformats.org/officeDocument/2006/relationships/notesSlide" Target="/ppt/notesSlides/notesSlide7.xml" Id="R1d22e6d868c94aa8" /></Relationships>
</file>

<file path=ppt/slides/_rels/slide8.xml.rels>&#65279;<?xml version="1.0" encoding="utf-8"?><Relationships xmlns="http://schemas.openxmlformats.org/package/2006/relationships"><Relationship Type="http://schemas.openxmlformats.org/officeDocument/2006/relationships/slideLayout" Target="/ppt/slideLayouts/slideLayout4.xml" Id="R61adf1b0323c447b" /><Relationship Type="http://schemas.openxmlformats.org/officeDocument/2006/relationships/notesSlide" Target="/ppt/notesSlides/notesSlide8.xml" Id="R1f106000bfe84133" /></Relationships>
</file>

<file path=ppt/slides/_rels/slide9.xml.rels>&#65279;<?xml version="1.0" encoding="utf-8"?><Relationships xmlns="http://schemas.openxmlformats.org/package/2006/relationships"><Relationship Type="http://schemas.openxmlformats.org/officeDocument/2006/relationships/slideLayout" Target="/ppt/slideLayouts/slideLayout4.xml" Id="Rd7987f88bef14094" /><Relationship Type="http://schemas.openxmlformats.org/officeDocument/2006/relationships/notesSlide" Target="/ppt/notesSlides/notesSlide9.xml" Id="R6a523332dd95415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52d1eb02ec14e75" /><Relationship Type="http://schemas.openxmlformats.org/officeDocument/2006/relationships/image" Target="/ppt/media/image3.png" Id="Ref5fd19668944f1b" /><Relationship Type="http://schemas.openxmlformats.org/officeDocument/2006/relationships/notesSlide" Target="/ppt/notesSlides/notesSlide10.xml" Id="Rc4f95b85f96543f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4.xml" Id="R95a00d4ca2a848b3" /><Relationship Type="http://schemas.openxmlformats.org/officeDocument/2006/relationships/notesSlide" Target="/ppt/notesSlides/notesSlide11.xml" Id="R4db66dbde36e499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Data'!$A$2:$A$4</c:f>
              <c:strCache>
                <c:ptCount val="3"/>
                <c:pt idx="0">
                  <c:v>TF-IDF + SGD</c:v>
                </c:pt>
                <c:pt idx="1">
                  <c:v>Gemma + LoRA</c:v>
                </c:pt>
                <c:pt idx="2">
                  <c:v>Qwen prompt</c:v>
                </c:pt>
              </c:strCache>
            </c:strRef>
          </c:cat>
          <c:val>
            <c:numRef>
              <c:f>'Chart Data'!$B$2:$B$4</c:f>
              <c:numCache>
                <c:formatCode>0.000</c:formatCode>
                <c:ptCount val="3"/>
                <c:pt idx="0">
                  <c:v>0.2331</c:v>
                </c:pt>
                <c:pt idx="1">
                  <c:v>0.1955</c:v>
                </c:pt>
                <c:pt idx="2">
                  <c:v>0.1053</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0.3"/>
          <c:min val="0"/>
        </c:scaling>
        <c:delete val="0"/>
        <c:axPos val="b"/>
        <c:majorGridlines>
          <c:spPr>
            <a:ln xmlns:a="http://schemas.openxmlformats.org/drawingml/2006/main" w="9525">
              <a:solidFill>
                <a:srgbClr val="DCE6EC"/>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0.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spPr>
            <a:solidFill xmlns:a="http://schemas.openxmlformats.org/drawingml/2006/main">
              <a:srgbClr val="2C637F"/>
            </a:solidFill>
          </c:spPr>
          <c:cat>
            <c:strRef>
              <c:f>'Chart Data'!$A$2:$A$3</c:f>
              <c:strCache>
                <c:ptCount val="2"/>
                <c:pt idx="0">
                  <c:v>Antes</c:v>
                </c:pt>
                <c:pt idx="1">
                  <c:v>Después</c:v>
                </c:pt>
              </c:strCache>
            </c:strRef>
          </c:cat>
          <c:val>
            <c:numRef>
              <c:f>'Chart Data'!$B$2:$B$3</c:f>
              <c:numCache>
                <c:formatCode>0.00</c:formatCode>
                <c:ptCount val="2"/>
                <c:pt idx="0">
                  <c:v>4.519442</c:v>
                </c:pt>
                <c:pt idx="1">
                  <c:v>8.002262</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10"/>
          <c:min val="0"/>
        </c:scaling>
        <c:delete val="0"/>
        <c:axPos val="l"/>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5"/>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Macro-F1</c:v>
          </c:tx>
          <c:spPr>
            <a:solidFill xmlns:a="http://schemas.openxmlformats.org/drawingml/2006/main">
              <a:srgbClr val="2C637F"/>
            </a:solidFill>
          </c:spPr>
          <c:cat>
            <c:strRef>
              <c:f>'Chart Data'!$A$2:$A$2</c:f>
              <c:strCache>
                <c:ptCount val="1"/>
                <c:pt idx="0">
                  <c:v>Delta</c:v>
                </c:pt>
              </c:strCache>
            </c:strRef>
          </c:cat>
          <c:val>
            <c:numRef>
              <c:f>'Chart Data'!$B$2:$B$2</c:f>
              <c:numCache>
                <c:formatCode>+0.00;-0.00;0</c:formatCode>
                <c:ptCount val="1"/>
                <c:pt idx="0">
                  <c:v>0.7084</c:v>
                </c:pt>
              </c:numCache>
            </c:numRef>
          </c:val>
        </c:ser>
        <c:ser>
          <c:idx val="1"/>
          <c:order val="1"/>
          <c:tx>
            <c:v>F1 Severe</c:v>
          </c:tx>
          <c:spPr>
            <a:solidFill xmlns:a="http://schemas.openxmlformats.org/drawingml/2006/main">
              <a:srgbClr val="16766E"/>
            </a:solidFill>
          </c:spPr>
          <c:cat>
            <c:strRef>
              <c:f>'Chart Data'!$C$2:$C$2</c:f>
              <c:strCache>
                <c:ptCount val="1"/>
                <c:pt idx="0">
                  <c:v>Delta</c:v>
                </c:pt>
              </c:strCache>
            </c:strRef>
          </c:cat>
          <c:val>
            <c:numRef>
              <c:f>'Chart Data'!$D$2:$D$2</c:f>
              <c:numCache>
                <c:formatCode>+0.00;-0.00;0</c:formatCode>
                <c:ptCount val="1"/>
                <c:pt idx="0">
                  <c:v>1.5652</c:v>
                </c:pt>
              </c:numCache>
            </c:numRef>
          </c:val>
        </c:ser>
        <c:ser>
          <c:idx val="2"/>
          <c:order val="2"/>
          <c:tx>
            <c:v>Recall Severe</c:v>
          </c:tx>
          <c:spPr>
            <a:solidFill xmlns:a="http://schemas.openxmlformats.org/drawingml/2006/main">
              <a:srgbClr val="A86524"/>
            </a:solidFill>
          </c:spPr>
          <c:invertIfNegative val="0"/>
          <c:cat>
            <c:strRef>
              <c:f>'Chart Data'!$E$2:$E$2</c:f>
              <c:strCache>
                <c:ptCount val="1"/>
                <c:pt idx="0">
                  <c:v>Delta</c:v>
                </c:pt>
              </c:strCache>
            </c:strRef>
          </c:cat>
          <c:val>
            <c:numRef>
              <c:f>'Chart Data'!$F$2:$F$2</c:f>
              <c:numCache>
                <c:formatCode>+0.00;-0.00;0</c:formatCode>
                <c:ptCount val="1"/>
                <c:pt idx="0">
                  <c:v>-2.5974</c:v>
                </c:pt>
              </c:numCache>
            </c:numRef>
          </c:val>
        </c:ser>
        <c:dLbls>
          <c:txPr>
            <a:bodyPr xmlns:a="http://schemas.openxmlformats.org/drawingml/2006/main" anchorCtr="1"/>
            <a:lstStyle xmlns:a="http://schemas.openxmlformats.org/drawingml/2006/main"/>
            <a:p xmlns:a="http://schemas.openxmlformats.org/drawingml/2006/main">
              <a:pPr>
                <a:defRPr sz="1800">
                  <a:latin typeface="Inter"/>
                  <a:ea typeface="Inter"/>
                  <a:cs typeface="Inter"/>
                </a:defRPr>
              </a:pPr>
            </a:p>
          </c:txPr>
          <c:dLblPos val="outEnd"/>
          <c:showLegendKey val="0"/>
          <c:showVal val="1"/>
          <c:showCatName val="0"/>
          <c:showSerName val="0"/>
          <c:showPercent val="0"/>
          <c:showBubbleSize val="0"/>
          <c:showLeaderLines val="0"/>
        </c:dLbls>
        <c:gapWidth val="70"/>
        <c:overlap val="-2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Inter"/>
                <a:ea typeface="Inter"/>
                <a:cs typeface="Inter"/>
              </a:defRPr>
            </a:pPr>
          </a:p>
        </c:txPr>
        <c:crossAx val="48672768"/>
      </c:catAx>
      <c:valAx>
        <c:axId val="48672768"/>
        <c:scaling>
          <c:orientation val="minMax"/>
          <c:max val="4"/>
          <c:min val="-4"/>
        </c:scaling>
        <c:delete val="0"/>
        <c:axPos val="b"/>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Data'!$A$2:$A$7</c:f>
              <c:strCache>
                <c:ptCount val="6"/>
                <c:pt idx="0">
                  <c:v>Económica</c:v>
                </c:pt>
                <c:pt idx="1">
                  <c:v>Física</c:v>
                </c:pt>
                <c:pt idx="2">
                  <c:v>Patrimonial</c:v>
                </c:pt>
                <c:pt idx="3">
                  <c:v>Psicológica</c:v>
                </c:pt>
                <c:pt idx="4">
                  <c:v>Sexual</c:v>
                </c:pt>
                <c:pt idx="5">
                  <c:v>Vicaria</c:v>
                </c:pt>
              </c:strCache>
            </c:strRef>
          </c:cat>
          <c:val>
            <c:numRef>
              <c:f>'Chart Data'!$B$2:$B$7</c:f>
              <c:numCache>
                <c:formatCode>0.0</c:formatCode>
                <c:ptCount val="6"/>
                <c:pt idx="0">
                  <c:v>16.171617</c:v>
                </c:pt>
                <c:pt idx="1">
                  <c:v>17.656766</c:v>
                </c:pt>
                <c:pt idx="2">
                  <c:v>23.762376</c:v>
                </c:pt>
                <c:pt idx="3">
                  <c:v>33.0033</c:v>
                </c:pt>
                <c:pt idx="4">
                  <c:v>6.435644</c:v>
                </c:pt>
                <c:pt idx="5">
                  <c:v>20.709571</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40"/>
          <c:min val="0"/>
        </c:scaling>
        <c:delete val="0"/>
        <c:axPos val="b"/>
        <c:majorGridlines>
          <c:spPr>
            <a:ln xmlns:a="http://schemas.openxmlformats.org/drawingml/2006/main" w="9525">
              <a:solidFill>
                <a:srgbClr val="DCE6EC"/>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0"/>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2" name="Picture 2"/>
          <p:cNvPicPr>
            <a:picLocks xmlns:a="http://schemas.openxmlformats.org/drawingml/2006/main" noChangeAspect="1"/>
          </p:cNvPicPr>
          <p:nvPr/>
        </p:nvPicPr>
        <p:blipFill>
          <a:blip xmlns:r="http://schemas.openxmlformats.org/officeDocument/2006/relationships" xmlns:a="http://schemas.openxmlformats.org/drawingml/2006/main" r:embed="R14d9689930bd4cec"/>
          <a:srcRect xmlns:a="http://schemas.openxmlformats.org/drawingml/2006/main" l="0" t="25645" r="0" b="61469"/>
          <a:stretch xmlns:a="http://schemas.openxmlformats.org/drawingml/2006/main">
            <a:fillRect l="0" t="0" r="0" b="0"/>
          </a:stretch>
        </p:blipFill>
        <p:spPr>
          <a:xfrm xmlns:a="http://schemas.openxmlformats.org/drawingml/2006/main">
            <a:off x="0" y="4763386"/>
            <a:ext cx="12190542" cy="209461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A7E335B-AA2D-4F1A-9AF0-A28032981BB1}"/>
              </a:ext>
            </a:extLst>
          </p:cNvPr>
          <p:cNvSpPr>
            <a:spLocks xmlns:a="http://schemas.openxmlformats.org/drawingml/2006/main" noGrp="1"/>
          </p:cNvSpPr>
          <p:nvPr/>
        </p:nvSpPr>
        <p:spPr>
          <a:xfrm xmlns:a="http://schemas.openxmlformats.org/drawingml/2006/main">
            <a:off x="457200" y="857250"/>
            <a:ext cx="112395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Clasificación de reportes</a:t>
            </a:r>
          </a:p>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de violencia</a:t>
            </a:r>
          </a:p>
        </p:txBody>
      </p:sp>
      <p:sp>
        <p:nvSpPr>
          <p:cNvPr id="8" name="">
            <a:extLst xmlns:a="http://schemas.openxmlformats.org/drawingml/2006/main">
              <a:ext uri="{FF2B5EF4-FFF2-40B4-BE49-F238E27FC236}">
                <a16:creationId xmlns:a16="http://schemas.microsoft.com/office/drawing/2014/main" id="{A38663DE-2891-4978-B2D8-CDC7218AFF0D}"/>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9" name="">
            <a:extLst xmlns:a="http://schemas.openxmlformats.org/drawingml/2006/main">
              <a:ext uri="{FF2B5EF4-FFF2-40B4-BE49-F238E27FC236}">
                <a16:creationId xmlns:a16="http://schemas.microsoft.com/office/drawing/2014/main" id="{2D5F5437-FB4E-4F63-829C-FCCEB37FA0C8}"/>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01</a:t>
            </a:r>
          </a:p>
        </p:txBody>
      </p:sp>
      <p:sp>
        <p:nvSpPr>
          <p:cNvPr id="10" name="">
            <a:extLst xmlns:a="http://schemas.openxmlformats.org/drawingml/2006/main">
              <a:ext uri="{FF2B5EF4-FFF2-40B4-BE49-F238E27FC236}">
                <a16:creationId xmlns:a16="http://schemas.microsoft.com/office/drawing/2014/main" id="{6B86BEA4-2F22-491C-990C-8FAFC715413F}"/>
              </a:ext>
            </a:extLst>
          </p:cNvPr>
          <p:cNvSpPr>
            <a:spLocks xmlns:a="http://schemas.openxmlformats.org/drawingml/2006/main" noGrp="1"/>
          </p:cNvSpPr>
          <p:nvPr/>
        </p:nvSpPr>
        <p:spPr>
          <a:xfrm xmlns:a="http://schemas.openxmlformats.org/drawingml/2006/main">
            <a:off x="476250" y="31432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Elección de modelos, aumentación de Severe</a:t>
            </a:r>
          </a:p>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y decisiones finales alrededor de un ancla</a:t>
            </a:r>
          </a:p>
        </p:txBody>
      </p:sp>
      <p:sp>
        <p:nvSpPr>
          <p:cNvPr id="11" name="">
            <a:extLst xmlns:a="http://schemas.openxmlformats.org/drawingml/2006/main">
              <a:ext uri="{FF2B5EF4-FFF2-40B4-BE49-F238E27FC236}">
                <a16:creationId xmlns:a16="http://schemas.microsoft.com/office/drawing/2014/main" id="{17935F8F-2091-4249-A179-B39446CBF199}"/>
              </a:ext>
            </a:extLst>
          </p:cNvPr>
          <p:cNvSpPr>
            <a:spLocks xmlns:a="http://schemas.openxmlformats.org/drawingml/2006/main" noGrp="1"/>
          </p:cNvSpPr>
          <p:nvPr/>
        </p:nvSpPr>
        <p:spPr>
          <a:xfrm xmlns:a="http://schemas.openxmlformats.org/drawingml/2006/main">
            <a:off x="476250" y="4857750"/>
            <a:ext cx="904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Marcel Herrera Rendón</a:t>
            </a:r>
          </a:p>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Universidad de Sonora</a:t>
            </a:r>
          </a:p>
        </p:txBody>
      </p:sp>
    </p:spTree>
    <p:extLst>
      <p:ext uri="{BB962C8B-B14F-4D97-AF65-F5344CB8AC3E}">
        <p14:creationId xmlns:p14="http://schemas.microsoft.com/office/powerpoint/2010/main" val="33124961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697F145-714B-4928-9689-4EA18A5DCB9D}"/>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Tres familias, tres formas de clasificar</a:t>
            </a:r>
          </a:p>
        </p:txBody>
      </p:sp>
      <p:sp>
        <p:nvSpPr>
          <p:cNvPr id="2" name="">
            <a:extLst xmlns:a="http://schemas.openxmlformats.org/drawingml/2006/main">
              <a:ext uri="{FF2B5EF4-FFF2-40B4-BE49-F238E27FC236}">
                <a16:creationId xmlns:a16="http://schemas.microsoft.com/office/drawing/2014/main" id="{8A68C2DF-29D3-4832-BC71-CB2D2E301897}"/>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167F1BF2-5B83-42E2-B265-8808E2B23725}"/>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02</a:t>
            </a:r>
          </a:p>
        </p:txBody>
      </p:sp>
      <p:sp>
        <p:nvSpPr>
          <p:cNvPr id="4" name="">
            <a:extLst xmlns:a="http://schemas.openxmlformats.org/drawingml/2006/main">
              <a:ext uri="{FF2B5EF4-FFF2-40B4-BE49-F238E27FC236}">
                <a16:creationId xmlns:a16="http://schemas.microsoft.com/office/drawing/2014/main" id="{FD3095DC-B1DA-424F-8F55-DF66C5AB8A83}"/>
              </a:ext>
            </a:extLst>
          </p:cNvPr>
          <p:cNvSpPr>
            <a:spLocks xmlns:a="http://schemas.openxmlformats.org/drawingml/2006/main" noGrp="1"/>
          </p:cNvSpPr>
          <p:nvPr/>
        </p:nvSpPr>
        <p:spPr>
          <a:xfrm xmlns:a="http://schemas.openxmlformats.org/drawingml/2006/main">
            <a:off x="457200" y="18573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Clásicos</a:t>
            </a:r>
          </a:p>
        </p:txBody>
      </p:sp>
      <p:sp>
        <p:nvSpPr>
          <p:cNvPr id="5" name="">
            <a:extLst xmlns:a="http://schemas.openxmlformats.org/drawingml/2006/main">
              <a:ext uri="{FF2B5EF4-FFF2-40B4-BE49-F238E27FC236}">
                <a16:creationId xmlns:a16="http://schemas.microsoft.com/office/drawing/2014/main" id="{19573CAF-B646-4318-ACBE-68698EE8872E}"/>
              </a:ext>
            </a:extLst>
          </p:cNvPr>
          <p:cNvSpPr>
            <a:spLocks xmlns:a="http://schemas.openxmlformats.org/drawingml/2006/main" noGrp="1"/>
          </p:cNvSpPr>
          <p:nvPr/>
        </p:nvSpPr>
        <p:spPr>
          <a:xfrm xmlns:a="http://schemas.openxmlformats.org/drawingml/2006/main">
            <a:off x="3381375" y="17621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49356195-E86A-46E5-85C3-399D49C80545}"/>
              </a:ext>
            </a:extLst>
          </p:cNvPr>
          <p:cNvSpPr>
            <a:spLocks xmlns:a="http://schemas.openxmlformats.org/drawingml/2006/main" noGrp="1"/>
          </p:cNvSpPr>
          <p:nvPr/>
        </p:nvSpPr>
        <p:spPr>
          <a:xfrm xmlns:a="http://schemas.openxmlformats.org/drawingml/2006/main">
            <a:off x="3524250" y="18859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Palabras + caracteres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Vector TF-IDF</a:t>
            </a:r>
          </a:p>
        </p:txBody>
      </p:sp>
      <p:sp>
        <p:nvSpPr>
          <p:cNvPr id="7" name="">
            <a:extLst xmlns:a="http://schemas.openxmlformats.org/drawingml/2006/main">
              <a:ext uri="{FF2B5EF4-FFF2-40B4-BE49-F238E27FC236}">
                <a16:creationId xmlns:a16="http://schemas.microsoft.com/office/drawing/2014/main" id="{0F39E75A-DAED-4949-A0C8-FEF2014E7297}"/>
              </a:ext>
            </a:extLst>
          </p:cNvPr>
          <p:cNvSpPr>
            <a:spLocks xmlns:a="http://schemas.openxmlformats.org/drawingml/2006/main" noGrp="1"/>
          </p:cNvSpPr>
          <p:nvPr/>
        </p:nvSpPr>
        <p:spPr>
          <a:xfrm xmlns:a="http://schemas.openxmlformats.org/drawingml/2006/main">
            <a:off x="8591550" y="17621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032636B1-A990-4123-BA77-2B1D9CB8243A}"/>
              </a:ext>
            </a:extLst>
          </p:cNvPr>
          <p:cNvSpPr>
            <a:spLocks xmlns:a="http://schemas.openxmlformats.org/drawingml/2006/main" noGrp="1"/>
          </p:cNvSpPr>
          <p:nvPr/>
        </p:nvSpPr>
        <p:spPr>
          <a:xfrm xmlns:a="http://schemas.openxmlformats.org/drawingml/2006/main">
            <a:off x="8734425" y="18859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Clasificador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Scores por clase</a:t>
            </a:r>
          </a:p>
        </p:txBody>
      </p:sp>
      <p:cxnSp>
        <p:nvCxnSpPr>
          <p:cNvPr id="31" name=""/>
          <p:cNvCxnSpPr>
            <a:stCxn xmlns:a="http://schemas.openxmlformats.org/drawingml/2006/main" id="5" idx="3"/>
            <a:endCxn xmlns:a="http://schemas.openxmlformats.org/drawingml/2006/main" id="7" idx="1"/>
          </p:cNvCxnSpPr>
          <p:nvPr/>
        </p:nvCxnSpPr>
        <p:spPr>
          <a:xfrm xmlns:a="http://schemas.openxmlformats.org/drawingml/2006/main">
            <a:off x="7715250" y="22860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0" name="">
            <a:extLst xmlns:a="http://schemas.openxmlformats.org/drawingml/2006/main">
              <a:ext uri="{FF2B5EF4-FFF2-40B4-BE49-F238E27FC236}">
                <a16:creationId xmlns:a16="http://schemas.microsoft.com/office/drawing/2014/main" id="{6FA0EBE2-3F79-4F7B-A0C0-C7AFE4D5BDA4}"/>
              </a:ext>
            </a:extLst>
          </p:cNvPr>
          <p:cNvSpPr>
            <a:spLocks xmlns:a="http://schemas.openxmlformats.org/drawingml/2006/main" noGrp="1"/>
          </p:cNvSpPr>
          <p:nvPr/>
        </p:nvSpPr>
        <p:spPr>
          <a:xfrm xmlns:a="http://schemas.openxmlformats.org/drawingml/2006/main">
            <a:off x="457200" y="340042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LLM generativos</a:t>
            </a:r>
          </a:p>
        </p:txBody>
      </p:sp>
      <p:sp>
        <p:nvSpPr>
          <p:cNvPr id="11" name="">
            <a:extLst xmlns:a="http://schemas.openxmlformats.org/drawingml/2006/main">
              <a:ext uri="{FF2B5EF4-FFF2-40B4-BE49-F238E27FC236}">
                <a16:creationId xmlns:a16="http://schemas.microsoft.com/office/drawing/2014/main" id="{71686619-044A-41F1-924E-B619517A902C}"/>
              </a:ext>
            </a:extLst>
          </p:cNvPr>
          <p:cNvSpPr>
            <a:spLocks xmlns:a="http://schemas.openxmlformats.org/drawingml/2006/main" noGrp="1"/>
          </p:cNvSpPr>
          <p:nvPr/>
        </p:nvSpPr>
        <p:spPr>
          <a:xfrm xmlns:a="http://schemas.openxmlformats.org/drawingml/2006/main">
            <a:off x="3381375" y="330517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2B1076EC-5B3B-46DF-889B-048F557C83B0}"/>
              </a:ext>
            </a:extLst>
          </p:cNvPr>
          <p:cNvSpPr>
            <a:spLocks xmlns:a="http://schemas.openxmlformats.org/drawingml/2006/main" noGrp="1"/>
          </p:cNvSpPr>
          <p:nvPr/>
        </p:nvSpPr>
        <p:spPr>
          <a:xfrm xmlns:a="http://schemas.openxmlformats.org/drawingml/2006/main">
            <a:off x="3524250" y="342900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Instrucción + reporte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Prompt / LoRA</a:t>
            </a:r>
          </a:p>
        </p:txBody>
      </p:sp>
      <p:sp>
        <p:nvSpPr>
          <p:cNvPr id="13" name="">
            <a:extLst xmlns:a="http://schemas.openxmlformats.org/drawingml/2006/main">
              <a:ext uri="{FF2B5EF4-FFF2-40B4-BE49-F238E27FC236}">
                <a16:creationId xmlns:a16="http://schemas.microsoft.com/office/drawing/2014/main" id="{01EA2715-68D3-41CB-B8EE-6AD6BC047B97}"/>
              </a:ext>
            </a:extLst>
          </p:cNvPr>
          <p:cNvSpPr>
            <a:spLocks xmlns:a="http://schemas.openxmlformats.org/drawingml/2006/main" noGrp="1"/>
          </p:cNvSpPr>
          <p:nvPr/>
        </p:nvSpPr>
        <p:spPr>
          <a:xfrm xmlns:a="http://schemas.openxmlformats.org/drawingml/2006/main">
            <a:off x="8591550" y="330517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4" name="">
            <a:extLst xmlns:a="http://schemas.openxmlformats.org/drawingml/2006/main">
              <a:ext uri="{FF2B5EF4-FFF2-40B4-BE49-F238E27FC236}">
                <a16:creationId xmlns:a16="http://schemas.microsoft.com/office/drawing/2014/main" id="{0EF47B65-7A20-4B48-87DE-55C352C91178}"/>
              </a:ext>
            </a:extLst>
          </p:cNvPr>
          <p:cNvSpPr>
            <a:spLocks xmlns:a="http://schemas.openxmlformats.org/drawingml/2006/main" noGrp="1"/>
          </p:cNvSpPr>
          <p:nvPr/>
        </p:nvSpPr>
        <p:spPr>
          <a:xfrm xmlns:a="http://schemas.openxmlformats.org/drawingml/2006/main">
            <a:off x="8734425" y="342900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Generación</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Respuesta JSON</a:t>
            </a:r>
          </a:p>
        </p:txBody>
      </p:sp>
      <p:cxnSp>
        <p:nvCxnSpPr>
          <p:cNvPr id="37" name=""/>
          <p:cNvCxnSpPr>
            <a:stCxn xmlns:a="http://schemas.openxmlformats.org/drawingml/2006/main" id="11" idx="3"/>
            <a:endCxn xmlns:a="http://schemas.openxmlformats.org/drawingml/2006/main" id="13" idx="1"/>
          </p:cNvCxnSpPr>
          <p:nvPr/>
        </p:nvCxnSpPr>
        <p:spPr>
          <a:xfrm xmlns:a="http://schemas.openxmlformats.org/drawingml/2006/main">
            <a:off x="7715250" y="382905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51FE07A1-D406-4D65-9901-8F999135A021}"/>
              </a:ext>
            </a:extLst>
          </p:cNvPr>
          <p:cNvSpPr>
            <a:spLocks xmlns:a="http://schemas.openxmlformats.org/drawingml/2006/main" noGrp="1"/>
          </p:cNvSpPr>
          <p:nvPr/>
        </p:nvSpPr>
        <p:spPr>
          <a:xfrm xmlns:a="http://schemas.openxmlformats.org/drawingml/2006/main">
            <a:off x="457200" y="49434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Encoders Transformer</a:t>
            </a:r>
          </a:p>
        </p:txBody>
      </p:sp>
      <p:sp>
        <p:nvSpPr>
          <p:cNvPr id="17" name="">
            <a:extLst xmlns:a="http://schemas.openxmlformats.org/drawingml/2006/main">
              <a:ext uri="{FF2B5EF4-FFF2-40B4-BE49-F238E27FC236}">
                <a16:creationId xmlns:a16="http://schemas.microsoft.com/office/drawing/2014/main" id="{A7DA7AC7-2CFC-470F-8A26-682344A310EE}"/>
              </a:ext>
            </a:extLst>
          </p:cNvPr>
          <p:cNvSpPr>
            <a:spLocks xmlns:a="http://schemas.openxmlformats.org/drawingml/2006/main" noGrp="1"/>
          </p:cNvSpPr>
          <p:nvPr/>
        </p:nvSpPr>
        <p:spPr>
          <a:xfrm xmlns:a="http://schemas.openxmlformats.org/drawingml/2006/main">
            <a:off x="3381375" y="48482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8" name="">
            <a:extLst xmlns:a="http://schemas.openxmlformats.org/drawingml/2006/main">
              <a:ext uri="{FF2B5EF4-FFF2-40B4-BE49-F238E27FC236}">
                <a16:creationId xmlns:a16="http://schemas.microsoft.com/office/drawing/2014/main" id="{58F89AE2-578D-474B-8A58-D41E04EF68AB}"/>
              </a:ext>
            </a:extLst>
          </p:cNvPr>
          <p:cNvSpPr>
            <a:spLocks xmlns:a="http://schemas.openxmlformats.org/drawingml/2006/main" noGrp="1"/>
          </p:cNvSpPr>
          <p:nvPr/>
        </p:nvSpPr>
        <p:spPr>
          <a:xfrm xmlns:a="http://schemas.openxmlformats.org/drawingml/2006/main">
            <a:off x="3524250" y="49720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Tokens + contexto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 / Electricidad / BERTin</a:t>
            </a:r>
          </a:p>
        </p:txBody>
      </p:sp>
      <p:sp>
        <p:nvSpPr>
          <p:cNvPr id="19" name="">
            <a:extLst xmlns:a="http://schemas.openxmlformats.org/drawingml/2006/main">
              <a:ext uri="{FF2B5EF4-FFF2-40B4-BE49-F238E27FC236}">
                <a16:creationId xmlns:a16="http://schemas.microsoft.com/office/drawing/2014/main" id="{EBFFE02C-4BCF-4B42-AAAF-8334BB96AC90}"/>
              </a:ext>
            </a:extLst>
          </p:cNvPr>
          <p:cNvSpPr>
            <a:spLocks xmlns:a="http://schemas.openxmlformats.org/drawingml/2006/main" noGrp="1"/>
          </p:cNvSpPr>
          <p:nvPr/>
        </p:nvSpPr>
        <p:spPr>
          <a:xfrm xmlns:a="http://schemas.openxmlformats.org/drawingml/2006/main">
            <a:off x="8591550" y="48482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0" name="">
            <a:extLst xmlns:a="http://schemas.openxmlformats.org/drawingml/2006/main">
              <a:ext uri="{FF2B5EF4-FFF2-40B4-BE49-F238E27FC236}">
                <a16:creationId xmlns:a16="http://schemas.microsoft.com/office/drawing/2014/main" id="{2DA3F550-F448-4FF1-98D7-AC8AD1DAD35C}"/>
              </a:ext>
            </a:extLst>
          </p:cNvPr>
          <p:cNvSpPr>
            <a:spLocks xmlns:a="http://schemas.openxmlformats.org/drawingml/2006/main" noGrp="1"/>
          </p:cNvSpPr>
          <p:nvPr/>
        </p:nvSpPr>
        <p:spPr>
          <a:xfrm xmlns:a="http://schemas.openxmlformats.org/drawingml/2006/main">
            <a:off x="8734425" y="49720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Cabezas supervisadas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Scores por etiqueta</a:t>
            </a:r>
          </a:p>
        </p:txBody>
      </p:sp>
      <p:cxnSp>
        <p:nvCxnSpPr>
          <p:cNvPr id="43" name=""/>
          <p:cNvCxnSpPr>
            <a:stCxn xmlns:a="http://schemas.openxmlformats.org/drawingml/2006/main" id="17" idx="3"/>
            <a:endCxn xmlns:a="http://schemas.openxmlformats.org/drawingml/2006/main" id="19" idx="1"/>
          </p:cNvCxnSpPr>
          <p:nvPr/>
        </p:nvCxnSpPr>
        <p:spPr>
          <a:xfrm xmlns:a="http://schemas.openxmlformats.org/drawingml/2006/main">
            <a:off x="7715250" y="53721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2" name="">
            <a:extLst xmlns:a="http://schemas.openxmlformats.org/drawingml/2006/main">
              <a:ext uri="{FF2B5EF4-FFF2-40B4-BE49-F238E27FC236}">
                <a16:creationId xmlns:a16="http://schemas.microsoft.com/office/drawing/2014/main" id="{813AC547-72DA-4C40-942C-46E18DA27CD3}"/>
              </a:ext>
            </a:extLst>
          </p:cNvPr>
          <p:cNvSpPr>
            <a:spLocks xmlns:a="http://schemas.openxmlformats.org/drawingml/2006/main" noGrp="1"/>
          </p:cNvSpPr>
          <p:nvPr/>
        </p:nvSpPr>
        <p:spPr>
          <a:xfrm xmlns:a="http://schemas.openxmlformats.org/drawingml/2006/main">
            <a:off x="457200" y="6153150"/>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Los LLM también usan Transformers. Aquí distinguimos su uso generativo y discriminativo.</a:t>
            </a:r>
          </a:p>
        </p:txBody>
      </p:sp>
    </p:spTree>
    <p:extLst>
      <p:ext uri="{BB962C8B-B14F-4D97-AF65-F5344CB8AC3E}">
        <p14:creationId xmlns:p14="http://schemas.microsoft.com/office/powerpoint/2010/main" val="67611695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702DA5F-C331-4661-AD69-276163998AD4}"/>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La evidencia orientó la elección</a:t>
            </a:r>
          </a:p>
        </p:txBody>
      </p:sp>
      <p:sp>
        <p:nvSpPr>
          <p:cNvPr id="2" name="">
            <a:extLst xmlns:a="http://schemas.openxmlformats.org/drawingml/2006/main">
              <a:ext uri="{FF2B5EF4-FFF2-40B4-BE49-F238E27FC236}">
                <a16:creationId xmlns:a16="http://schemas.microsoft.com/office/drawing/2014/main" id="{79F2C82D-5FD7-4903-8351-CAFDEDF0C9CE}"/>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0839D929-A31D-4980-AF02-58B2D1F457DF}"/>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03</a:t>
            </a:r>
          </a:p>
        </p:txBody>
      </p:sp>
      <p:sp>
        <p:nvSpPr>
          <p:cNvPr id="4" name="">
            <a:extLst xmlns:a="http://schemas.openxmlformats.org/drawingml/2006/main">
              <a:ext uri="{FF2B5EF4-FFF2-40B4-BE49-F238E27FC236}">
                <a16:creationId xmlns:a16="http://schemas.microsoft.com/office/drawing/2014/main" id="{88B6A12F-AEF1-4BCF-A6AE-12A7D05ED4BB}"/>
              </a:ext>
            </a:extLst>
          </p:cNvPr>
          <p:cNvSpPr>
            <a:spLocks xmlns:a="http://schemas.openxmlformats.org/drawingml/2006/main" noGrp="1"/>
          </p:cNvSpPr>
          <p:nvPr/>
        </p:nvSpPr>
        <p:spPr>
          <a:xfrm xmlns:a="http://schemas.openxmlformats.org/drawingml/2006/main">
            <a:off x="457200" y="1476375"/>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Pilotos sobre los mismos 133 reportes</a:t>
            </a:r>
          </a:p>
        </p:txBody>
      </p:sp>
      <p:sp>
        <p:nvSpPr>
          <p:cNvPr id="5" name="">
            <a:extLst xmlns:a="http://schemas.openxmlformats.org/drawingml/2006/main">
              <a:ext uri="{FF2B5EF4-FFF2-40B4-BE49-F238E27FC236}">
                <a16:creationId xmlns:a16="http://schemas.microsoft.com/office/drawing/2014/main" id="{92240A64-60E5-49F6-AC58-9EFDB9BB2C94}"/>
              </a:ext>
            </a:extLst>
          </p:cNvPr>
          <p:cNvSpPr>
            <a:spLocks xmlns:a="http://schemas.openxmlformats.org/drawingml/2006/main" noGrp="1"/>
          </p:cNvSpPr>
          <p:nvPr/>
        </p:nvSpPr>
        <p:spPr>
          <a:xfrm xmlns:a="http://schemas.openxmlformats.org/drawingml/2006/main">
            <a:off x="457200" y="2143125"/>
            <a:ext cx="581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Exactitud conjunta S1 + S2</a:t>
            </a:r>
          </a:p>
        </p:txBody>
      </p:sp>
      <p:graphicFrame>
        <p:nvGraphicFramePr>
          <p:cNvPr id="17" name="Chart"/>
          <p:cNvGraphicFramePr/>
          <p:nvPr/>
        </p:nvGraphicFramePr>
        <p:xfrm>
          <a:off xmlns:a="http://schemas.openxmlformats.org/drawingml/2006/main" x="333375" y="2609850"/>
          <a:ext xmlns:a="http://schemas.openxmlformats.org/drawingml/2006/main" cx="6143625" cy="2762250"/>
        </p:xfrm>
        <a:graphic xmlns:a="http://schemas.openxmlformats.org/drawingml/2006/main">
          <a:graphicData uri="http://schemas.openxmlformats.org/drawingml/2006/chart">
            <c:chart xmlns:r="http://schemas.openxmlformats.org/officeDocument/2006/relationships" xmlns:c="http://schemas.openxmlformats.org/drawingml/2006/chart" r:id="R69734c6ac4da49f2"/>
          </a:graphicData>
        </a:graphic>
      </p:graphicFrame>
      <p:sp>
        <p:nvSpPr>
          <p:cNvPr id="7" name="">
            <a:extLst xmlns:a="http://schemas.openxmlformats.org/drawingml/2006/main">
              <a:ext uri="{FF2B5EF4-FFF2-40B4-BE49-F238E27FC236}">
                <a16:creationId xmlns:a16="http://schemas.microsoft.com/office/drawing/2014/main" id="{1EE1AD20-E60D-4822-B63F-11D323B6D661}"/>
              </a:ext>
            </a:extLst>
          </p:cNvPr>
          <p:cNvSpPr>
            <a:spLocks xmlns:a="http://schemas.openxmlformats.org/drawingml/2006/main" noGrp="1"/>
          </p:cNvSpPr>
          <p:nvPr/>
        </p:nvSpPr>
        <p:spPr>
          <a:xfrm xmlns:a="http://schemas.openxmlformats.org/drawingml/2006/main">
            <a:off x="457200" y="5562600"/>
            <a:ext cx="6096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Piloto LoRA: 625 ejemplos de entrenamiento</a:t>
            </a:r>
          </a:p>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y 80 pasos de ajuste.</a:t>
            </a:r>
          </a:p>
        </p:txBody>
      </p:sp>
      <p:sp>
        <p:nvSpPr>
          <p:cNvPr id="8" name="">
            <a:extLst xmlns:a="http://schemas.openxmlformats.org/drawingml/2006/main">
              <a:ext uri="{FF2B5EF4-FFF2-40B4-BE49-F238E27FC236}">
                <a16:creationId xmlns:a16="http://schemas.microsoft.com/office/drawing/2014/main" id="{7870D2C0-7E1A-4328-B936-0748EDABB2F0}"/>
              </a:ext>
            </a:extLst>
          </p:cNvPr>
          <p:cNvSpPr>
            <a:spLocks xmlns:a="http://schemas.openxmlformats.org/drawingml/2006/main" noGrp="1"/>
          </p:cNvSpPr>
          <p:nvPr/>
        </p:nvSpPr>
        <p:spPr>
          <a:xfrm xmlns:a="http://schemas.openxmlformats.org/drawingml/2006/main">
            <a:off x="7029450" y="1476375"/>
            <a:ext cx="4572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Clásicos frente a BETO</a:t>
            </a:r>
          </a:p>
        </p:txBody>
      </p:sp>
      <p:sp>
        <p:nvSpPr>
          <p:cNvPr id="9" name="">
            <a:extLst xmlns:a="http://schemas.openxmlformats.org/drawingml/2006/main">
              <a:ext uri="{FF2B5EF4-FFF2-40B4-BE49-F238E27FC236}">
                <a16:creationId xmlns:a16="http://schemas.microsoft.com/office/drawing/2014/main" id="{35693A9D-073E-4E59-A276-6CAFF609FDE8}"/>
              </a:ext>
            </a:extLst>
          </p:cNvPr>
          <p:cNvSpPr>
            <a:spLocks xmlns:a="http://schemas.openxmlformats.org/drawingml/2006/main" noGrp="1"/>
          </p:cNvSpPr>
          <p:nvPr/>
        </p:nvSpPr>
        <p:spPr>
          <a:xfrm xmlns:a="http://schemas.openxmlformats.org/drawingml/2006/main">
            <a:off x="7029450" y="226695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Desarrollo completo</a:t>
            </a:r>
          </a:p>
        </p:txBody>
      </p:sp>
      <p:graphicFrame>
        <p:nvGraphicFramePr>
          <p:cNvPr id="21" name=""/>
          <p:cNvGraphicFramePr/>
          <p:nvPr/>
        </p:nvGraphicFramePr>
        <p:xfrm>
          <a:off xmlns:a="http://schemas.openxmlformats.org/drawingml/2006/main" x="6762750" y="2962275"/>
          <a:ext xmlns:a="http://schemas.openxmlformats.org/drawingml/2006/main" cx="4933950" cy="2209800"/>
        </p:xfrm>
        <a:graphic xmlns:a="http://schemas.openxmlformats.org/drawingml/2006/main">
          <a:graphicData uri="http://schemas.openxmlformats.org/drawingml/2006/table">
            <a:tbl>
              <a:tblPr/>
              <a:tblGrid>
                <a:gridCol w="2114550"/>
                <a:gridCol w="1409700"/>
                <a:gridCol w="1409700"/>
              </a:tblGrid>
              <a:tr h="552450">
                <a:tc>
                  <a:txBody>
                    <a:bodyPr/>
                    <a:lstStyle/>
                    <a:p>
                      <a:r>
                        <a:rPr sz="1725" b="1">
                          <a:solidFill>
                            <a:srgbClr val="2C637F"/>
                          </a:solidFill>
                          <a:latin typeface="Inter"/>
                          <a:ea typeface="Inter"/>
                          <a:cs typeface="Inter"/>
                        </a:rPr>
                        <a:t>Métrica</a:t>
                      </a:r>
                    </a:p>
                  </a:txBody>
                  <a:tcPr marL="91440" marR="91440" marT="45720" marB="45720">
                    <a:solidFill>
                      <a:srgbClr val="E2F2FA"/>
                    </a:solidFill>
                  </a:tcPr>
                </a:tc>
                <a:tc>
                  <a:txBody>
                    <a:bodyPr/>
                    <a:lstStyle/>
                    <a:p>
                      <a:r>
                        <a:rPr sz="1725" b="1">
                          <a:solidFill>
                            <a:srgbClr val="2C637F"/>
                          </a:solidFill>
                          <a:latin typeface="Inter"/>
                          <a:ea typeface="Inter"/>
                          <a:cs typeface="Inter"/>
                        </a:rPr>
                        <a:t>Clásico</a:t>
                      </a:r>
                    </a:p>
                  </a:txBody>
                  <a:tcPr marL="91440" marR="91440" marT="45720" marB="45720">
                    <a:solidFill>
                      <a:srgbClr val="E2F2FA"/>
                    </a:solidFill>
                  </a:tcPr>
                </a:tc>
                <a:tc>
                  <a:txBody>
                    <a:bodyPr/>
                    <a:lstStyle/>
                    <a:p>
                      <a:r>
                        <a:rPr sz="1725" b="1">
                          <a:solidFill>
                            <a:srgbClr val="2C637F"/>
                          </a:solidFill>
                          <a:latin typeface="Inter"/>
                          <a:ea typeface="Inter"/>
                          <a:cs typeface="Inter"/>
                        </a:rPr>
                        <a:t>BETO</a:t>
                      </a:r>
                    </a:p>
                  </a:txBody>
                  <a:tcPr marL="91440" marR="91440" marT="45720" marB="45720">
                    <a:solidFill>
                      <a:srgbClr val="E2F2FA"/>
                    </a:solidFill>
                  </a:tcPr>
                </a:tc>
              </a:tr>
              <a:tr h="552450">
                <a:tc>
                  <a:txBody>
                    <a:bodyPr/>
                    <a:lstStyle/>
                    <a:p>
                      <a:r>
                        <a:rPr sz="1725" b="0">
                          <a:solidFill>
                            <a:srgbClr val="152E3C"/>
                          </a:solidFill>
                          <a:latin typeface="Inter"/>
                          <a:ea typeface="Inter"/>
                          <a:cs typeface="Inter"/>
                        </a:rPr>
                        <a:t>S1 macro-F1</a:t>
                      </a:r>
                    </a:p>
                  </a:txBody>
                  <a:tcPr marL="91440" marR="91440" marT="45720" marB="45720">
                    <a:solidFill>
                      <a:srgbClr val="FFFFFF"/>
                    </a:solidFill>
                  </a:tcPr>
                </a:tc>
                <a:tc>
                  <a:txBody>
                    <a:bodyPr/>
                    <a:lstStyle/>
                    <a:p>
                      <a:r>
                        <a:rPr sz="1725" b="0">
                          <a:solidFill>
                            <a:srgbClr val="152E3C"/>
                          </a:solidFill>
                          <a:latin typeface="Inter"/>
                          <a:ea typeface="Inter"/>
                          <a:cs typeface="Inter"/>
                        </a:rPr>
                        <a:t>0.4974*</a:t>
                      </a:r>
                    </a:p>
                  </a:txBody>
                  <a:tcPr marL="91440" marR="91440" marT="45720" marB="45720">
                    <a:solidFill>
                      <a:srgbClr val="FFFFFF"/>
                    </a:solidFill>
                  </a:tcPr>
                </a:tc>
                <a:tc>
                  <a:txBody>
                    <a:bodyPr/>
                    <a:lstStyle/>
                    <a:p>
                      <a:r>
                        <a:rPr sz="1725" b="0">
                          <a:solidFill>
                            <a:srgbClr val="152E3C"/>
                          </a:solidFill>
                          <a:latin typeface="Inter"/>
                          <a:ea typeface="Inter"/>
                          <a:cs typeface="Inter"/>
                        </a:rPr>
                        <a:t>0.5429</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macro-F1</a:t>
                      </a:r>
                    </a:p>
                  </a:txBody>
                  <a:tcPr marL="91440" marR="91440" marT="45720" marB="45720">
                    <a:solidFill>
                      <a:srgbClr val="FFFFFF"/>
                    </a:solidFill>
                  </a:tcPr>
                </a:tc>
                <a:tc>
                  <a:txBody>
                    <a:bodyPr/>
                    <a:lstStyle/>
                    <a:p>
                      <a:r>
                        <a:rPr sz="1725" b="0">
                          <a:solidFill>
                            <a:srgbClr val="152E3C"/>
                          </a:solidFill>
                          <a:latin typeface="Inter"/>
                          <a:ea typeface="Inter"/>
                          <a:cs typeface="Inter"/>
                        </a:rPr>
                        <a:t>0.7642</a:t>
                      </a:r>
                    </a:p>
                  </a:txBody>
                  <a:tcPr marL="91440" marR="91440" marT="45720" marB="45720">
                    <a:solidFill>
                      <a:srgbClr val="FFFFFF"/>
                    </a:solidFill>
                  </a:tcPr>
                </a:tc>
                <a:tc>
                  <a:txBody>
                    <a:bodyPr/>
                    <a:lstStyle/>
                    <a:p>
                      <a:r>
                        <a:rPr sz="1725" b="0">
                          <a:solidFill>
                            <a:srgbClr val="152E3C"/>
                          </a:solidFill>
                          <a:latin typeface="Inter"/>
                          <a:ea typeface="Inter"/>
                          <a:cs typeface="Inter"/>
                        </a:rPr>
                        <a:t>0.8198</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micro-F1</a:t>
                      </a:r>
                    </a:p>
                  </a:txBody>
                  <a:tcPr marL="91440" marR="91440" marT="45720" marB="45720">
                    <a:solidFill>
                      <a:srgbClr val="FFFFFF"/>
                    </a:solidFill>
                  </a:tcPr>
                </a:tc>
                <a:tc>
                  <a:txBody>
                    <a:bodyPr/>
                    <a:lstStyle/>
                    <a:p>
                      <a:r>
                        <a:rPr sz="1725" b="0">
                          <a:solidFill>
                            <a:srgbClr val="152E3C"/>
                          </a:solidFill>
                          <a:latin typeface="Inter"/>
                          <a:ea typeface="Inter"/>
                          <a:cs typeface="Inter"/>
                        </a:rPr>
                        <a:t>0.8449</a:t>
                      </a:r>
                    </a:p>
                  </a:txBody>
                  <a:tcPr marL="91440" marR="91440" marT="45720" marB="45720">
                    <a:solidFill>
                      <a:srgbClr val="FFFFFF"/>
                    </a:solidFill>
                  </a:tcPr>
                </a:tc>
                <a:tc>
                  <a:txBody>
                    <a:bodyPr/>
                    <a:lstStyle/>
                    <a:p>
                      <a:r>
                        <a:rPr sz="1725" b="0">
                          <a:solidFill>
                            <a:srgbClr val="152E3C"/>
                          </a:solidFill>
                          <a:latin typeface="Inter"/>
                          <a:ea typeface="Inter"/>
                          <a:cs typeface="Inter"/>
                        </a:rPr>
                        <a:t>0.8685</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D9657053-2CE2-474B-A470-7E7F144F5588}"/>
              </a:ext>
            </a:extLst>
          </p:cNvPr>
          <p:cNvSpPr>
            <a:spLocks xmlns:a="http://schemas.openxmlformats.org/drawingml/2006/main" noGrp="1"/>
          </p:cNvSpPr>
          <p:nvPr/>
        </p:nvSpPr>
        <p:spPr>
          <a:xfrm xmlns:a="http://schemas.openxmlformats.org/drawingml/2006/main">
            <a:off x="6762750" y="5448300"/>
            <a:ext cx="49339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*S1: referencia clásica temprana.</a:t>
            </a:r>
          </a:p>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S2: SVM caracteres / BETO umbral 0.45.</a:t>
            </a:r>
          </a:p>
        </p:txBody>
      </p:sp>
    </p:spTree>
    <p:extLst>
      <p:ext uri="{BB962C8B-B14F-4D97-AF65-F5344CB8AC3E}">
        <p14:creationId xmlns:p14="http://schemas.microsoft.com/office/powerpoint/2010/main" val="32985487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9935E5D8-0A7A-42D3-B119-5F4021C13F70}"/>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El problema determina las salidas</a:t>
            </a:r>
          </a:p>
        </p:txBody>
      </p:sp>
      <p:sp>
        <p:nvSpPr>
          <p:cNvPr id="2" name="">
            <a:extLst xmlns:a="http://schemas.openxmlformats.org/drawingml/2006/main">
              <a:ext uri="{FF2B5EF4-FFF2-40B4-BE49-F238E27FC236}">
                <a16:creationId xmlns:a16="http://schemas.microsoft.com/office/drawing/2014/main" id="{A13635DB-36E9-4683-9FD6-D9E2238DEE66}"/>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700FDA15-D772-40C4-9752-628310B0E13A}"/>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04</a:t>
            </a:r>
          </a:p>
        </p:txBody>
      </p:sp>
      <p:sp>
        <p:nvSpPr>
          <p:cNvPr id="4" name="">
            <a:extLst xmlns:a="http://schemas.openxmlformats.org/drawingml/2006/main">
              <a:ext uri="{FF2B5EF4-FFF2-40B4-BE49-F238E27FC236}">
                <a16:creationId xmlns:a16="http://schemas.microsoft.com/office/drawing/2014/main" id="{447F5644-092A-430B-BBFE-906A468D4C0F}"/>
              </a:ext>
            </a:extLst>
          </p:cNvPr>
          <p:cNvSpPr>
            <a:spLocks xmlns:a="http://schemas.openxmlformats.org/drawingml/2006/main" noGrp="1"/>
          </p:cNvSpPr>
          <p:nvPr/>
        </p:nvSpPr>
        <p:spPr>
          <a:xfrm xmlns:a="http://schemas.openxmlformats.org/drawingml/2006/main">
            <a:off x="457200" y="1419225"/>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S1 · Receta BETO aumentada (augrep08)</a:t>
            </a:r>
          </a:p>
        </p:txBody>
      </p:sp>
      <p:sp>
        <p:nvSpPr>
          <p:cNvPr id="5" name="">
            <a:extLst xmlns:a="http://schemas.openxmlformats.org/drawingml/2006/main">
              <a:ext uri="{FF2B5EF4-FFF2-40B4-BE49-F238E27FC236}">
                <a16:creationId xmlns:a16="http://schemas.microsoft.com/office/drawing/2014/main" id="{5B467CDA-9E48-4E4B-98E7-C48F256677F6}"/>
              </a:ext>
            </a:extLst>
          </p:cNvPr>
          <p:cNvSpPr>
            <a:spLocks xmlns:a="http://schemas.openxmlformats.org/drawingml/2006/main" noGrp="1"/>
          </p:cNvSpPr>
          <p:nvPr/>
        </p:nvSpPr>
        <p:spPr>
          <a:xfrm xmlns:a="http://schemas.openxmlformats.org/drawingml/2006/main">
            <a:off x="457200" y="2247900"/>
            <a:ext cx="1885950" cy="9620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585CACE6-3570-480E-9F13-23B10D529B92}"/>
              </a:ext>
            </a:extLst>
          </p:cNvPr>
          <p:cNvSpPr>
            <a:spLocks xmlns:a="http://schemas.openxmlformats.org/drawingml/2006/main" noGrp="1"/>
          </p:cNvSpPr>
          <p:nvPr/>
        </p:nvSpPr>
        <p:spPr>
          <a:xfrm xmlns:a="http://schemas.openxmlformats.org/drawingml/2006/main">
            <a:off x="600075" y="2371725"/>
            <a:ext cx="16002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Texto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512 tokens</a:t>
            </a:r>
          </a:p>
        </p:txBody>
      </p:sp>
      <p:sp>
        <p:nvSpPr>
          <p:cNvPr id="7" name="">
            <a:extLst xmlns:a="http://schemas.openxmlformats.org/drawingml/2006/main">
              <a:ext uri="{FF2B5EF4-FFF2-40B4-BE49-F238E27FC236}">
                <a16:creationId xmlns:a16="http://schemas.microsoft.com/office/drawing/2014/main" id="{9688AF1D-911B-44ED-8C4E-8C2C65949231}"/>
              </a:ext>
            </a:extLst>
          </p:cNvPr>
          <p:cNvSpPr>
            <a:spLocks xmlns:a="http://schemas.openxmlformats.org/drawingml/2006/main" noGrp="1"/>
          </p:cNvSpPr>
          <p:nvPr/>
        </p:nvSpPr>
        <p:spPr>
          <a:xfrm xmlns:a="http://schemas.openxmlformats.org/drawingml/2006/main">
            <a:off x="2809875" y="2343150"/>
            <a:ext cx="1581150" cy="762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F8A11721-3088-41D3-A540-EA1099AA2F57}"/>
              </a:ext>
            </a:extLst>
          </p:cNvPr>
          <p:cNvSpPr>
            <a:spLocks xmlns:a="http://schemas.openxmlformats.org/drawingml/2006/main" noGrp="1"/>
          </p:cNvSpPr>
          <p:nvPr/>
        </p:nvSpPr>
        <p:spPr>
          <a:xfrm xmlns:a="http://schemas.openxmlformats.org/drawingml/2006/main">
            <a:off x="2952750" y="2466975"/>
            <a:ext cx="1295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p:txBody>
      </p:sp>
      <p:sp>
        <p:nvSpPr>
          <p:cNvPr id="9" name="">
            <a:extLst xmlns:a="http://schemas.openxmlformats.org/drawingml/2006/main">
              <a:ext uri="{FF2B5EF4-FFF2-40B4-BE49-F238E27FC236}">
                <a16:creationId xmlns:a16="http://schemas.microsoft.com/office/drawing/2014/main" id="{87774F75-B6C5-4ADC-BBF5-1F3A9C5B7498}"/>
              </a:ext>
            </a:extLst>
          </p:cNvPr>
          <p:cNvSpPr>
            <a:spLocks xmlns:a="http://schemas.openxmlformats.org/drawingml/2006/main" noGrp="1"/>
          </p:cNvSpPr>
          <p:nvPr/>
        </p:nvSpPr>
        <p:spPr>
          <a:xfrm xmlns:a="http://schemas.openxmlformats.org/drawingml/2006/main">
            <a:off x="5114925" y="1905000"/>
            <a:ext cx="6524625" cy="8286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971D7BD0-B4DA-4020-9E7E-8D1061AA5DF7}"/>
              </a:ext>
            </a:extLst>
          </p:cNvPr>
          <p:cNvSpPr>
            <a:spLocks xmlns:a="http://schemas.openxmlformats.org/drawingml/2006/main" noGrp="1"/>
          </p:cNvSpPr>
          <p:nvPr/>
        </p:nvSpPr>
        <p:spPr>
          <a:xfrm xmlns:a="http://schemas.openxmlformats.org/drawingml/2006/main">
            <a:off x="5257800" y="2028825"/>
            <a:ext cx="62388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Softmax</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Mild / Medium / High / Severe</a:t>
            </a:r>
          </a:p>
        </p:txBody>
      </p:sp>
      <p:sp>
        <p:nvSpPr>
          <p:cNvPr id="11" name="">
            <a:extLst xmlns:a="http://schemas.openxmlformats.org/drawingml/2006/main">
              <a:ext uri="{FF2B5EF4-FFF2-40B4-BE49-F238E27FC236}">
                <a16:creationId xmlns:a16="http://schemas.microsoft.com/office/drawing/2014/main" id="{4716331D-A7CC-4603-9737-3E0600AC39A0}"/>
              </a:ext>
            </a:extLst>
          </p:cNvPr>
          <p:cNvSpPr>
            <a:spLocks xmlns:a="http://schemas.openxmlformats.org/drawingml/2006/main" noGrp="1"/>
          </p:cNvSpPr>
          <p:nvPr/>
        </p:nvSpPr>
        <p:spPr>
          <a:xfrm xmlns:a="http://schemas.openxmlformats.org/drawingml/2006/main">
            <a:off x="5114925" y="3333750"/>
            <a:ext cx="652462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981FDC65-FD0F-4C85-8E61-EF8BF8D4632A}"/>
              </a:ext>
            </a:extLst>
          </p:cNvPr>
          <p:cNvSpPr>
            <a:spLocks xmlns:a="http://schemas.openxmlformats.org/drawingml/2006/main" noGrp="1"/>
          </p:cNvSpPr>
          <p:nvPr/>
        </p:nvSpPr>
        <p:spPr>
          <a:xfrm xmlns:a="http://schemas.openxmlformats.org/drawingml/2006/main">
            <a:off x="5257800" y="3457575"/>
            <a:ext cx="6238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Cabeza auxiliar de 7 tipos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Etiquetas suaves donde existen</a:t>
            </a:r>
          </a:p>
        </p:txBody>
      </p:sp>
      <p:cxnSp>
        <p:nvCxnSpPr>
          <p:cNvPr id="38" name=""/>
          <p:cNvCxnSpPr>
            <a:stCxn xmlns:a="http://schemas.openxmlformats.org/drawingml/2006/main" id="5" idx="3"/>
            <a:endCxn xmlns:a="http://schemas.openxmlformats.org/drawingml/2006/main" id="7" idx="1"/>
          </p:cNvCxnSpPr>
          <p:nvPr/>
        </p:nvCxnSpPr>
        <p:spPr>
          <a:xfrm xmlns:a="http://schemas.openxmlformats.org/drawingml/2006/main" flipV="1">
            <a:off x="2343150" y="2724150"/>
            <a:ext cx="466725" cy="47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9" name=""/>
          <p:cNvCxnSpPr>
            <a:stCxn xmlns:a="http://schemas.openxmlformats.org/drawingml/2006/main" id="7" idx="3"/>
            <a:endCxn xmlns:a="http://schemas.openxmlformats.org/drawingml/2006/main" id="9" idx="1"/>
          </p:cNvCxnSpPr>
          <p:nvPr/>
        </p:nvCxnSpPr>
        <p:spPr>
          <a:xfrm xmlns:a="http://schemas.openxmlformats.org/drawingml/2006/main" flipV="1">
            <a:off x="4391025" y="2319338"/>
            <a:ext cx="723900" cy="40481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40" name=""/>
          <p:cNvCxnSpPr>
            <a:stCxn xmlns:a="http://schemas.openxmlformats.org/drawingml/2006/main" id="7" idx="3"/>
            <a:endCxn xmlns:a="http://schemas.openxmlformats.org/drawingml/2006/main" id="11" idx="1"/>
          </p:cNvCxnSpPr>
          <p:nvPr/>
        </p:nvCxnSpPr>
        <p:spPr>
          <a:xfrm xmlns:a="http://schemas.openxmlformats.org/drawingml/2006/main">
            <a:off x="4391025" y="2724150"/>
            <a:ext cx="723900" cy="101917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C3574E31-8DD7-4DB9-BFBB-473FC62E92C5}"/>
              </a:ext>
            </a:extLst>
          </p:cNvPr>
          <p:cNvSpPr>
            <a:spLocks xmlns:a="http://schemas.openxmlformats.org/drawingml/2006/main" noGrp="1"/>
          </p:cNvSpPr>
          <p:nvPr/>
        </p:nvSpPr>
        <p:spPr>
          <a:xfrm xmlns:a="http://schemas.openxmlformats.org/drawingml/2006/main">
            <a:off x="5286375" y="2857500"/>
            <a:ext cx="633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Focal ponderada + distancia ordinal (0.05)</a:t>
            </a:r>
          </a:p>
        </p:txBody>
      </p:sp>
      <p:sp>
        <p:nvSpPr>
          <p:cNvPr id="17" name="">
            <a:extLst xmlns:a="http://schemas.openxmlformats.org/drawingml/2006/main">
              <a:ext uri="{FF2B5EF4-FFF2-40B4-BE49-F238E27FC236}">
                <a16:creationId xmlns:a16="http://schemas.microsoft.com/office/drawing/2014/main" id="{5AF2E240-0D9D-4B47-91BB-5D2677835318}"/>
              </a:ext>
            </a:extLst>
          </p:cNvPr>
          <p:cNvSpPr>
            <a:spLocks xmlns:a="http://schemas.openxmlformats.org/drawingml/2006/main" noGrp="1"/>
          </p:cNvSpPr>
          <p:nvPr/>
        </p:nvSpPr>
        <p:spPr>
          <a:xfrm xmlns:a="http://schemas.openxmlformats.org/drawingml/2006/main">
            <a:off x="5286375" y="4257675"/>
            <a:ext cx="6334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BCE enmascarada · Peso 0.3 · Incluye N/A</a:t>
            </a:r>
          </a:p>
        </p:txBody>
      </p:sp>
      <p:sp>
        <p:nvSpPr>
          <p:cNvPr id="18" name="">
            <a:extLst xmlns:a="http://schemas.openxmlformats.org/drawingml/2006/main">
              <a:ext uri="{FF2B5EF4-FFF2-40B4-BE49-F238E27FC236}">
                <a16:creationId xmlns:a16="http://schemas.microsoft.com/office/drawing/2014/main" id="{CDEF614C-C613-4AFC-9AC9-868849F18F5B}"/>
              </a:ext>
            </a:extLst>
          </p:cNvPr>
          <p:cNvSpPr>
            <a:spLocks xmlns:a="http://schemas.openxmlformats.org/drawingml/2006/main" noGrp="1"/>
          </p:cNvSpPr>
          <p:nvPr/>
        </p:nvSpPr>
        <p:spPr>
          <a:xfrm xmlns:a="http://schemas.openxmlformats.org/drawingml/2006/main">
            <a:off x="457200" y="3476625"/>
            <a:ext cx="3905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Espacios normalizados</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Tokenización y truncamiento</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Padding por lote</a:t>
            </a:r>
          </a:p>
        </p:txBody>
      </p:sp>
      <p:sp>
        <p:nvSpPr>
          <p:cNvPr id="19" name="">
            <a:extLst xmlns:a="http://schemas.openxmlformats.org/drawingml/2006/main">
              <a:ext uri="{FF2B5EF4-FFF2-40B4-BE49-F238E27FC236}">
                <a16:creationId xmlns:a16="http://schemas.microsoft.com/office/drawing/2014/main" id="{C35FCC05-C1E4-4036-A532-EBE6C35D410E}"/>
              </a:ext>
            </a:extLst>
          </p:cNvPr>
          <p:cNvSpPr>
            <a:spLocks xmlns:a="http://schemas.openxmlformats.org/drawingml/2006/main" noGrp="1"/>
          </p:cNvSpPr>
          <p:nvPr/>
        </p:nvSpPr>
        <p:spPr>
          <a:xfrm xmlns:a="http://schemas.openxmlformats.org/drawingml/2006/main">
            <a:off x="457200" y="4762500"/>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S2 · Componente final independiente</a:t>
            </a:r>
          </a:p>
        </p:txBody>
      </p:sp>
      <p:sp>
        <p:nvSpPr>
          <p:cNvPr id="20" name="">
            <a:extLst xmlns:a="http://schemas.openxmlformats.org/drawingml/2006/main">
              <a:ext uri="{FF2B5EF4-FFF2-40B4-BE49-F238E27FC236}">
                <a16:creationId xmlns:a16="http://schemas.microsoft.com/office/drawing/2014/main" id="{7FC27DDA-2265-4A70-B7D9-424080D9656A}"/>
              </a:ext>
            </a:extLst>
          </p:cNvPr>
          <p:cNvSpPr>
            <a:spLocks xmlns:a="http://schemas.openxmlformats.org/drawingml/2006/main" noGrp="1"/>
          </p:cNvSpPr>
          <p:nvPr/>
        </p:nvSpPr>
        <p:spPr>
          <a:xfrm xmlns:a="http://schemas.openxmlformats.org/drawingml/2006/main">
            <a:off x="457200" y="5257800"/>
            <a:ext cx="242887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52D194D8-9815-40CE-95CA-C77BB1AD471B}"/>
              </a:ext>
            </a:extLst>
          </p:cNvPr>
          <p:cNvSpPr>
            <a:spLocks xmlns:a="http://schemas.openxmlformats.org/drawingml/2006/main" noGrp="1"/>
          </p:cNvSpPr>
          <p:nvPr/>
        </p:nvSpPr>
        <p:spPr>
          <a:xfrm xmlns:a="http://schemas.openxmlformats.org/drawingml/2006/main">
            <a:off x="600075" y="5381625"/>
            <a:ext cx="2143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384 tokens</a:t>
            </a:r>
          </a:p>
        </p:txBody>
      </p:sp>
      <p:sp>
        <p:nvSpPr>
          <p:cNvPr id="22" name="">
            <a:extLst xmlns:a="http://schemas.openxmlformats.org/drawingml/2006/main">
              <a:ext uri="{FF2B5EF4-FFF2-40B4-BE49-F238E27FC236}">
                <a16:creationId xmlns:a16="http://schemas.microsoft.com/office/drawing/2014/main" id="{0F641793-9FD3-4E55-807A-A4CB1104D07F}"/>
              </a:ext>
            </a:extLst>
          </p:cNvPr>
          <p:cNvSpPr>
            <a:spLocks xmlns:a="http://schemas.openxmlformats.org/drawingml/2006/main" noGrp="1"/>
          </p:cNvSpPr>
          <p:nvPr/>
        </p:nvSpPr>
        <p:spPr>
          <a:xfrm xmlns:a="http://schemas.openxmlformats.org/drawingml/2006/main">
            <a:off x="3390900" y="5257800"/>
            <a:ext cx="2476500"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3" name="">
            <a:extLst xmlns:a="http://schemas.openxmlformats.org/drawingml/2006/main">
              <a:ext uri="{FF2B5EF4-FFF2-40B4-BE49-F238E27FC236}">
                <a16:creationId xmlns:a16="http://schemas.microsoft.com/office/drawing/2014/main" id="{801D384E-DAEE-46CF-86FE-E6D6EF5A2DEC}"/>
              </a:ext>
            </a:extLst>
          </p:cNvPr>
          <p:cNvSpPr>
            <a:spLocks xmlns:a="http://schemas.openxmlformats.org/drawingml/2006/main" noGrp="1"/>
          </p:cNvSpPr>
          <p:nvPr/>
        </p:nvSpPr>
        <p:spPr>
          <a:xfrm xmlns:a="http://schemas.openxmlformats.org/drawingml/2006/main">
            <a:off x="3533775" y="5381625"/>
            <a:ext cx="2190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 sigmoid</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Umbral ≥ 0.45</a:t>
            </a:r>
          </a:p>
        </p:txBody>
      </p:sp>
      <p:cxnSp>
        <p:nvCxnSpPr>
          <p:cNvPr id="49" name=""/>
          <p:cNvCxnSpPr>
            <a:stCxn xmlns:a="http://schemas.openxmlformats.org/drawingml/2006/main" id="20" idx="3"/>
            <a:endCxn xmlns:a="http://schemas.openxmlformats.org/drawingml/2006/main" id="22" idx="1"/>
          </p:cNvCxnSpPr>
          <p:nvPr/>
        </p:nvCxnSpPr>
        <p:spPr>
          <a:xfrm xmlns:a="http://schemas.openxmlformats.org/drawingml/2006/main">
            <a:off x="2886075" y="5667375"/>
            <a:ext cx="5048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5" name="">
            <a:extLst xmlns:a="http://schemas.openxmlformats.org/drawingml/2006/main">
              <a:ext uri="{FF2B5EF4-FFF2-40B4-BE49-F238E27FC236}">
                <a16:creationId xmlns:a16="http://schemas.microsoft.com/office/drawing/2014/main" id="{E5310195-50B6-4CCA-AFC2-AFF14462E272}"/>
              </a:ext>
            </a:extLst>
          </p:cNvPr>
          <p:cNvSpPr>
            <a:spLocks xmlns:a="http://schemas.openxmlformats.org/drawingml/2006/main" noGrp="1"/>
          </p:cNvSpPr>
          <p:nvPr/>
        </p:nvSpPr>
        <p:spPr>
          <a:xfrm xmlns:a="http://schemas.openxmlformats.org/drawingml/2006/main">
            <a:off x="6324600" y="5219700"/>
            <a:ext cx="5410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Económica, física, patrimonial,</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psicológica, sexual, vicaria</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N/A si ninguna se activa</a:t>
            </a:r>
          </a:p>
        </p:txBody>
      </p:sp>
    </p:spTree>
    <p:extLst>
      <p:ext uri="{BB962C8B-B14F-4D97-AF65-F5344CB8AC3E}">
        <p14:creationId xmlns:p14="http://schemas.microsoft.com/office/powerpoint/2010/main" val="36014548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0CAEF2DB-2BBB-42D9-A993-24E97513F9E7}"/>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Aumentación dirigida a Severe</a:t>
            </a:r>
          </a:p>
        </p:txBody>
      </p:sp>
      <p:sp>
        <p:nvSpPr>
          <p:cNvPr id="2" name="">
            <a:extLst xmlns:a="http://schemas.openxmlformats.org/drawingml/2006/main">
              <a:ext uri="{FF2B5EF4-FFF2-40B4-BE49-F238E27FC236}">
                <a16:creationId xmlns:a16="http://schemas.microsoft.com/office/drawing/2014/main" id="{3288C415-1DCD-45AA-A280-36B5E98CEB5E}"/>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615083A7-BD32-4FE2-B8BD-FC9773FBEBF3}"/>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05</a:t>
            </a:r>
          </a:p>
        </p:txBody>
      </p:sp>
      <p:sp>
        <p:nvSpPr>
          <p:cNvPr id="4" name="">
            <a:extLst xmlns:a="http://schemas.openxmlformats.org/drawingml/2006/main">
              <a:ext uri="{FF2B5EF4-FFF2-40B4-BE49-F238E27FC236}">
                <a16:creationId xmlns:a16="http://schemas.microsoft.com/office/drawing/2014/main" id="{0A87E66E-BF40-420E-A6D0-75227C5DA758}"/>
              </a:ext>
            </a:extLst>
          </p:cNvPr>
          <p:cNvSpPr>
            <a:spLocks xmlns:a="http://schemas.openxmlformats.org/drawingml/2006/main" noGrp="1"/>
          </p:cNvSpPr>
          <p:nvPr/>
        </p:nvSpPr>
        <p:spPr>
          <a:xfrm xmlns:a="http://schemas.openxmlformats.org/drawingml/2006/main">
            <a:off x="457200" y="136207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Solo entrenamiento · Originales conservados · Etiquetas heredadas</a:t>
            </a:r>
          </a:p>
        </p:txBody>
      </p:sp>
      <p:sp>
        <p:nvSpPr>
          <p:cNvPr id="5" name="">
            <a:extLst xmlns:a="http://schemas.openxmlformats.org/drawingml/2006/main">
              <a:ext uri="{FF2B5EF4-FFF2-40B4-BE49-F238E27FC236}">
                <a16:creationId xmlns:a16="http://schemas.microsoft.com/office/drawing/2014/main" id="{E92EE895-D9B0-4D33-ABF7-312AB9005538}"/>
              </a:ext>
            </a:extLst>
          </p:cNvPr>
          <p:cNvSpPr>
            <a:spLocks xmlns:a="http://schemas.openxmlformats.org/drawingml/2006/main" noGrp="1"/>
          </p:cNvSpPr>
          <p:nvPr/>
        </p:nvSpPr>
        <p:spPr>
          <a:xfrm xmlns:a="http://schemas.openxmlformats.org/drawingml/2006/main">
            <a:off x="457200" y="2019300"/>
            <a:ext cx="2447925"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1C7E92D3-8EE6-4152-B689-D7B2E29BF276}"/>
              </a:ext>
            </a:extLst>
          </p:cNvPr>
          <p:cNvSpPr>
            <a:spLocks xmlns:a="http://schemas.openxmlformats.org/drawingml/2006/main" noGrp="1"/>
          </p:cNvSpPr>
          <p:nvPr/>
        </p:nvSpPr>
        <p:spPr>
          <a:xfrm xmlns:a="http://schemas.openxmlformats.org/drawingml/2006/main">
            <a:off x="600075" y="2143125"/>
            <a:ext cx="21621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616 Severe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13,630 reportes</a:t>
            </a:r>
          </a:p>
        </p:txBody>
      </p:sp>
      <p:sp>
        <p:nvSpPr>
          <p:cNvPr id="7" name="">
            <a:extLst xmlns:a="http://schemas.openxmlformats.org/drawingml/2006/main">
              <a:ext uri="{FF2B5EF4-FFF2-40B4-BE49-F238E27FC236}">
                <a16:creationId xmlns:a16="http://schemas.microsoft.com/office/drawing/2014/main" id="{5078C756-6518-45C2-9349-9F967459BE1E}"/>
              </a:ext>
            </a:extLst>
          </p:cNvPr>
          <p:cNvSpPr>
            <a:spLocks xmlns:a="http://schemas.openxmlformats.org/drawingml/2006/main" noGrp="1"/>
          </p:cNvSpPr>
          <p:nvPr/>
        </p:nvSpPr>
        <p:spPr>
          <a:xfrm xmlns:a="http://schemas.openxmlformats.org/drawingml/2006/main">
            <a:off x="3562350" y="2019300"/>
            <a:ext cx="421005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5108A019-3925-4229-B03D-75BA9101F873}"/>
              </a:ext>
            </a:extLst>
          </p:cNvPr>
          <p:cNvSpPr>
            <a:spLocks xmlns:a="http://schemas.openxmlformats.org/drawingml/2006/main" noGrp="1"/>
          </p:cNvSpPr>
          <p:nvPr/>
        </p:nvSpPr>
        <p:spPr>
          <a:xfrm xmlns:a="http://schemas.openxmlformats.org/drawingml/2006/main">
            <a:off x="3705225" y="2143125"/>
            <a:ext cx="39243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Indicios del original</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Relación, horario, acciones</a:t>
            </a:r>
          </a:p>
        </p:txBody>
      </p:sp>
      <p:sp>
        <p:nvSpPr>
          <p:cNvPr id="9" name="">
            <a:extLst xmlns:a="http://schemas.openxmlformats.org/drawingml/2006/main">
              <a:ext uri="{FF2B5EF4-FFF2-40B4-BE49-F238E27FC236}">
                <a16:creationId xmlns:a16="http://schemas.microsoft.com/office/drawing/2014/main" id="{EE42E17B-E94D-4B6E-861E-1F1D59D08331}"/>
              </a:ext>
            </a:extLst>
          </p:cNvPr>
          <p:cNvSpPr>
            <a:spLocks xmlns:a="http://schemas.openxmlformats.org/drawingml/2006/main" noGrp="1"/>
          </p:cNvSpPr>
          <p:nvPr/>
        </p:nvSpPr>
        <p:spPr>
          <a:xfrm xmlns:a="http://schemas.openxmlformats.org/drawingml/2006/main">
            <a:off x="8439150" y="2019300"/>
            <a:ext cx="323850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43167F14-713C-457D-84B0-7BE8BE40C359}"/>
              </a:ext>
            </a:extLst>
          </p:cNvPr>
          <p:cNvSpPr>
            <a:spLocks xmlns:a="http://schemas.openxmlformats.org/drawingml/2006/main" noGrp="1"/>
          </p:cNvSpPr>
          <p:nvPr/>
        </p:nvSpPr>
        <p:spPr>
          <a:xfrm xmlns:a="http://schemas.openxmlformats.org/drawingml/2006/main">
            <a:off x="8582025" y="214312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+516 textos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Máximo 2 por origen</a:t>
            </a:r>
          </a:p>
        </p:txBody>
      </p:sp>
      <p:cxnSp>
        <p:nvCxnSpPr>
          <p:cNvPr id="36" name=""/>
          <p:cNvCxnSpPr>
            <a:stCxn xmlns:a="http://schemas.openxmlformats.org/drawingml/2006/main" id="5" idx="3"/>
            <a:endCxn xmlns:a="http://schemas.openxmlformats.org/drawingml/2006/main" id="7" idx="1"/>
          </p:cNvCxnSpPr>
          <p:nvPr/>
        </p:nvCxnSpPr>
        <p:spPr>
          <a:xfrm xmlns:a="http://schemas.openxmlformats.org/drawingml/2006/main">
            <a:off x="2905125" y="2519363"/>
            <a:ext cx="6572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7" idx="3"/>
            <a:endCxn xmlns:a="http://schemas.openxmlformats.org/drawingml/2006/main" id="9" idx="1"/>
          </p:cNvCxnSpPr>
          <p:nvPr/>
        </p:nvCxnSpPr>
        <p:spPr>
          <a:xfrm xmlns:a="http://schemas.openxmlformats.org/drawingml/2006/main">
            <a:off x="7772400" y="2519363"/>
            <a:ext cx="66675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3" name="">
            <a:extLst xmlns:a="http://schemas.openxmlformats.org/drawingml/2006/main">
              <a:ext uri="{FF2B5EF4-FFF2-40B4-BE49-F238E27FC236}">
                <a16:creationId xmlns:a16="http://schemas.microsoft.com/office/drawing/2014/main" id="{89335D57-72DC-48F9-8153-814289356518}"/>
              </a:ext>
            </a:extLst>
          </p:cNvPr>
          <p:cNvSpPr>
            <a:spLocks xmlns:a="http://schemas.openxmlformats.org/drawingml/2006/main" noGrp="1"/>
          </p:cNvSpPr>
          <p:nvPr/>
        </p:nvSpPr>
        <p:spPr>
          <a:xfrm xmlns:a="http://schemas.openxmlformats.org/drawingml/2006/main">
            <a:off x="457200" y="3429000"/>
            <a:ext cx="709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Composición con plantillas de reporte</a:t>
            </a:r>
          </a:p>
        </p:txBody>
      </p:sp>
      <p:sp>
        <p:nvSpPr>
          <p:cNvPr id="14" name="">
            <a:extLst xmlns:a="http://schemas.openxmlformats.org/drawingml/2006/main">
              <a:ext uri="{FF2B5EF4-FFF2-40B4-BE49-F238E27FC236}">
                <a16:creationId xmlns:a16="http://schemas.microsoft.com/office/drawing/2014/main" id="{A9B169FF-3CE6-48C8-9009-EE4A1678F309}"/>
              </a:ext>
            </a:extLst>
          </p:cNvPr>
          <p:cNvSpPr>
            <a:spLocks xmlns:a="http://schemas.openxmlformats.org/drawingml/2006/main" noGrp="1"/>
          </p:cNvSpPr>
          <p:nvPr/>
        </p:nvSpPr>
        <p:spPr>
          <a:xfrm xmlns:a="http://schemas.openxmlformats.org/drawingml/2006/main">
            <a:off x="4572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5" name="">
            <a:extLst xmlns:a="http://schemas.openxmlformats.org/drawingml/2006/main">
              <a:ext uri="{FF2B5EF4-FFF2-40B4-BE49-F238E27FC236}">
                <a16:creationId xmlns:a16="http://schemas.microsoft.com/office/drawing/2014/main" id="{14811079-E308-417C-A31B-B704997E9BDB}"/>
              </a:ext>
            </a:extLst>
          </p:cNvPr>
          <p:cNvSpPr>
            <a:spLocks xmlns:a="http://schemas.openxmlformats.org/drawingml/2006/main" noGrp="1"/>
          </p:cNvSpPr>
          <p:nvPr/>
        </p:nvSpPr>
        <p:spPr>
          <a:xfrm xmlns:a="http://schemas.openxmlformats.org/drawingml/2006/main">
            <a:off x="6000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Apertura</a:t>
            </a:r>
          </a:p>
        </p:txBody>
      </p:sp>
      <p:sp>
        <p:nvSpPr>
          <p:cNvPr id="16" name="">
            <a:extLst xmlns:a="http://schemas.openxmlformats.org/drawingml/2006/main">
              <a:ext uri="{FF2B5EF4-FFF2-40B4-BE49-F238E27FC236}">
                <a16:creationId xmlns:a16="http://schemas.microsoft.com/office/drawing/2014/main" id="{A72FE4C1-2543-461C-BD81-CC2DA1DF9D54}"/>
              </a:ext>
            </a:extLst>
          </p:cNvPr>
          <p:cNvSpPr>
            <a:spLocks xmlns:a="http://schemas.openxmlformats.org/drawingml/2006/main" noGrp="1"/>
          </p:cNvSpPr>
          <p:nvPr/>
        </p:nvSpPr>
        <p:spPr>
          <a:xfrm xmlns:a="http://schemas.openxmlformats.org/drawingml/2006/main">
            <a:off x="22860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7" name="">
            <a:extLst xmlns:a="http://schemas.openxmlformats.org/drawingml/2006/main">
              <a:ext uri="{FF2B5EF4-FFF2-40B4-BE49-F238E27FC236}">
                <a16:creationId xmlns:a16="http://schemas.microsoft.com/office/drawing/2014/main" id="{115D4AC4-998B-4E31-BF12-E75C6F21CF06}"/>
              </a:ext>
            </a:extLst>
          </p:cNvPr>
          <p:cNvSpPr>
            <a:spLocks xmlns:a="http://schemas.openxmlformats.org/drawingml/2006/main" noGrp="1"/>
          </p:cNvSpPr>
          <p:nvPr/>
        </p:nvSpPr>
        <p:spPr>
          <a:xfrm xmlns:a="http://schemas.openxmlformats.org/drawingml/2006/main">
            <a:off x="24288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Acciones</a:t>
            </a:r>
          </a:p>
        </p:txBody>
      </p:sp>
      <p:sp>
        <p:nvSpPr>
          <p:cNvPr id="18" name="">
            <a:extLst xmlns:a="http://schemas.openxmlformats.org/drawingml/2006/main">
              <a:ext uri="{FF2B5EF4-FFF2-40B4-BE49-F238E27FC236}">
                <a16:creationId xmlns:a16="http://schemas.microsoft.com/office/drawing/2014/main" id="{76542E41-A887-45C0-8528-8AFA4E2C7178}"/>
              </a:ext>
            </a:extLst>
          </p:cNvPr>
          <p:cNvSpPr>
            <a:spLocks xmlns:a="http://schemas.openxmlformats.org/drawingml/2006/main" noGrp="1"/>
          </p:cNvSpPr>
          <p:nvPr/>
        </p:nvSpPr>
        <p:spPr>
          <a:xfrm xmlns:a="http://schemas.openxmlformats.org/drawingml/2006/main">
            <a:off x="41148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9" name="">
            <a:extLst xmlns:a="http://schemas.openxmlformats.org/drawingml/2006/main">
              <a:ext uri="{FF2B5EF4-FFF2-40B4-BE49-F238E27FC236}">
                <a16:creationId xmlns:a16="http://schemas.microsoft.com/office/drawing/2014/main" id="{48FE12C0-5962-412B-877D-2D2CB635BC58}"/>
              </a:ext>
            </a:extLst>
          </p:cNvPr>
          <p:cNvSpPr>
            <a:spLocks xmlns:a="http://schemas.openxmlformats.org/drawingml/2006/main" noGrp="1"/>
          </p:cNvSpPr>
          <p:nvPr/>
        </p:nvSpPr>
        <p:spPr>
          <a:xfrm xmlns:a="http://schemas.openxmlformats.org/drawingml/2006/main">
            <a:off x="42576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Contexto</a:t>
            </a:r>
          </a:p>
        </p:txBody>
      </p:sp>
      <p:sp>
        <p:nvSpPr>
          <p:cNvPr id="20" name="">
            <a:extLst xmlns:a="http://schemas.openxmlformats.org/drawingml/2006/main">
              <a:ext uri="{FF2B5EF4-FFF2-40B4-BE49-F238E27FC236}">
                <a16:creationId xmlns:a16="http://schemas.microsoft.com/office/drawing/2014/main" id="{EBBE9D39-BBB6-461E-B4AE-6E2504C4A134}"/>
              </a:ext>
            </a:extLst>
          </p:cNvPr>
          <p:cNvSpPr>
            <a:spLocks xmlns:a="http://schemas.openxmlformats.org/drawingml/2006/main" noGrp="1"/>
          </p:cNvSpPr>
          <p:nvPr/>
        </p:nvSpPr>
        <p:spPr>
          <a:xfrm xmlns:a="http://schemas.openxmlformats.org/drawingml/2006/main">
            <a:off x="59436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3E5E59AC-92B7-4178-AED4-D0077006E3BD}"/>
              </a:ext>
            </a:extLst>
          </p:cNvPr>
          <p:cNvSpPr>
            <a:spLocks xmlns:a="http://schemas.openxmlformats.org/drawingml/2006/main" noGrp="1"/>
          </p:cNvSpPr>
          <p:nvPr/>
        </p:nvSpPr>
        <p:spPr>
          <a:xfrm xmlns:a="http://schemas.openxmlformats.org/drawingml/2006/main">
            <a:off x="60864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Cierre</a:t>
            </a:r>
          </a:p>
        </p:txBody>
      </p:sp>
      <p:sp>
        <p:nvSpPr>
          <p:cNvPr id="22" name="">
            <a:extLst xmlns:a="http://schemas.openxmlformats.org/drawingml/2006/main">
              <a:ext uri="{FF2B5EF4-FFF2-40B4-BE49-F238E27FC236}">
                <a16:creationId xmlns:a16="http://schemas.microsoft.com/office/drawing/2014/main" id="{C7930997-3DE4-4822-B03A-0F5527F435E9}"/>
              </a:ext>
            </a:extLst>
          </p:cNvPr>
          <p:cNvSpPr>
            <a:spLocks xmlns:a="http://schemas.openxmlformats.org/drawingml/2006/main" noGrp="1"/>
          </p:cNvSpPr>
          <p:nvPr/>
        </p:nvSpPr>
        <p:spPr>
          <a:xfrm xmlns:a="http://schemas.openxmlformats.org/drawingml/2006/main">
            <a:off x="457200" y="4714875"/>
            <a:ext cx="70008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Semilla estable por registro</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Composición condicionada por indicios</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Generación mediante plantillas</a:t>
            </a:r>
          </a:p>
        </p:txBody>
      </p:sp>
      <p:sp>
        <p:nvSpPr>
          <p:cNvPr id="23" name="">
            <a:extLst xmlns:a="http://schemas.openxmlformats.org/drawingml/2006/main">
              <a:ext uri="{FF2B5EF4-FFF2-40B4-BE49-F238E27FC236}">
                <a16:creationId xmlns:a16="http://schemas.microsoft.com/office/drawing/2014/main" id="{6CB8FB48-D11A-40F2-8E3F-A3E7BC7DA466}"/>
              </a:ext>
            </a:extLst>
          </p:cNvPr>
          <p:cNvSpPr>
            <a:spLocks xmlns:a="http://schemas.openxmlformats.org/drawingml/2006/main" noGrp="1"/>
          </p:cNvSpPr>
          <p:nvPr/>
        </p:nvSpPr>
        <p:spPr>
          <a:xfrm xmlns:a="http://schemas.openxmlformats.org/drawingml/2006/main">
            <a:off x="8134350" y="3419475"/>
            <a:ext cx="3562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Proporción de Severe (%)</a:t>
            </a:r>
          </a:p>
        </p:txBody>
      </p:sp>
      <p:graphicFrame>
        <p:nvGraphicFramePr>
          <p:cNvPr id="49" name="Chart"/>
          <p:cNvGraphicFramePr/>
          <p:nvPr/>
        </p:nvGraphicFramePr>
        <p:xfrm>
          <a:off xmlns:a="http://schemas.openxmlformats.org/drawingml/2006/main" x="8115300" y="3876675"/>
          <a:ext xmlns:a="http://schemas.openxmlformats.org/drawingml/2006/main" cx="3619500" cy="1971675"/>
        </p:xfrm>
        <a:graphic xmlns:a="http://schemas.openxmlformats.org/drawingml/2006/main">
          <a:graphicData uri="http://schemas.openxmlformats.org/drawingml/2006/chart">
            <c:chart xmlns:r="http://schemas.openxmlformats.org/officeDocument/2006/relationships" xmlns:c="http://schemas.openxmlformats.org/drawingml/2006/chart" r:id="R58dddedfc76b4b74"/>
          </a:graphicData>
        </a:graphic>
      </p:graphicFrame>
      <p:sp>
        <p:nvSpPr>
          <p:cNvPr id="25" name="">
            <a:extLst xmlns:a="http://schemas.openxmlformats.org/drawingml/2006/main">
              <a:ext uri="{FF2B5EF4-FFF2-40B4-BE49-F238E27FC236}">
                <a16:creationId xmlns:a16="http://schemas.microsoft.com/office/drawing/2014/main" id="{EF1DEF96-9BF6-488D-A0A5-A3AF50A64CBF}"/>
              </a:ext>
            </a:extLst>
          </p:cNvPr>
          <p:cNvSpPr>
            <a:spLocks xmlns:a="http://schemas.openxmlformats.org/drawingml/2006/main" noGrp="1"/>
          </p:cNvSpPr>
          <p:nvPr/>
        </p:nvSpPr>
        <p:spPr>
          <a:xfrm xmlns:a="http://schemas.openxmlformats.org/drawingml/2006/main">
            <a:off x="8134350" y="6010275"/>
            <a:ext cx="3562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1,132 / 14,146 · Balance parcial</a:t>
            </a:r>
          </a:p>
        </p:txBody>
      </p:sp>
    </p:spTree>
    <p:extLst>
      <p:ext uri="{BB962C8B-B14F-4D97-AF65-F5344CB8AC3E}">
        <p14:creationId xmlns:p14="http://schemas.microsoft.com/office/powerpoint/2010/main" val="167841331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6148F4-8387-4E55-A2FD-CDB22683DD6C}"/>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La mejora incluye un intercambio de errores</a:t>
            </a:r>
          </a:p>
        </p:txBody>
      </p:sp>
      <p:sp>
        <p:nvSpPr>
          <p:cNvPr id="2" name="">
            <a:extLst xmlns:a="http://schemas.openxmlformats.org/drawingml/2006/main">
              <a:ext uri="{FF2B5EF4-FFF2-40B4-BE49-F238E27FC236}">
                <a16:creationId xmlns:a16="http://schemas.microsoft.com/office/drawing/2014/main" id="{EBDCCDDC-E97C-446D-8B66-307E39C32CB0}"/>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2F6239E8-9DE7-43C8-B62D-3FF16B88E0F1}"/>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06</a:t>
            </a:r>
          </a:p>
        </p:txBody>
      </p:sp>
      <p:sp>
        <p:nvSpPr>
          <p:cNvPr id="4" name="">
            <a:extLst xmlns:a="http://schemas.openxmlformats.org/drawingml/2006/main">
              <a:ext uri="{FF2B5EF4-FFF2-40B4-BE49-F238E27FC236}">
                <a16:creationId xmlns:a16="http://schemas.microsoft.com/office/drawing/2014/main" id="{DFA00792-5C0A-408A-B500-DA51428EA787}"/>
              </a:ext>
            </a:extLst>
          </p:cNvPr>
          <p:cNvSpPr>
            <a:spLocks xmlns:a="http://schemas.openxmlformats.org/drawingml/2006/main" noGrp="1"/>
          </p:cNvSpPr>
          <p:nvPr/>
        </p:nvSpPr>
        <p:spPr>
          <a:xfrm xmlns:a="http://schemas.openxmlformats.org/drawingml/2006/main">
            <a:off x="457200" y="1428750"/>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Cambio absoluto × 100 · Cero = sin cambio</a:t>
            </a:r>
          </a:p>
        </p:txBody>
      </p:sp>
      <p:graphicFrame>
        <p:nvGraphicFramePr>
          <p:cNvPr id="17" name="Chart"/>
          <p:cNvGraphicFramePr/>
          <p:nvPr/>
        </p:nvGraphicFramePr>
        <p:xfrm>
          <a:off xmlns:a="http://schemas.openxmlformats.org/drawingml/2006/main" x="428625" y="2066925"/>
          <a:ext xmlns:a="http://schemas.openxmlformats.org/drawingml/2006/main" cx="6762750" cy="3514725"/>
        </p:xfrm>
        <a:graphic xmlns:a="http://schemas.openxmlformats.org/drawingml/2006/main">
          <a:graphicData uri="http://schemas.openxmlformats.org/drawingml/2006/chart">
            <c:chart xmlns:r="http://schemas.openxmlformats.org/officeDocument/2006/relationships" xmlns:c="http://schemas.openxmlformats.org/drawingml/2006/chart" r:id="Rce76b6ab198240d6"/>
          </a:graphicData>
        </a:graphic>
      </p:graphicFrame>
      <p:sp>
        <p:nvSpPr>
          <p:cNvPr id="6" name="">
            <a:extLst xmlns:a="http://schemas.openxmlformats.org/drawingml/2006/main">
              <a:ext uri="{FF2B5EF4-FFF2-40B4-BE49-F238E27FC236}">
                <a16:creationId xmlns:a16="http://schemas.microsoft.com/office/drawing/2014/main" id="{3934B5E7-D49A-4D13-A4E7-757A489F1A9C}"/>
              </a:ext>
            </a:extLst>
          </p:cNvPr>
          <p:cNvSpPr>
            <a:spLocks xmlns:a="http://schemas.openxmlformats.org/drawingml/2006/main" noGrp="1"/>
          </p:cNvSpPr>
          <p:nvPr/>
        </p:nvSpPr>
        <p:spPr>
          <a:xfrm xmlns:a="http://schemas.openxmlformats.org/drawingml/2006/main">
            <a:off x="714375" y="5467350"/>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C637F"/>
                </a:solidFill>
                <a:latin typeface="Inter"/>
                <a:ea typeface="Inter"/>
                <a:cs typeface="Inter"/>
              </a:defRPr>
            </a:pPr>
            <a:r>
              <a:rPr sz="1650" b="1">
                <a:solidFill>
                  <a:srgbClr val="2C637F"/>
                </a:solidFill>
                <a:latin typeface="Inter"/>
                <a:ea typeface="Inter"/>
                <a:cs typeface="Inter"/>
              </a:rPr>
              <a:t>Macro-F1</a:t>
            </a:r>
          </a:p>
        </p:txBody>
      </p:sp>
      <p:sp>
        <p:nvSpPr>
          <p:cNvPr id="7" name="">
            <a:extLst xmlns:a="http://schemas.openxmlformats.org/drawingml/2006/main">
              <a:ext uri="{FF2B5EF4-FFF2-40B4-BE49-F238E27FC236}">
                <a16:creationId xmlns:a16="http://schemas.microsoft.com/office/drawing/2014/main" id="{CAED5E7E-90C2-4049-8E21-357B6CA1D9A9}"/>
              </a:ext>
            </a:extLst>
          </p:cNvPr>
          <p:cNvSpPr>
            <a:spLocks xmlns:a="http://schemas.openxmlformats.org/drawingml/2006/main" noGrp="1"/>
          </p:cNvSpPr>
          <p:nvPr/>
        </p:nvSpPr>
        <p:spPr>
          <a:xfrm xmlns:a="http://schemas.openxmlformats.org/drawingml/2006/main">
            <a:off x="2428875" y="5467350"/>
            <a:ext cx="1714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16766E"/>
                </a:solidFill>
                <a:latin typeface="Inter"/>
                <a:ea typeface="Inter"/>
                <a:cs typeface="Inter"/>
              </a:defRPr>
            </a:pPr>
            <a:r>
              <a:rPr sz="1650" b="1">
                <a:solidFill>
                  <a:srgbClr val="16766E"/>
                </a:solidFill>
                <a:latin typeface="Inter"/>
                <a:ea typeface="Inter"/>
                <a:cs typeface="Inter"/>
              </a:rPr>
              <a:t>F1 Severe</a:t>
            </a:r>
          </a:p>
        </p:txBody>
      </p:sp>
      <p:sp>
        <p:nvSpPr>
          <p:cNvPr id="8" name="">
            <a:extLst xmlns:a="http://schemas.openxmlformats.org/drawingml/2006/main">
              <a:ext uri="{FF2B5EF4-FFF2-40B4-BE49-F238E27FC236}">
                <a16:creationId xmlns:a16="http://schemas.microsoft.com/office/drawing/2014/main" id="{6FA93DA2-DC9B-4415-8A10-A2020E926977}"/>
              </a:ext>
            </a:extLst>
          </p:cNvPr>
          <p:cNvSpPr>
            <a:spLocks xmlns:a="http://schemas.openxmlformats.org/drawingml/2006/main" noGrp="1"/>
          </p:cNvSpPr>
          <p:nvPr/>
        </p:nvSpPr>
        <p:spPr>
          <a:xfrm xmlns:a="http://schemas.openxmlformats.org/drawingml/2006/main">
            <a:off x="4333875" y="5467350"/>
            <a:ext cx="2428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A86524"/>
                </a:solidFill>
                <a:latin typeface="Inter"/>
                <a:ea typeface="Inter"/>
                <a:cs typeface="Inter"/>
              </a:defRPr>
            </a:pPr>
            <a:r>
              <a:rPr sz="1650" b="1">
                <a:solidFill>
                  <a:srgbClr val="A86524"/>
                </a:solidFill>
                <a:latin typeface="Inter"/>
                <a:ea typeface="Inter"/>
                <a:cs typeface="Inter"/>
              </a:rPr>
              <a:t>Recall Severe</a:t>
            </a:r>
          </a:p>
        </p:txBody>
      </p:sp>
      <p:sp>
        <p:nvSpPr>
          <p:cNvPr id="9" name="">
            <a:extLst xmlns:a="http://schemas.openxmlformats.org/drawingml/2006/main">
              <a:ext uri="{FF2B5EF4-FFF2-40B4-BE49-F238E27FC236}">
                <a16:creationId xmlns:a16="http://schemas.microsoft.com/office/drawing/2014/main" id="{1DDB467F-5467-4AFA-AEE4-6AA8D3FD07A0}"/>
              </a:ext>
            </a:extLst>
          </p:cNvPr>
          <p:cNvSpPr>
            <a:spLocks xmlns:a="http://schemas.openxmlformats.org/drawingml/2006/main" noGrp="1"/>
          </p:cNvSpPr>
          <p:nvPr/>
        </p:nvSpPr>
        <p:spPr>
          <a:xfrm xmlns:a="http://schemas.openxmlformats.org/drawingml/2006/main">
            <a:off x="457200" y="5810250"/>
            <a:ext cx="666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Mismos 3,405 reportes de desarrollo.</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Sin aumentación en evaluación.</a:t>
            </a:r>
          </a:p>
        </p:txBody>
      </p:sp>
      <p:graphicFrame>
        <p:nvGraphicFramePr>
          <p:cNvPr id="22" name=""/>
          <p:cNvGraphicFramePr/>
          <p:nvPr/>
        </p:nvGraphicFramePr>
        <p:xfrm>
          <a:off xmlns:a="http://schemas.openxmlformats.org/drawingml/2006/main" x="7591425" y="1628775"/>
          <a:ext xmlns:a="http://schemas.openxmlformats.org/drawingml/2006/main" cx="4105275" cy="2381250"/>
        </p:xfrm>
        <a:graphic xmlns:a="http://schemas.openxmlformats.org/drawingml/2006/main">
          <a:graphicData uri="http://schemas.openxmlformats.org/drawingml/2006/table">
            <a:tbl>
              <a:tblPr/>
              <a:tblGrid>
                <a:gridCol w="1781175"/>
                <a:gridCol w="1162050"/>
                <a:gridCol w="1162050"/>
              </a:tblGrid>
              <a:tr h="595313">
                <a:tc>
                  <a:txBody>
                    <a:bodyPr/>
                    <a:lstStyle/>
                    <a:p>
                      <a:r>
                        <a:rPr sz="1725" b="1">
                          <a:solidFill>
                            <a:srgbClr val="2C637F"/>
                          </a:solidFill>
                          <a:latin typeface="Inter"/>
                          <a:ea typeface="Inter"/>
                          <a:cs typeface="Inter"/>
                        </a:rPr>
                        <a:t>Métrica</a:t>
                      </a:r>
                    </a:p>
                  </a:txBody>
                  <a:tcPr marL="91440" marR="91440" marT="45720" marB="45720">
                    <a:solidFill>
                      <a:srgbClr val="E2F2FA"/>
                    </a:solidFill>
                  </a:tcPr>
                </a:tc>
                <a:tc>
                  <a:txBody>
                    <a:bodyPr/>
                    <a:lstStyle/>
                    <a:p>
                      <a:r>
                        <a:rPr sz="1725" b="1">
                          <a:solidFill>
                            <a:srgbClr val="2C637F"/>
                          </a:solidFill>
                          <a:latin typeface="Inter"/>
                          <a:ea typeface="Inter"/>
                          <a:cs typeface="Inter"/>
                        </a:rPr>
                        <a:t>Base</a:t>
                      </a:r>
                    </a:p>
                  </a:txBody>
                  <a:tcPr marL="91440" marR="91440" marT="45720" marB="45720">
                    <a:solidFill>
                      <a:srgbClr val="E2F2FA"/>
                    </a:solidFill>
                  </a:tcPr>
                </a:tc>
                <a:tc>
                  <a:txBody>
                    <a:bodyPr/>
                    <a:lstStyle/>
                    <a:p>
                      <a:r>
                        <a:rPr sz="1725" b="1">
                          <a:solidFill>
                            <a:srgbClr val="2C637F"/>
                          </a:solidFill>
                          <a:latin typeface="Inter"/>
                          <a:ea typeface="Inter"/>
                          <a:cs typeface="Inter"/>
                        </a:rPr>
                        <a:t>Aug.</a:t>
                      </a:r>
                    </a:p>
                  </a:txBody>
                  <a:tcPr marL="91440" marR="91440" marT="45720" marB="45720">
                    <a:solidFill>
                      <a:srgbClr val="E2F2FA"/>
                    </a:solidFill>
                  </a:tcPr>
                </a:tc>
              </a:tr>
              <a:tr h="595313">
                <a:tc>
                  <a:txBody>
                    <a:bodyPr/>
                    <a:lstStyle/>
                    <a:p>
                      <a:r>
                        <a:rPr sz="1725" b="0">
                          <a:solidFill>
                            <a:srgbClr val="152E3C"/>
                          </a:solidFill>
                          <a:latin typeface="Inter"/>
                          <a:ea typeface="Inter"/>
                          <a:cs typeface="Inter"/>
                        </a:rPr>
                        <a:t>Macro-F1</a:t>
                      </a:r>
                    </a:p>
                  </a:txBody>
                  <a:tcPr marL="91440" marR="91440" marT="45720" marB="45720">
                    <a:solidFill>
                      <a:srgbClr val="FFFFFF"/>
                    </a:solidFill>
                  </a:tcPr>
                </a:tc>
                <a:tc>
                  <a:txBody>
                    <a:bodyPr/>
                    <a:lstStyle/>
                    <a:p>
                      <a:r>
                        <a:rPr sz="1725" b="0">
                          <a:solidFill>
                            <a:srgbClr val="152E3C"/>
                          </a:solidFill>
                          <a:latin typeface="Inter"/>
                          <a:ea typeface="Inter"/>
                          <a:cs typeface="Inter"/>
                        </a:rPr>
                        <a:t>0.5481</a:t>
                      </a:r>
                    </a:p>
                  </a:txBody>
                  <a:tcPr marL="91440" marR="91440" marT="45720" marB="45720">
                    <a:solidFill>
                      <a:srgbClr val="FFFFFF"/>
                    </a:solidFill>
                  </a:tcPr>
                </a:tc>
                <a:tc>
                  <a:txBody>
                    <a:bodyPr/>
                    <a:lstStyle/>
                    <a:p>
                      <a:r>
                        <a:rPr sz="1725" b="0">
                          <a:solidFill>
                            <a:srgbClr val="152E3C"/>
                          </a:solidFill>
                          <a:latin typeface="Inter"/>
                          <a:ea typeface="Inter"/>
                          <a:cs typeface="Inter"/>
                        </a:rPr>
                        <a:t>0.5552</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F1 Severe</a:t>
                      </a:r>
                    </a:p>
                  </a:txBody>
                  <a:tcPr marL="91440" marR="91440" marT="45720" marB="45720">
                    <a:solidFill>
                      <a:srgbClr val="FFFFFF"/>
                    </a:solidFill>
                  </a:tcPr>
                </a:tc>
                <a:tc>
                  <a:txBody>
                    <a:bodyPr/>
                    <a:lstStyle/>
                    <a:p>
                      <a:r>
                        <a:rPr sz="1725" b="0">
                          <a:solidFill>
                            <a:srgbClr val="152E3C"/>
                          </a:solidFill>
                          <a:latin typeface="Inter"/>
                          <a:ea typeface="Inter"/>
                          <a:cs typeface="Inter"/>
                        </a:rPr>
                        <a:t>0.4178</a:t>
                      </a:r>
                    </a:p>
                  </a:txBody>
                  <a:tcPr marL="91440" marR="91440" marT="45720" marB="45720">
                    <a:solidFill>
                      <a:srgbClr val="FFFFFF"/>
                    </a:solidFill>
                  </a:tcPr>
                </a:tc>
                <a:tc>
                  <a:txBody>
                    <a:bodyPr/>
                    <a:lstStyle/>
                    <a:p>
                      <a:r>
                        <a:rPr sz="1725" b="0">
                          <a:solidFill>
                            <a:srgbClr val="152E3C"/>
                          </a:solidFill>
                          <a:latin typeface="Inter"/>
                          <a:ea typeface="Inter"/>
                          <a:cs typeface="Inter"/>
                        </a:rPr>
                        <a:t>0.4335</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Recall</a:t>
                      </a:r>
                    </a:p>
                  </a:txBody>
                  <a:tcPr marL="91440" marR="91440" marT="45720" marB="45720">
                    <a:solidFill>
                      <a:srgbClr val="FFFFFF"/>
                    </a:solidFill>
                  </a:tcPr>
                </a:tc>
                <a:tc>
                  <a:txBody>
                    <a:bodyPr/>
                    <a:lstStyle/>
                    <a:p>
                      <a:r>
                        <a:rPr sz="1725" b="0">
                          <a:solidFill>
                            <a:srgbClr val="152E3C"/>
                          </a:solidFill>
                          <a:latin typeface="Inter"/>
                          <a:ea typeface="Inter"/>
                          <a:cs typeface="Inter"/>
                        </a:rPr>
                        <a:t>0.3961</a:t>
                      </a:r>
                    </a:p>
                  </a:txBody>
                  <a:tcPr marL="91440" marR="91440" marT="45720" marB="45720">
                    <a:solidFill>
                      <a:srgbClr val="FFFFFF"/>
                    </a:solidFill>
                  </a:tcPr>
                </a:tc>
                <a:tc>
                  <a:txBody>
                    <a:bodyPr/>
                    <a:lstStyle/>
                    <a:p>
                      <a:r>
                        <a:rPr sz="1725" b="0">
                          <a:solidFill>
                            <a:srgbClr val="152E3C"/>
                          </a:solidFill>
                          <a:latin typeface="Inter"/>
                          <a:ea typeface="Inter"/>
                          <a:cs typeface="Inter"/>
                        </a:rPr>
                        <a:t>0.3701</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19AE9D0D-07E3-4A81-BD2E-1F244994BFD2}"/>
              </a:ext>
            </a:extLst>
          </p:cNvPr>
          <p:cNvSpPr>
            <a:spLocks xmlns:a="http://schemas.openxmlformats.org/drawingml/2006/main" noGrp="1"/>
          </p:cNvSpPr>
          <p:nvPr/>
        </p:nvSpPr>
        <p:spPr>
          <a:xfrm xmlns:a="http://schemas.openxmlformats.org/drawingml/2006/main">
            <a:off x="7591425" y="4381500"/>
            <a:ext cx="41052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A86524"/>
                </a:solidFill>
                <a:latin typeface="Inter"/>
                <a:ea typeface="Inter"/>
                <a:cs typeface="Inter"/>
              </a:defRPr>
            </a:pPr>
            <a:r>
              <a:rPr sz="2175" b="1">
                <a:solidFill>
                  <a:srgbClr val="A86524"/>
                </a:solidFill>
                <a:latin typeface="Inter"/>
                <a:ea typeface="Inter"/>
                <a:cs typeface="Inter"/>
              </a:rPr>
              <a:t>F1 mejora; recall baja</a:t>
            </a:r>
          </a:p>
        </p:txBody>
      </p:sp>
      <p:sp>
        <p:nvSpPr>
          <p:cNvPr id="12" name="">
            <a:extLst xmlns:a="http://schemas.openxmlformats.org/drawingml/2006/main">
              <a:ext uri="{FF2B5EF4-FFF2-40B4-BE49-F238E27FC236}">
                <a16:creationId xmlns:a16="http://schemas.microsoft.com/office/drawing/2014/main" id="{2CAACEE6-8587-4745-8CE0-77ED0E6FB03C}"/>
              </a:ext>
            </a:extLst>
          </p:cNvPr>
          <p:cNvSpPr>
            <a:spLocks xmlns:a="http://schemas.openxmlformats.org/drawingml/2006/main" noGrp="1"/>
          </p:cNvSpPr>
          <p:nvPr/>
        </p:nvSpPr>
        <p:spPr>
          <a:xfrm xmlns:a="http://schemas.openxmlformats.org/drawingml/2006/main">
            <a:off x="7591425" y="5229225"/>
            <a:ext cx="41052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Los pesos de clase se recalculan</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con el entrenamiento aumentado.</a:t>
            </a:r>
          </a:p>
        </p:txBody>
      </p:sp>
    </p:spTree>
    <p:extLst>
      <p:ext uri="{BB962C8B-B14F-4D97-AF65-F5344CB8AC3E}">
        <p14:creationId xmlns:p14="http://schemas.microsoft.com/office/powerpoint/2010/main" val="314597529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335C918-7B1B-41A0-A7BD-FC18BC5C3604}"/>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El desacuerdo permanece en las etiquetas</a:t>
            </a:r>
          </a:p>
        </p:txBody>
      </p:sp>
      <p:sp>
        <p:nvSpPr>
          <p:cNvPr id="2" name="">
            <a:extLst xmlns:a="http://schemas.openxmlformats.org/drawingml/2006/main">
              <a:ext uri="{FF2B5EF4-FFF2-40B4-BE49-F238E27FC236}">
                <a16:creationId xmlns:a16="http://schemas.microsoft.com/office/drawing/2014/main" id="{6FC2BC68-8DEC-4669-AC11-224EE30005FD}"/>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C6903527-2BDE-4275-8AC0-6F0B32144492}"/>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07</a:t>
            </a:r>
          </a:p>
        </p:txBody>
      </p:sp>
      <p:sp>
        <p:nvSpPr>
          <p:cNvPr id="4" name="">
            <a:extLst xmlns:a="http://schemas.openxmlformats.org/drawingml/2006/main">
              <a:ext uri="{FF2B5EF4-FFF2-40B4-BE49-F238E27FC236}">
                <a16:creationId xmlns:a16="http://schemas.microsoft.com/office/drawing/2014/main" id="{4B79D49F-1B4C-40DE-BE76-628620682B87}"/>
              </a:ext>
            </a:extLst>
          </p:cNvPr>
          <p:cNvSpPr>
            <a:spLocks xmlns:a="http://schemas.openxmlformats.org/drawingml/2006/main" noGrp="1"/>
          </p:cNvSpPr>
          <p:nvPr/>
        </p:nvSpPr>
        <p:spPr>
          <a:xfrm xmlns:a="http://schemas.openxmlformats.org/drawingml/2006/main">
            <a:off x="457200" y="141922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C637F"/>
                </a:solidFill>
                <a:latin typeface="Inter"/>
                <a:ea typeface="Inter"/>
                <a:cs typeface="Inter"/>
              </a:defRPr>
            </a:pPr>
            <a:r>
              <a:rPr sz="1725" b="0">
                <a:solidFill>
                  <a:srgbClr val="2C637F"/>
                </a:solidFill>
                <a:latin typeface="Inter"/>
                <a:ea typeface="Inter"/>
                <a:cs typeface="Inter"/>
              </a:rPr>
              <a:t>Análisis nuevo de etiquetas suaves S2 · Desarrollo: 1,212 reportes</a:t>
            </a:r>
          </a:p>
        </p:txBody>
      </p:sp>
      <p:graphicFrame>
        <p:nvGraphicFramePr>
          <p:cNvPr id="20" name="Chart"/>
          <p:cNvGraphicFramePr/>
          <p:nvPr/>
        </p:nvGraphicFramePr>
        <p:xfrm>
          <a:off xmlns:a="http://schemas.openxmlformats.org/drawingml/2006/main" x="285750" y="2286000"/>
          <a:ext xmlns:a="http://schemas.openxmlformats.org/drawingml/2006/main" cx="6772275" cy="3667125"/>
        </p:xfrm>
        <a:graphic xmlns:a="http://schemas.openxmlformats.org/drawingml/2006/main">
          <a:graphicData uri="http://schemas.openxmlformats.org/drawingml/2006/chart">
            <c:chart xmlns:r="http://schemas.openxmlformats.org/officeDocument/2006/relationships" xmlns:c="http://schemas.openxmlformats.org/drawingml/2006/chart" r:id="Rc3b22e436734430c"/>
          </a:graphicData>
        </a:graphic>
      </p:graphicFrame>
      <p:sp>
        <p:nvSpPr>
          <p:cNvPr id="6" name="">
            <a:extLst xmlns:a="http://schemas.openxmlformats.org/drawingml/2006/main">
              <a:ext uri="{FF2B5EF4-FFF2-40B4-BE49-F238E27FC236}">
                <a16:creationId xmlns:a16="http://schemas.microsoft.com/office/drawing/2014/main" id="{1660F509-BCE9-4A39-B441-FA4213D45F69}"/>
              </a:ext>
            </a:extLst>
          </p:cNvPr>
          <p:cNvSpPr>
            <a:spLocks xmlns:a="http://schemas.openxmlformats.org/drawingml/2006/main" noGrp="1"/>
          </p:cNvSpPr>
          <p:nvPr/>
        </p:nvSpPr>
        <p:spPr>
          <a:xfrm xmlns:a="http://schemas.openxmlformats.org/drawingml/2006/main">
            <a:off x="457200" y="1924050"/>
            <a:ext cx="690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Decisiones con voto dividido (%) · Denominador: todos los reportes</a:t>
            </a:r>
          </a:p>
        </p:txBody>
      </p:sp>
      <p:sp>
        <p:nvSpPr>
          <p:cNvPr id="7" name="">
            <a:extLst xmlns:a="http://schemas.openxmlformats.org/drawingml/2006/main">
              <a:ext uri="{FF2B5EF4-FFF2-40B4-BE49-F238E27FC236}">
                <a16:creationId xmlns:a16="http://schemas.microsoft.com/office/drawing/2014/main" id="{113AB271-0F03-482E-9976-FA7A84A55445}"/>
              </a:ext>
            </a:extLst>
          </p:cNvPr>
          <p:cNvSpPr>
            <a:spLocks xmlns:a="http://schemas.openxmlformats.org/drawingml/2006/main" noGrp="1"/>
          </p:cNvSpPr>
          <p:nvPr/>
        </p:nvSpPr>
        <p:spPr>
          <a:xfrm xmlns:a="http://schemas.openxmlformats.org/drawingml/2006/main">
            <a:off x="7753350" y="2028825"/>
            <a:ext cx="3762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2C637F"/>
                </a:solidFill>
                <a:latin typeface="Inter"/>
                <a:ea typeface="Inter"/>
                <a:cs typeface="Inter"/>
              </a:defRPr>
            </a:pPr>
            <a:r>
              <a:rPr sz="4425" b="1">
                <a:solidFill>
                  <a:srgbClr val="2C637F"/>
                </a:solidFill>
                <a:latin typeface="Inter"/>
                <a:ea typeface="Inter"/>
                <a:cs typeface="Inter"/>
              </a:rPr>
              <a:t>72.36%</a:t>
            </a:r>
          </a:p>
        </p:txBody>
      </p:sp>
      <p:sp>
        <p:nvSpPr>
          <p:cNvPr id="8" name="">
            <a:extLst xmlns:a="http://schemas.openxmlformats.org/drawingml/2006/main">
              <a:ext uri="{FF2B5EF4-FFF2-40B4-BE49-F238E27FC236}">
                <a16:creationId xmlns:a16="http://schemas.microsoft.com/office/drawing/2014/main" id="{F1AD1689-FA11-408D-9446-613DB0821BA1}"/>
              </a:ext>
            </a:extLst>
          </p:cNvPr>
          <p:cNvSpPr>
            <a:spLocks xmlns:a="http://schemas.openxmlformats.org/drawingml/2006/main" noGrp="1"/>
          </p:cNvSpPr>
          <p:nvPr/>
        </p:nvSpPr>
        <p:spPr>
          <a:xfrm xmlns:a="http://schemas.openxmlformats.org/drawingml/2006/main">
            <a:off x="7753350" y="2952750"/>
            <a:ext cx="3810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con al menos un tipo dividido</a:t>
            </a:r>
          </a:p>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877 de 1,212 reportes</a:t>
            </a:r>
          </a:p>
        </p:txBody>
      </p:sp>
      <p:sp>
        <p:nvSpPr>
          <p:cNvPr id="9" name="">
            <a:extLst xmlns:a="http://schemas.openxmlformats.org/drawingml/2006/main">
              <a:ext uri="{FF2B5EF4-FFF2-40B4-BE49-F238E27FC236}">
                <a16:creationId xmlns:a16="http://schemas.microsoft.com/office/drawing/2014/main" id="{DC0EE96C-D467-429E-B3F5-B6D436825712}"/>
              </a:ext>
            </a:extLst>
          </p:cNvPr>
          <p:cNvSpPr>
            <a:spLocks xmlns:a="http://schemas.openxmlformats.org/drawingml/2006/main" noGrp="1"/>
          </p:cNvSpPr>
          <p:nvPr/>
        </p:nvSpPr>
        <p:spPr>
          <a:xfrm xmlns:a="http://schemas.openxmlformats.org/drawingml/2006/main">
            <a:off x="7772400" y="4038600"/>
            <a:ext cx="199072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D4307572-5F9F-4761-93AD-C4F20BAF0F79}"/>
              </a:ext>
            </a:extLst>
          </p:cNvPr>
          <p:cNvSpPr>
            <a:spLocks xmlns:a="http://schemas.openxmlformats.org/drawingml/2006/main" noGrp="1"/>
          </p:cNvSpPr>
          <p:nvPr/>
        </p:nvSpPr>
        <p:spPr>
          <a:xfrm xmlns:a="http://schemas.openxmlformats.org/drawingml/2006/main">
            <a:off x="7915275" y="4162425"/>
            <a:ext cx="17049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C637F"/>
                </a:solidFill>
                <a:latin typeface="Inter"/>
                <a:ea typeface="Inter"/>
                <a:cs typeface="Inter"/>
              </a:defRPr>
            </a:pPr>
            <a:r>
              <a:rPr sz="1950" b="0">
                <a:solidFill>
                  <a:srgbClr val="2C637F"/>
                </a:solidFill>
                <a:latin typeface="Inter"/>
                <a:ea typeface="Inter"/>
                <a:cs typeface="Inter"/>
              </a:rPr>
              <a:t>1     1     0</a:t>
            </a:r>
          </a:p>
        </p:txBody>
      </p:sp>
      <p:sp>
        <p:nvSpPr>
          <p:cNvPr id="11" name="">
            <a:extLst xmlns:a="http://schemas.openxmlformats.org/drawingml/2006/main">
              <a:ext uri="{FF2B5EF4-FFF2-40B4-BE49-F238E27FC236}">
                <a16:creationId xmlns:a16="http://schemas.microsoft.com/office/drawing/2014/main" id="{E4F44995-D7E0-47F5-A724-8D27938B6890}"/>
              </a:ext>
            </a:extLst>
          </p:cNvPr>
          <p:cNvSpPr>
            <a:spLocks xmlns:a="http://schemas.openxmlformats.org/drawingml/2006/main" noGrp="1"/>
          </p:cNvSpPr>
          <p:nvPr/>
        </p:nvSpPr>
        <p:spPr>
          <a:xfrm xmlns:a="http://schemas.openxmlformats.org/drawingml/2006/main">
            <a:off x="10287000" y="4038600"/>
            <a:ext cx="140017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A0894D63-61FE-4BCE-A764-0C2A71600ABF}"/>
              </a:ext>
            </a:extLst>
          </p:cNvPr>
          <p:cNvSpPr>
            <a:spLocks xmlns:a="http://schemas.openxmlformats.org/drawingml/2006/main" noGrp="1"/>
          </p:cNvSpPr>
          <p:nvPr/>
        </p:nvSpPr>
        <p:spPr>
          <a:xfrm xmlns:a="http://schemas.openxmlformats.org/drawingml/2006/main">
            <a:off x="10429875" y="4162425"/>
            <a:ext cx="11144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 = 2/3</a:t>
            </a:r>
          </a:p>
        </p:txBody>
      </p:sp>
      <p:cxnSp>
        <p:nvCxnSpPr>
          <p:cNvPr id="28" name=""/>
          <p:cNvCxnSpPr>
            <a:stCxn xmlns:a="http://schemas.openxmlformats.org/drawingml/2006/main" id="9" idx="3"/>
            <a:endCxn xmlns:a="http://schemas.openxmlformats.org/drawingml/2006/main" id="11" idx="1"/>
          </p:cNvCxnSpPr>
          <p:nvPr/>
        </p:nvCxnSpPr>
        <p:spPr>
          <a:xfrm xmlns:a="http://schemas.openxmlformats.org/drawingml/2006/main">
            <a:off x="9763125" y="4310063"/>
            <a:ext cx="52387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4" name="">
            <a:extLst xmlns:a="http://schemas.openxmlformats.org/drawingml/2006/main">
              <a:ext uri="{FF2B5EF4-FFF2-40B4-BE49-F238E27FC236}">
                <a16:creationId xmlns:a16="http://schemas.microsoft.com/office/drawing/2014/main" id="{F37C10B2-6869-4099-8AF8-C2FAE1584AC6}"/>
              </a:ext>
            </a:extLst>
          </p:cNvPr>
          <p:cNvSpPr>
            <a:spLocks xmlns:a="http://schemas.openxmlformats.org/drawingml/2006/main" noGrp="1"/>
          </p:cNvSpPr>
          <p:nvPr/>
        </p:nvSpPr>
        <p:spPr>
          <a:xfrm xmlns:a="http://schemas.openxmlformats.org/drawingml/2006/main">
            <a:off x="7753350" y="4810125"/>
            <a:ext cx="3943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Ejemplo de 3 votos.</a:t>
            </a:r>
          </a:p>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Varianza interna: p(1−p) = 2/9.</a:t>
            </a:r>
          </a:p>
        </p:txBody>
      </p:sp>
      <p:sp>
        <p:nvSpPr>
          <p:cNvPr id="15" name="">
            <a:extLst xmlns:a="http://schemas.openxmlformats.org/drawingml/2006/main">
              <a:ext uri="{FF2B5EF4-FFF2-40B4-BE49-F238E27FC236}">
                <a16:creationId xmlns:a16="http://schemas.microsoft.com/office/drawing/2014/main" id="{24C7AF58-9E1D-495F-8854-033884C53983}"/>
              </a:ext>
            </a:extLst>
          </p:cNvPr>
          <p:cNvSpPr>
            <a:spLocks xmlns:a="http://schemas.openxmlformats.org/drawingml/2006/main" noGrp="1"/>
          </p:cNvSpPr>
          <p:nvPr/>
        </p:nvSpPr>
        <p:spPr>
          <a:xfrm xmlns:a="http://schemas.openxmlformats.org/drawingml/2006/main">
            <a:off x="457200" y="6086475"/>
            <a:ext cx="1123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Tres votos por decisión de tipo; las etiquetas suaves conservan su proporción.</a:t>
            </a:r>
          </a:p>
        </p:txBody>
      </p:sp>
    </p:spTree>
    <p:extLst>
      <p:ext uri="{BB962C8B-B14F-4D97-AF65-F5344CB8AC3E}">
        <p14:creationId xmlns:p14="http://schemas.microsoft.com/office/powerpoint/2010/main" val="34624586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4530D4F-F047-4E86-9170-BC7E1C59B4C1}"/>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El ancla limita los cambios finales</a:t>
            </a:r>
          </a:p>
        </p:txBody>
      </p:sp>
      <p:sp>
        <p:nvSpPr>
          <p:cNvPr id="2" name="">
            <a:extLst xmlns:a="http://schemas.openxmlformats.org/drawingml/2006/main">
              <a:ext uri="{FF2B5EF4-FFF2-40B4-BE49-F238E27FC236}">
                <a16:creationId xmlns:a16="http://schemas.microsoft.com/office/drawing/2014/main" id="{9363063F-67AD-4BD9-85E2-C95EF33B5DFD}"/>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07E3CABB-7289-4D1D-AE18-1E5ACF95C14B}"/>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08</a:t>
            </a:r>
          </a:p>
        </p:txBody>
      </p:sp>
      <p:sp>
        <p:nvSpPr>
          <p:cNvPr id="4" name="">
            <a:extLst xmlns:a="http://schemas.openxmlformats.org/drawingml/2006/main">
              <a:ext uri="{FF2B5EF4-FFF2-40B4-BE49-F238E27FC236}">
                <a16:creationId xmlns:a16="http://schemas.microsoft.com/office/drawing/2014/main" id="{9C3A8EB6-C1A7-4864-BC35-50BBA9CF436E}"/>
              </a:ext>
            </a:extLst>
          </p:cNvPr>
          <p:cNvSpPr>
            <a:spLocks xmlns:a="http://schemas.openxmlformats.org/drawingml/2006/main" noGrp="1"/>
          </p:cNvSpPr>
          <p:nvPr/>
        </p:nvSpPr>
        <p:spPr>
          <a:xfrm xmlns:a="http://schemas.openxmlformats.org/drawingml/2006/main">
            <a:off x="457200" y="1752600"/>
            <a:ext cx="3086100" cy="10953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5" name="">
            <a:extLst xmlns:a="http://schemas.openxmlformats.org/drawingml/2006/main">
              <a:ext uri="{FF2B5EF4-FFF2-40B4-BE49-F238E27FC236}">
                <a16:creationId xmlns:a16="http://schemas.microsoft.com/office/drawing/2014/main" id="{22D47586-44D5-4C85-8E62-2A2F66BC4330}"/>
              </a:ext>
            </a:extLst>
          </p:cNvPr>
          <p:cNvSpPr>
            <a:spLocks xmlns:a="http://schemas.openxmlformats.org/drawingml/2006/main" noGrp="1"/>
          </p:cNvSpPr>
          <p:nvPr/>
        </p:nvSpPr>
        <p:spPr>
          <a:xfrm xmlns:a="http://schemas.openxmlformats.org/drawingml/2006/main">
            <a:off x="600075" y="1876425"/>
            <a:ext cx="28003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Ancla Top10</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Mejor entrega previa</a:t>
            </a:r>
          </a:p>
        </p:txBody>
      </p:sp>
      <p:sp>
        <p:nvSpPr>
          <p:cNvPr id="6" name="">
            <a:extLst xmlns:a="http://schemas.openxmlformats.org/drawingml/2006/main">
              <a:ext uri="{FF2B5EF4-FFF2-40B4-BE49-F238E27FC236}">
                <a16:creationId xmlns:a16="http://schemas.microsoft.com/office/drawing/2014/main" id="{C4DDC8E1-AD11-420F-BE17-BC9387FBBB60}"/>
              </a:ext>
            </a:extLst>
          </p:cNvPr>
          <p:cNvSpPr>
            <a:spLocks xmlns:a="http://schemas.openxmlformats.org/drawingml/2006/main" noGrp="1"/>
          </p:cNvSpPr>
          <p:nvPr/>
        </p:nvSpPr>
        <p:spPr>
          <a:xfrm xmlns:a="http://schemas.openxmlformats.org/drawingml/2006/main">
            <a:off x="457200" y="3752850"/>
            <a:ext cx="3086100" cy="1143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7" name="">
            <a:extLst xmlns:a="http://schemas.openxmlformats.org/drawingml/2006/main">
              <a:ext uri="{FF2B5EF4-FFF2-40B4-BE49-F238E27FC236}">
                <a16:creationId xmlns:a16="http://schemas.microsoft.com/office/drawing/2014/main" id="{2DE2D17B-9C9D-46CC-9C56-50D51C9AF8E5}"/>
              </a:ext>
            </a:extLst>
          </p:cNvPr>
          <p:cNvSpPr>
            <a:spLocks xmlns:a="http://schemas.openxmlformats.org/drawingml/2006/main" noGrp="1"/>
          </p:cNvSpPr>
          <p:nvPr/>
        </p:nvSpPr>
        <p:spPr>
          <a:xfrm xmlns:a="http://schemas.openxmlformats.org/drawingml/2006/main">
            <a:off x="600075" y="3876675"/>
            <a:ext cx="2800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Candidato foldbag</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 BETO aug. + 5 Electricidad</a:t>
            </a:r>
          </a:p>
        </p:txBody>
      </p:sp>
      <p:sp>
        <p:nvSpPr>
          <p:cNvPr id="8" name="">
            <a:extLst xmlns:a="http://schemas.openxmlformats.org/drawingml/2006/main">
              <a:ext uri="{FF2B5EF4-FFF2-40B4-BE49-F238E27FC236}">
                <a16:creationId xmlns:a16="http://schemas.microsoft.com/office/drawing/2014/main" id="{D679F2AB-AB99-4D12-BF43-A021480634E6}"/>
              </a:ext>
            </a:extLst>
          </p:cNvPr>
          <p:cNvSpPr>
            <a:spLocks xmlns:a="http://schemas.openxmlformats.org/drawingml/2006/main" noGrp="1"/>
          </p:cNvSpPr>
          <p:nvPr/>
        </p:nvSpPr>
        <p:spPr>
          <a:xfrm xmlns:a="http://schemas.openxmlformats.org/drawingml/2006/main">
            <a:off x="4429125" y="2724150"/>
            <a:ext cx="3181350" cy="11334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9" name="">
            <a:extLst xmlns:a="http://schemas.openxmlformats.org/drawingml/2006/main">
              <a:ext uri="{FF2B5EF4-FFF2-40B4-BE49-F238E27FC236}">
                <a16:creationId xmlns:a16="http://schemas.microsoft.com/office/drawing/2014/main" id="{4CB6D163-2EC4-47AD-B68D-2A7B0DDC61CE}"/>
              </a:ext>
            </a:extLst>
          </p:cNvPr>
          <p:cNvSpPr>
            <a:spLocks xmlns:a="http://schemas.openxmlformats.org/drawingml/2006/main" noGrp="1"/>
          </p:cNvSpPr>
          <p:nvPr/>
        </p:nvSpPr>
        <p:spPr>
          <a:xfrm xmlns:a="http://schemas.openxmlformats.org/drawingml/2006/main">
            <a:off x="4572000" y="2847975"/>
            <a:ext cx="28956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Router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Solo transiciones permitidas</a:t>
            </a:r>
          </a:p>
        </p:txBody>
      </p:sp>
      <p:sp>
        <p:nvSpPr>
          <p:cNvPr id="10" name="">
            <a:extLst xmlns:a="http://schemas.openxmlformats.org/drawingml/2006/main">
              <a:ext uri="{FF2B5EF4-FFF2-40B4-BE49-F238E27FC236}">
                <a16:creationId xmlns:a16="http://schemas.microsoft.com/office/drawing/2014/main" id="{BE2BE568-CFB0-4CDE-A75A-BB7B7973BDF2}"/>
              </a:ext>
            </a:extLst>
          </p:cNvPr>
          <p:cNvSpPr>
            <a:spLocks xmlns:a="http://schemas.openxmlformats.org/drawingml/2006/main" noGrp="1"/>
          </p:cNvSpPr>
          <p:nvPr/>
        </p:nvSpPr>
        <p:spPr>
          <a:xfrm xmlns:a="http://schemas.openxmlformats.org/drawingml/2006/main">
            <a:off x="8448675" y="1752600"/>
            <a:ext cx="3238500" cy="10572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1" name="">
            <a:extLst xmlns:a="http://schemas.openxmlformats.org/drawingml/2006/main">
              <a:ext uri="{FF2B5EF4-FFF2-40B4-BE49-F238E27FC236}">
                <a16:creationId xmlns:a16="http://schemas.microsoft.com/office/drawing/2014/main" id="{D599C124-EC2C-48ED-959C-FA287FA81F1B}"/>
              </a:ext>
            </a:extLst>
          </p:cNvPr>
          <p:cNvSpPr>
            <a:spLocks xmlns:a="http://schemas.openxmlformats.org/drawingml/2006/main" noGrp="1"/>
          </p:cNvSpPr>
          <p:nvPr/>
        </p:nvSpPr>
        <p:spPr>
          <a:xfrm xmlns:a="http://schemas.openxmlformats.org/drawingml/2006/main">
            <a:off x="8591550" y="1876425"/>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Conservar ancla</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3,929 / 4,219 (93.13%)</a:t>
            </a:r>
          </a:p>
        </p:txBody>
      </p:sp>
      <p:sp>
        <p:nvSpPr>
          <p:cNvPr id="12" name="">
            <a:extLst xmlns:a="http://schemas.openxmlformats.org/drawingml/2006/main">
              <a:ext uri="{FF2B5EF4-FFF2-40B4-BE49-F238E27FC236}">
                <a16:creationId xmlns:a16="http://schemas.microsoft.com/office/drawing/2014/main" id="{BBB30E82-B7CD-470D-861B-AC880C1FD10B}"/>
              </a:ext>
            </a:extLst>
          </p:cNvPr>
          <p:cNvSpPr>
            <a:spLocks xmlns:a="http://schemas.openxmlformats.org/drawingml/2006/main" noGrp="1"/>
          </p:cNvSpPr>
          <p:nvPr/>
        </p:nvSpPr>
        <p:spPr>
          <a:xfrm xmlns:a="http://schemas.openxmlformats.org/drawingml/2006/main">
            <a:off x="8448675" y="3762375"/>
            <a:ext cx="3238500" cy="1057275"/>
          </a:xfrm>
          <a:prstGeom xmlns:a="http://schemas.openxmlformats.org/drawingml/2006/main" prst="rect">
            <a:avLst/>
          </a:prstGeom>
          <a:solidFill xmlns:a="http://schemas.openxmlformats.org/drawingml/2006/main">
            <a:srgbClr val="E8F3EF"/>
          </a:solidFill>
          <a:ln xmlns:a="http://schemas.openxmlformats.org/drawingml/2006/main" w="13335">
            <a:solidFill>
              <a:srgbClr val="16766E"/>
            </a:solidFill>
          </a:ln>
        </p:spPr>
      </p:sp>
      <p:sp>
        <p:nvSpPr>
          <p:cNvPr id="13" name="">
            <a:extLst xmlns:a="http://schemas.openxmlformats.org/drawingml/2006/main">
              <a:ext uri="{FF2B5EF4-FFF2-40B4-BE49-F238E27FC236}">
                <a16:creationId xmlns:a16="http://schemas.microsoft.com/office/drawing/2014/main" id="{DF64FD70-0C29-42B9-BB42-228A3B6DD672}"/>
              </a:ext>
            </a:extLst>
          </p:cNvPr>
          <p:cNvSpPr>
            <a:spLocks xmlns:a="http://schemas.openxmlformats.org/drawingml/2006/main" noGrp="1"/>
          </p:cNvSpPr>
          <p:nvPr/>
        </p:nvSpPr>
        <p:spPr>
          <a:xfrm xmlns:a="http://schemas.openxmlformats.org/drawingml/2006/main">
            <a:off x="8591550" y="3886200"/>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Aplicar cambio</a:t>
            </a:r>
          </a:p>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290 / 4,219 (6.87%)</a:t>
            </a:r>
          </a:p>
        </p:txBody>
      </p:sp>
      <p:cxnSp>
        <p:nvCxnSpPr>
          <p:cNvPr id="35" name=""/>
          <p:cNvCxnSpPr>
            <a:stCxn xmlns:a="http://schemas.openxmlformats.org/drawingml/2006/main" id="4" idx="3"/>
            <a:endCxn xmlns:a="http://schemas.openxmlformats.org/drawingml/2006/main" id="8" idx="1"/>
          </p:cNvCxnSpPr>
          <p:nvPr/>
        </p:nvCxnSpPr>
        <p:spPr>
          <a:xfrm xmlns:a="http://schemas.openxmlformats.org/drawingml/2006/main">
            <a:off x="3543300" y="2300288"/>
            <a:ext cx="885825" cy="99060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6" name=""/>
          <p:cNvCxnSpPr>
            <a:stCxn xmlns:a="http://schemas.openxmlformats.org/drawingml/2006/main" id="6" idx="3"/>
            <a:endCxn xmlns:a="http://schemas.openxmlformats.org/drawingml/2006/main" id="8" idx="1"/>
          </p:cNvCxnSpPr>
          <p:nvPr/>
        </p:nvCxnSpPr>
        <p:spPr>
          <a:xfrm xmlns:a="http://schemas.openxmlformats.org/drawingml/2006/main" flipV="1">
            <a:off x="3543300" y="3290888"/>
            <a:ext cx="885825" cy="10334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8" idx="3"/>
            <a:endCxn xmlns:a="http://schemas.openxmlformats.org/drawingml/2006/main" id="10" idx="1"/>
          </p:cNvCxnSpPr>
          <p:nvPr/>
        </p:nvCxnSpPr>
        <p:spPr>
          <a:xfrm xmlns:a="http://schemas.openxmlformats.org/drawingml/2006/main" flipV="1">
            <a:off x="7610475" y="2281238"/>
            <a:ext cx="838200" cy="100965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8" name=""/>
          <p:cNvCxnSpPr>
            <a:stCxn xmlns:a="http://schemas.openxmlformats.org/drawingml/2006/main" id="8" idx="3"/>
            <a:endCxn xmlns:a="http://schemas.openxmlformats.org/drawingml/2006/main" id="12" idx="1"/>
          </p:cNvCxnSpPr>
          <p:nvPr/>
        </p:nvCxnSpPr>
        <p:spPr>
          <a:xfrm xmlns:a="http://schemas.openxmlformats.org/drawingml/2006/main">
            <a:off x="7610475" y="3290888"/>
            <a:ext cx="838200" cy="100012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8" name="">
            <a:extLst xmlns:a="http://schemas.openxmlformats.org/drawingml/2006/main">
              <a:ext uri="{FF2B5EF4-FFF2-40B4-BE49-F238E27FC236}">
                <a16:creationId xmlns:a16="http://schemas.microsoft.com/office/drawing/2014/main" id="{DB726D5D-CD5D-421F-9734-4E4366CB9381}"/>
              </a:ext>
            </a:extLst>
          </p:cNvPr>
          <p:cNvSpPr>
            <a:spLocks xmlns:a="http://schemas.openxmlformats.org/drawingml/2006/main" noGrp="1"/>
          </p:cNvSpPr>
          <p:nvPr/>
        </p:nvSpPr>
        <p:spPr>
          <a:xfrm xmlns:a="http://schemas.openxmlformats.org/drawingml/2006/main">
            <a:off x="7696200" y="175260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06674"/>
                </a:solidFill>
                <a:latin typeface="Inter"/>
                <a:ea typeface="Inter"/>
                <a:cs typeface="Inter"/>
              </a:defRPr>
            </a:pPr>
            <a:r>
              <a:rPr sz="1350" b="0">
                <a:solidFill>
                  <a:srgbClr val="506674"/>
                </a:solidFill>
                <a:latin typeface="Inter"/>
                <a:ea typeface="Inter"/>
                <a:cs typeface="Inter"/>
              </a:rPr>
              <a:t>No</a:t>
            </a:r>
          </a:p>
        </p:txBody>
      </p:sp>
      <p:sp>
        <p:nvSpPr>
          <p:cNvPr id="19" name="">
            <a:extLst xmlns:a="http://schemas.openxmlformats.org/drawingml/2006/main">
              <a:ext uri="{FF2B5EF4-FFF2-40B4-BE49-F238E27FC236}">
                <a16:creationId xmlns:a16="http://schemas.microsoft.com/office/drawing/2014/main" id="{F5598C88-2AFA-42E3-8301-E7D19AAEA0A7}"/>
              </a:ext>
            </a:extLst>
          </p:cNvPr>
          <p:cNvSpPr>
            <a:spLocks xmlns:a="http://schemas.openxmlformats.org/drawingml/2006/main" noGrp="1"/>
          </p:cNvSpPr>
          <p:nvPr/>
        </p:nvSpPr>
        <p:spPr>
          <a:xfrm xmlns:a="http://schemas.openxmlformats.org/drawingml/2006/main">
            <a:off x="7696200" y="44005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6766E"/>
                </a:solidFill>
                <a:latin typeface="Inter"/>
                <a:ea typeface="Inter"/>
                <a:cs typeface="Inter"/>
              </a:defRPr>
            </a:pPr>
            <a:r>
              <a:rPr sz="1350" b="0">
                <a:solidFill>
                  <a:srgbClr val="16766E"/>
                </a:solidFill>
                <a:latin typeface="Inter"/>
                <a:ea typeface="Inter"/>
                <a:cs typeface="Inter"/>
              </a:rPr>
              <a:t>Sí</a:t>
            </a:r>
          </a:p>
        </p:txBody>
      </p:sp>
      <p:sp>
        <p:nvSpPr>
          <p:cNvPr id="20" name="">
            <a:extLst xmlns:a="http://schemas.openxmlformats.org/drawingml/2006/main">
              <a:ext uri="{FF2B5EF4-FFF2-40B4-BE49-F238E27FC236}">
                <a16:creationId xmlns:a16="http://schemas.microsoft.com/office/drawing/2014/main" id="{AE168714-0665-43F0-B9BF-76BB9A7C50F2}"/>
              </a:ext>
            </a:extLst>
          </p:cNvPr>
          <p:cNvSpPr>
            <a:spLocks xmlns:a="http://schemas.openxmlformats.org/drawingml/2006/main" noGrp="1"/>
          </p:cNvSpPr>
          <p:nvPr/>
        </p:nvSpPr>
        <p:spPr>
          <a:xfrm xmlns:a="http://schemas.openxmlformats.org/drawingml/2006/main">
            <a:off x="457200" y="5286375"/>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Medium → Mild: 177     Mild → Medium: 101     High → Severe: 12</a:t>
            </a:r>
          </a:p>
        </p:txBody>
      </p:sp>
      <p:sp>
        <p:nvSpPr>
          <p:cNvPr id="21" name="">
            <a:extLst xmlns:a="http://schemas.openxmlformats.org/drawingml/2006/main">
              <a:ext uri="{FF2B5EF4-FFF2-40B4-BE49-F238E27FC236}">
                <a16:creationId xmlns:a16="http://schemas.microsoft.com/office/drawing/2014/main" id="{65603DD6-B5D4-41C3-8D1E-5833F7BA606A}"/>
              </a:ext>
            </a:extLst>
          </p:cNvPr>
          <p:cNvSpPr>
            <a:spLocks xmlns:a="http://schemas.openxmlformats.org/drawingml/2006/main" noGrp="1"/>
          </p:cNvSpPr>
          <p:nvPr/>
        </p:nvSpPr>
        <p:spPr>
          <a:xfrm xmlns:a="http://schemas.openxmlformats.org/drawingml/2006/main">
            <a:off x="457200" y="5886450"/>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High → Severe exige indicios léxicos severos. Recetas seleccionadas + regla de decisión final.</a:t>
            </a:r>
          </a:p>
        </p:txBody>
      </p:sp>
    </p:spTree>
    <p:extLst>
      <p:ext uri="{BB962C8B-B14F-4D97-AF65-F5344CB8AC3E}">
        <p14:creationId xmlns:p14="http://schemas.microsoft.com/office/powerpoint/2010/main" val="207536205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EA17103-4FC9-47FF-B098-7E2F5096FB1E}"/>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Resultados del sistema completo</a:t>
            </a:r>
          </a:p>
        </p:txBody>
      </p:sp>
      <p:sp>
        <p:nvSpPr>
          <p:cNvPr id="2" name="">
            <a:extLst xmlns:a="http://schemas.openxmlformats.org/drawingml/2006/main">
              <a:ext uri="{FF2B5EF4-FFF2-40B4-BE49-F238E27FC236}">
                <a16:creationId xmlns:a16="http://schemas.microsoft.com/office/drawing/2014/main" id="{3A37EDBB-C4EA-448D-8BD7-CDC1D326637C}"/>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4A6C5508-800A-4CB1-B1F4-50C208EAA13E}"/>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09</a:t>
            </a:r>
          </a:p>
        </p:txBody>
      </p:sp>
      <p:sp>
        <p:nvSpPr>
          <p:cNvPr id="4" name="">
            <a:extLst xmlns:a="http://schemas.openxmlformats.org/drawingml/2006/main">
              <a:ext uri="{FF2B5EF4-FFF2-40B4-BE49-F238E27FC236}">
                <a16:creationId xmlns:a16="http://schemas.microsoft.com/office/drawing/2014/main" id="{C7F0A4D2-4134-47E5-9D2B-871FAE93CE64}"/>
              </a:ext>
            </a:extLst>
          </p:cNvPr>
          <p:cNvSpPr>
            <a:spLocks xmlns:a="http://schemas.openxmlformats.org/drawingml/2006/main" noGrp="1"/>
          </p:cNvSpPr>
          <p:nvPr/>
        </p:nvSpPr>
        <p:spPr>
          <a:xfrm xmlns:a="http://schemas.openxmlformats.org/drawingml/2006/main">
            <a:off x="457200" y="1657350"/>
            <a:ext cx="6238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SEVERIDAD · MACRO-F1</a:t>
            </a:r>
          </a:p>
        </p:txBody>
      </p:sp>
      <p:sp>
        <p:nvSpPr>
          <p:cNvPr id="5" name="">
            <a:extLst xmlns:a="http://schemas.openxmlformats.org/drawingml/2006/main">
              <a:ext uri="{FF2B5EF4-FFF2-40B4-BE49-F238E27FC236}">
                <a16:creationId xmlns:a16="http://schemas.microsoft.com/office/drawing/2014/main" id="{61F8E68F-B405-440E-9D18-40184E92AE92}"/>
              </a:ext>
            </a:extLst>
          </p:cNvPr>
          <p:cNvSpPr>
            <a:spLocks xmlns:a="http://schemas.openxmlformats.org/drawingml/2006/main" noGrp="1"/>
          </p:cNvSpPr>
          <p:nvPr/>
        </p:nvSpPr>
        <p:spPr>
          <a:xfrm xmlns:a="http://schemas.openxmlformats.org/drawingml/2006/main">
            <a:off x="457200" y="2143125"/>
            <a:ext cx="6286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2C637F"/>
                </a:solidFill>
                <a:latin typeface="Inter"/>
                <a:ea typeface="Inter"/>
                <a:cs typeface="Inter"/>
              </a:defRPr>
            </a:pPr>
            <a:r>
              <a:rPr sz="5925" b="1">
                <a:solidFill>
                  <a:srgbClr val="2C637F"/>
                </a:solidFill>
                <a:latin typeface="Inter"/>
                <a:ea typeface="Inter"/>
                <a:cs typeface="Inter"/>
              </a:rPr>
              <a:t>0.60798</a:t>
            </a:r>
          </a:p>
        </p:txBody>
      </p:sp>
      <p:sp>
        <p:nvSpPr>
          <p:cNvPr id="6" name="">
            <a:extLst xmlns:a="http://schemas.openxmlformats.org/drawingml/2006/main">
              <a:ext uri="{FF2B5EF4-FFF2-40B4-BE49-F238E27FC236}">
                <a16:creationId xmlns:a16="http://schemas.microsoft.com/office/drawing/2014/main" id="{F5298BCB-A6A6-431C-A608-06B6DD729BAC}"/>
              </a:ext>
            </a:extLst>
          </p:cNvPr>
          <p:cNvSpPr>
            <a:spLocks xmlns:a="http://schemas.openxmlformats.org/drawingml/2006/main" noGrp="1"/>
          </p:cNvSpPr>
          <p:nvPr/>
        </p:nvSpPr>
        <p:spPr>
          <a:xfrm xmlns:a="http://schemas.openxmlformats.org/drawingml/2006/main">
            <a:off x="457200" y="3343275"/>
            <a:ext cx="590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3.º / 16 equipos</a:t>
            </a:r>
          </a:p>
        </p:txBody>
      </p:sp>
      <p:sp>
        <p:nvSpPr>
          <p:cNvPr id="7" name="">
            <a:extLst xmlns:a="http://schemas.openxmlformats.org/drawingml/2006/main">
              <a:ext uri="{FF2B5EF4-FFF2-40B4-BE49-F238E27FC236}">
                <a16:creationId xmlns:a16="http://schemas.microsoft.com/office/drawing/2014/main" id="{4CFB7AC0-7921-48EB-84EE-366CE1890EA4}"/>
              </a:ext>
            </a:extLst>
          </p:cNvPr>
          <p:cNvSpPr>
            <a:spLocks xmlns:a="http://schemas.openxmlformats.org/drawingml/2006/main" noGrp="1"/>
          </p:cNvSpPr>
          <p:nvPr/>
        </p:nvSpPr>
        <p:spPr>
          <a:xfrm xmlns:a="http://schemas.openxmlformats.org/drawingml/2006/main">
            <a:off x="457200" y="4219575"/>
            <a:ext cx="6238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Ancla 0.60678   →   Final 0.60798</a:t>
            </a:r>
          </a:p>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Cambio: +0.00120</a:t>
            </a:r>
          </a:p>
        </p:txBody>
      </p:sp>
      <p:sp>
        <p:nvSpPr>
          <p:cNvPr id="8" name="">
            <a:extLst xmlns:a="http://schemas.openxmlformats.org/drawingml/2006/main">
              <a:ext uri="{FF2B5EF4-FFF2-40B4-BE49-F238E27FC236}">
                <a16:creationId xmlns:a16="http://schemas.microsoft.com/office/drawing/2014/main" id="{A140E9EC-8866-40B4-92D0-D3AA45759C9C}"/>
              </a:ext>
            </a:extLst>
          </p:cNvPr>
          <p:cNvSpPr>
            <a:spLocks xmlns:a="http://schemas.openxmlformats.org/drawingml/2006/main" noGrp="1"/>
          </p:cNvSpPr>
          <p:nvPr/>
        </p:nvSpPr>
        <p:spPr>
          <a:xfrm xmlns:a="http://schemas.openxmlformats.org/drawingml/2006/main">
            <a:off x="7486650" y="1657350"/>
            <a:ext cx="42195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TIPOS · MICRO-F1</a:t>
            </a:r>
          </a:p>
        </p:txBody>
      </p:sp>
      <p:sp>
        <p:nvSpPr>
          <p:cNvPr id="9" name="">
            <a:extLst xmlns:a="http://schemas.openxmlformats.org/drawingml/2006/main">
              <a:ext uri="{FF2B5EF4-FFF2-40B4-BE49-F238E27FC236}">
                <a16:creationId xmlns:a16="http://schemas.microsoft.com/office/drawing/2014/main" id="{B18566B2-B20C-4EB3-BB89-F0E2FC9EBA90}"/>
              </a:ext>
            </a:extLst>
          </p:cNvPr>
          <p:cNvSpPr>
            <a:spLocks xmlns:a="http://schemas.openxmlformats.org/drawingml/2006/main" noGrp="1"/>
          </p:cNvSpPr>
          <p:nvPr/>
        </p:nvSpPr>
        <p:spPr>
          <a:xfrm xmlns:a="http://schemas.openxmlformats.org/drawingml/2006/main">
            <a:off x="7486650" y="2143125"/>
            <a:ext cx="42195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2C637F"/>
                </a:solidFill>
                <a:latin typeface="Inter"/>
                <a:ea typeface="Inter"/>
                <a:cs typeface="Inter"/>
              </a:defRPr>
            </a:pPr>
            <a:r>
              <a:rPr sz="5400" b="1">
                <a:solidFill>
                  <a:srgbClr val="2C637F"/>
                </a:solidFill>
                <a:latin typeface="Inter"/>
                <a:ea typeface="Inter"/>
                <a:cs typeface="Inter"/>
              </a:rPr>
              <a:t>0.87016</a:t>
            </a:r>
          </a:p>
        </p:txBody>
      </p:sp>
      <p:sp>
        <p:nvSpPr>
          <p:cNvPr id="10" name="">
            <a:extLst xmlns:a="http://schemas.openxmlformats.org/drawingml/2006/main">
              <a:ext uri="{FF2B5EF4-FFF2-40B4-BE49-F238E27FC236}">
                <a16:creationId xmlns:a16="http://schemas.microsoft.com/office/drawing/2014/main" id="{995F21EE-CDA3-48F7-A5B0-2ADA7A361F8B}"/>
              </a:ext>
            </a:extLst>
          </p:cNvPr>
          <p:cNvSpPr>
            <a:spLocks xmlns:a="http://schemas.openxmlformats.org/drawingml/2006/main" noGrp="1"/>
          </p:cNvSpPr>
          <p:nvPr/>
        </p:nvSpPr>
        <p:spPr>
          <a:xfrm xmlns:a="http://schemas.openxmlformats.org/drawingml/2006/main">
            <a:off x="7486650" y="3343275"/>
            <a:ext cx="42195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6.º / 15 equipos</a:t>
            </a:r>
          </a:p>
        </p:txBody>
      </p:sp>
      <p:sp>
        <p:nvSpPr>
          <p:cNvPr id="11" name="">
            <a:extLst xmlns:a="http://schemas.openxmlformats.org/drawingml/2006/main">
              <a:ext uri="{FF2B5EF4-FFF2-40B4-BE49-F238E27FC236}">
                <a16:creationId xmlns:a16="http://schemas.microsoft.com/office/drawing/2014/main" id="{78131262-75A2-437C-BC9A-36078E307CD4}"/>
              </a:ext>
            </a:extLst>
          </p:cNvPr>
          <p:cNvSpPr>
            <a:spLocks xmlns:a="http://schemas.openxmlformats.org/drawingml/2006/main" noGrp="1"/>
          </p:cNvSpPr>
          <p:nvPr/>
        </p:nvSpPr>
        <p:spPr>
          <a:xfrm xmlns:a="http://schemas.openxmlformats.org/drawingml/2006/main">
            <a:off x="7486650" y="4219575"/>
            <a:ext cx="4219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Predicciones S2</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sin cambios finales</a:t>
            </a:r>
          </a:p>
        </p:txBody>
      </p:sp>
      <p:sp>
        <p:nvSpPr>
          <p:cNvPr id="12" name="">
            <a:extLst xmlns:a="http://schemas.openxmlformats.org/drawingml/2006/main">
              <a:ext uri="{FF2B5EF4-FFF2-40B4-BE49-F238E27FC236}">
                <a16:creationId xmlns:a16="http://schemas.microsoft.com/office/drawing/2014/main" id="{52C3151C-956E-4FE2-AEF7-3E621E70B20F}"/>
              </a:ext>
            </a:extLst>
          </p:cNvPr>
          <p:cNvSpPr>
            <a:spLocks xmlns:a="http://schemas.openxmlformats.org/drawingml/2006/main" noGrp="1"/>
          </p:cNvSpPr>
          <p:nvPr/>
        </p:nvSpPr>
        <p:spPr>
          <a:xfrm xmlns:a="http://schemas.openxmlformats.org/drawingml/2006/main">
            <a:off x="457200" y="5857875"/>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06674"/>
                </a:solidFill>
                <a:latin typeface="Inter"/>
                <a:ea typeface="Inter"/>
                <a:cs typeface="Inter"/>
              </a:defRPr>
            </a:pPr>
            <a:r>
              <a:rPr sz="1800" b="0">
                <a:solidFill>
                  <a:srgbClr val="506674"/>
                </a:solidFill>
                <a:latin typeface="Inter"/>
                <a:ea typeface="Inter"/>
                <a:cs typeface="Inter"/>
              </a:rPr>
              <a:t>Los resultados del test oficial orientaron la selección de las entregas.</a:t>
            </a:r>
          </a:p>
        </p:txBody>
      </p:sp>
    </p:spTree>
    <p:extLst>
      <p:ext uri="{BB962C8B-B14F-4D97-AF65-F5344CB8AC3E}">
        <p14:creationId xmlns:p14="http://schemas.microsoft.com/office/powerpoint/2010/main" val="375636827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ef5fd19668944f1b"/>
          <a:srcRect xmlns:a="http://schemas.openxmlformats.org/drawingml/2006/main" l="0" t="25645" r="0" b="61469"/>
          <a:stretch xmlns:a="http://schemas.openxmlformats.org/drawingml/2006/main">
            <a:fillRect l="0" t="0" r="0" b="0"/>
          </a:stretch>
        </p:blipFill>
        <p:spPr>
          <a:xfrm xmlns:a="http://schemas.openxmlformats.org/drawingml/2006/main">
            <a:off x="0" y="4763386"/>
            <a:ext cx="12192000" cy="209461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783A025-E9CE-4C0F-BE46-1B57CE4C4C27}"/>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Una estrategia que se puede</a:t>
            </a:r>
          </a:p>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poner a prueba en otros contextos</a:t>
            </a:r>
          </a:p>
        </p:txBody>
      </p:sp>
      <p:sp>
        <p:nvSpPr>
          <p:cNvPr id="9" name="">
            <a:extLst xmlns:a="http://schemas.openxmlformats.org/drawingml/2006/main">
              <a:ext uri="{FF2B5EF4-FFF2-40B4-BE49-F238E27FC236}">
                <a16:creationId xmlns:a16="http://schemas.microsoft.com/office/drawing/2014/main" id="{9C4488A5-93EF-4A52-AAFE-8220E05EE29C}"/>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10" name="">
            <a:extLst xmlns:a="http://schemas.openxmlformats.org/drawingml/2006/main">
              <a:ext uri="{FF2B5EF4-FFF2-40B4-BE49-F238E27FC236}">
                <a16:creationId xmlns:a16="http://schemas.microsoft.com/office/drawing/2014/main" id="{498A1A68-7E20-4F06-84E5-40213E00F9D1}"/>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10</a:t>
            </a:r>
          </a:p>
        </p:txBody>
      </p:sp>
      <p:sp>
        <p:nvSpPr>
          <p:cNvPr id="11" name="">
            <a:extLst xmlns:a="http://schemas.openxmlformats.org/drawingml/2006/main">
              <a:ext uri="{FF2B5EF4-FFF2-40B4-BE49-F238E27FC236}">
                <a16:creationId xmlns:a16="http://schemas.microsoft.com/office/drawing/2014/main" id="{E688F487-7D0D-4587-8A5F-CC6F04DD6DEA}"/>
              </a:ext>
            </a:extLst>
          </p:cNvPr>
          <p:cNvSpPr>
            <a:spLocks xmlns:a="http://schemas.openxmlformats.org/drawingml/2006/main" noGrp="1"/>
          </p:cNvSpPr>
          <p:nvPr/>
        </p:nvSpPr>
        <p:spPr>
          <a:xfrm xmlns:a="http://schemas.openxmlformats.org/drawingml/2006/main">
            <a:off x="476250" y="2085975"/>
            <a:ext cx="11049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Comparar familias con el mismo protocolo</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Adaptar salidas y pérdidas a las etiquetas</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Evaluar aumentación por clase y tipo de error</a:t>
            </a:r>
          </a:p>
        </p:txBody>
      </p:sp>
      <p:sp>
        <p:nvSpPr>
          <p:cNvPr id="12" name="">
            <a:extLst xmlns:a="http://schemas.openxmlformats.org/drawingml/2006/main">
              <a:ext uri="{FF2B5EF4-FFF2-40B4-BE49-F238E27FC236}">
                <a16:creationId xmlns:a16="http://schemas.microsoft.com/office/drawing/2014/main" id="{AEE780CC-873D-4FEA-ABC0-0E0B42E3DC29}"/>
              </a:ext>
            </a:extLst>
          </p:cNvPr>
          <p:cNvSpPr>
            <a:spLocks xmlns:a="http://schemas.openxmlformats.org/drawingml/2006/main" noGrp="1"/>
          </p:cNvSpPr>
          <p:nvPr/>
        </p:nvSpPr>
        <p:spPr>
          <a:xfrm xmlns:a="http://schemas.openxmlformats.org/drawingml/2006/main">
            <a:off x="476250" y="4238625"/>
            <a:ext cx="11049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C637F"/>
                </a:solidFill>
                <a:latin typeface="Inter"/>
                <a:ea typeface="Inter"/>
                <a:cs typeface="Inter"/>
              </a:defRPr>
            </a:pPr>
            <a:r>
              <a:rPr sz="2250" b="1">
                <a:solidFill>
                  <a:srgbClr val="2C637F"/>
                </a:solidFill>
                <a:latin typeface="Inter"/>
                <a:ea typeface="Inter"/>
                <a:cs typeface="Inter"/>
              </a:rPr>
              <a:t>Próximas pruebas</a:t>
            </a:r>
          </a:p>
        </p:txBody>
      </p:sp>
      <p:sp>
        <p:nvSpPr>
          <p:cNvPr id="13" name="">
            <a:extLst xmlns:a="http://schemas.openxmlformats.org/drawingml/2006/main">
              <a:ext uri="{FF2B5EF4-FFF2-40B4-BE49-F238E27FC236}">
                <a16:creationId xmlns:a16="http://schemas.microsoft.com/office/drawing/2014/main" id="{DFC676B4-9C54-43FA-BBE8-9256E860769A}"/>
              </a:ext>
            </a:extLst>
          </p:cNvPr>
          <p:cNvSpPr>
            <a:spLocks xmlns:a="http://schemas.openxmlformats.org/drawingml/2006/main" noGrp="1"/>
          </p:cNvSpPr>
          <p:nvPr/>
        </p:nvSpPr>
        <p:spPr>
          <a:xfrm xmlns:a="http://schemas.openxmlformats.org/drawingml/2006/main">
            <a:off x="476250" y="4867275"/>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Auditoría de variantes · Control de balance y pesos</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Varias semillas · Validación por institución y consenso</a:t>
            </a:r>
          </a:p>
        </p:txBody>
      </p:sp>
      <p:sp>
        <p:nvSpPr>
          <p:cNvPr id="14" name="">
            <a:extLst xmlns:a="http://schemas.openxmlformats.org/drawingml/2006/main">
              <a:ext uri="{FF2B5EF4-FFF2-40B4-BE49-F238E27FC236}">
                <a16:creationId xmlns:a16="http://schemas.microsoft.com/office/drawing/2014/main" id="{1FE7431F-3322-4818-A7CA-51C32A3CD4D9}"/>
              </a:ext>
            </a:extLst>
          </p:cNvPr>
          <p:cNvSpPr>
            <a:spLocks xmlns:a="http://schemas.openxmlformats.org/drawingml/2006/main" noGrp="1"/>
          </p:cNvSpPr>
          <p:nvPr/>
        </p:nvSpPr>
        <p:spPr>
          <a:xfrm xmlns:a="http://schemas.openxmlformats.org/drawingml/2006/main">
            <a:off x="476250" y="6153150"/>
            <a:ext cx="11239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2C637F"/>
                </a:solidFill>
                <a:latin typeface="Inter"/>
                <a:ea typeface="Inter"/>
                <a:cs typeface="Inter"/>
              </a:defRPr>
            </a:pPr>
            <a:r>
              <a:rPr sz="1575" b="0">
                <a:solidFill>
                  <a:srgbClr val="2C637F"/>
                </a:solidFill>
                <a:latin typeface="Inter"/>
                <a:ea typeface="Inter"/>
                <a:cs typeface="Inter"/>
              </a:rPr>
              <a:t>Código y evidencia: github.com/mariron42/clasificador_violencia</a:t>
            </a:r>
          </a:p>
        </p:txBody>
      </p:sp>
    </p:spTree>
    <p:extLst>
      <p:ext uri="{BB962C8B-B14F-4D97-AF65-F5344CB8AC3E}">
        <p14:creationId xmlns:p14="http://schemas.microsoft.com/office/powerpoint/2010/main" val="234694970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D64BE6C-A51E-4302-99B7-E61FF57D874F}"/>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El modelo aumentado dentro del ensamble</a:t>
            </a:r>
          </a:p>
        </p:txBody>
      </p:sp>
      <p:sp>
        <p:nvSpPr>
          <p:cNvPr id="2" name="">
            <a:extLst xmlns:a="http://schemas.openxmlformats.org/drawingml/2006/main">
              <a:ext uri="{FF2B5EF4-FFF2-40B4-BE49-F238E27FC236}">
                <a16:creationId xmlns:a16="http://schemas.microsoft.com/office/drawing/2014/main" id="{9282AE29-C5A1-419D-BA20-BFA671226CB3}"/>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43822C0B-F1F6-44CA-AAB1-A8471C938E07}"/>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11</a:t>
            </a:r>
          </a:p>
        </p:txBody>
      </p:sp>
      <p:sp>
        <p:nvSpPr>
          <p:cNvPr id="4" name="">
            <a:extLst xmlns:a="http://schemas.openxmlformats.org/drawingml/2006/main">
              <a:ext uri="{FF2B5EF4-FFF2-40B4-BE49-F238E27FC236}">
                <a16:creationId xmlns:a16="http://schemas.microsoft.com/office/drawing/2014/main" id="{F3D5BA04-E098-49C5-B5D2-00728096E9B6}"/>
              </a:ext>
            </a:extLst>
          </p:cNvPr>
          <p:cNvSpPr>
            <a:spLocks xmlns:a="http://schemas.openxmlformats.org/drawingml/2006/main" noGrp="1"/>
          </p:cNvSpPr>
          <p:nvPr/>
        </p:nvSpPr>
        <p:spPr>
          <a:xfrm xmlns:a="http://schemas.openxmlformats.org/drawingml/2006/main">
            <a:off x="457200" y="1428750"/>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Ensamble intermedio del 5 de mayo de 2026</a:t>
            </a:r>
          </a:p>
        </p:txBody>
      </p:sp>
      <p:sp>
        <p:nvSpPr>
          <p:cNvPr id="5" name="">
            <a:extLst xmlns:a="http://schemas.openxmlformats.org/drawingml/2006/main">
              <a:ext uri="{FF2B5EF4-FFF2-40B4-BE49-F238E27FC236}">
                <a16:creationId xmlns:a16="http://schemas.microsoft.com/office/drawing/2014/main" id="{6CED8D8A-264A-4F3B-ABB2-4D858DEE5E69}"/>
              </a:ext>
            </a:extLst>
          </p:cNvPr>
          <p:cNvSpPr>
            <a:spLocks xmlns:a="http://schemas.openxmlformats.org/drawingml/2006/main" noGrp="1"/>
          </p:cNvSpPr>
          <p:nvPr/>
        </p:nvSpPr>
        <p:spPr>
          <a:xfrm xmlns:a="http://schemas.openxmlformats.org/drawingml/2006/main">
            <a:off x="457200" y="1847850"/>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Desarrollo original: 3,405 reportes, incluidos 154 Severe</a:t>
            </a:r>
          </a:p>
        </p:txBody>
      </p:sp>
      <p:graphicFrame>
        <p:nvGraphicFramePr>
          <p:cNvPr id="15" name=""/>
          <p:cNvGraphicFramePr/>
          <p:nvPr/>
        </p:nvGraphicFramePr>
        <p:xfrm>
          <a:off xmlns:a="http://schemas.openxmlformats.org/drawingml/2006/main" x="457200" y="2495550"/>
          <a:ext xmlns:a="http://schemas.openxmlformats.org/drawingml/2006/main" cx="11239500" cy="2247900"/>
        </p:xfrm>
        <a:graphic xmlns:a="http://schemas.openxmlformats.org/drawingml/2006/main">
          <a:graphicData uri="http://schemas.openxmlformats.org/drawingml/2006/table">
            <a:tbl>
              <a:tblPr/>
              <a:tblGrid>
                <a:gridCol w="4667250"/>
                <a:gridCol w="2190750"/>
                <a:gridCol w="2190750"/>
                <a:gridCol w="2190750"/>
              </a:tblGrid>
              <a:tr h="561975">
                <a:tc>
                  <a:txBody>
                    <a:bodyPr/>
                    <a:lstStyle/>
                    <a:p>
                      <a:r>
                        <a:rPr sz="1725" b="1">
                          <a:solidFill>
                            <a:srgbClr val="2C637F"/>
                          </a:solidFill>
                          <a:latin typeface="Inter"/>
                          <a:ea typeface="Inter"/>
                          <a:cs typeface="Inter"/>
                        </a:rPr>
                        <a:t>Sistema</a:t>
                      </a:r>
                    </a:p>
                  </a:txBody>
                  <a:tcPr marL="91440" marR="91440" marT="45720" marB="45720">
                    <a:solidFill>
                      <a:srgbClr val="E2F2FA"/>
                    </a:solidFill>
                  </a:tcPr>
                </a:tc>
                <a:tc>
                  <a:txBody>
                    <a:bodyPr/>
                    <a:lstStyle/>
                    <a:p>
                      <a:r>
                        <a:rPr sz="1725" b="1">
                          <a:solidFill>
                            <a:srgbClr val="2C637F"/>
                          </a:solidFill>
                          <a:latin typeface="Inter"/>
                          <a:ea typeface="Inter"/>
                          <a:cs typeface="Inter"/>
                        </a:rPr>
                        <a:t>Macro-F1</a:t>
                      </a:r>
                    </a:p>
                  </a:txBody>
                  <a:tcPr marL="91440" marR="91440" marT="45720" marB="45720">
                    <a:solidFill>
                      <a:srgbClr val="E2F2FA"/>
                    </a:solidFill>
                  </a:tcPr>
                </a:tc>
                <a:tc>
                  <a:txBody>
                    <a:bodyPr/>
                    <a:lstStyle/>
                    <a:p>
                      <a:r>
                        <a:rPr sz="1725" b="1">
                          <a:solidFill>
                            <a:srgbClr val="2C637F"/>
                          </a:solidFill>
                          <a:latin typeface="Inter"/>
                          <a:ea typeface="Inter"/>
                          <a:cs typeface="Inter"/>
                        </a:rPr>
                        <a:t>F1 Severe</a:t>
                      </a:r>
                    </a:p>
                  </a:txBody>
                  <a:tcPr marL="91440" marR="91440" marT="45720" marB="45720">
                    <a:solidFill>
                      <a:srgbClr val="E2F2FA"/>
                    </a:solidFill>
                  </a:tcPr>
                </a:tc>
                <a:tc>
                  <a:txBody>
                    <a:bodyPr/>
                    <a:lstStyle/>
                    <a:p>
                      <a:r>
                        <a:rPr sz="1725" b="1">
                          <a:solidFill>
                            <a:srgbClr val="2C637F"/>
                          </a:solidFill>
                          <a:latin typeface="Inter"/>
                          <a:ea typeface="Inter"/>
                          <a:cs typeface="Inter"/>
                        </a:rPr>
                        <a:t>Recall Severe</a:t>
                      </a:r>
                    </a:p>
                  </a:txBody>
                  <a:tcPr marL="91440" marR="91440" marT="45720" marB="45720">
                    <a:solidFill>
                      <a:srgbClr val="E2F2FA"/>
                    </a:solidFill>
                  </a:tcPr>
                </a:tc>
              </a:tr>
              <a:tr h="561975">
                <a:tc>
                  <a:txBody>
                    <a:bodyPr/>
                    <a:lstStyle/>
                    <a:p>
                      <a:r>
                        <a:rPr sz="1725" b="0">
                          <a:solidFill>
                            <a:srgbClr val="152E3C"/>
                          </a:solidFill>
                          <a:latin typeface="Inter"/>
                          <a:ea typeface="Inter"/>
                          <a:cs typeface="Inter"/>
                        </a:rPr>
                        <a:t>BETO base</a:t>
                      </a:r>
                    </a:p>
                  </a:txBody>
                  <a:tcPr marL="91440" marR="91440" marT="45720" marB="45720">
                    <a:solidFill>
                      <a:srgbClr val="FFFFFF"/>
                    </a:solidFill>
                  </a:tcPr>
                </a:tc>
                <a:tc>
                  <a:txBody>
                    <a:bodyPr/>
                    <a:lstStyle/>
                    <a:p>
                      <a:r>
                        <a:rPr sz="1725" b="0">
                          <a:solidFill>
                            <a:srgbClr val="152E3C"/>
                          </a:solidFill>
                          <a:latin typeface="Inter"/>
                          <a:ea typeface="Inter"/>
                          <a:cs typeface="Inter"/>
                        </a:rPr>
                        <a:t>0.5481</a:t>
                      </a:r>
                    </a:p>
                  </a:txBody>
                  <a:tcPr marL="91440" marR="91440" marT="45720" marB="45720">
                    <a:solidFill>
                      <a:srgbClr val="FFFFFF"/>
                    </a:solidFill>
                  </a:tcPr>
                </a:tc>
                <a:tc>
                  <a:txBody>
                    <a:bodyPr/>
                    <a:lstStyle/>
                    <a:p>
                      <a:r>
                        <a:rPr sz="1725" b="0">
                          <a:solidFill>
                            <a:srgbClr val="152E3C"/>
                          </a:solidFill>
                          <a:latin typeface="Inter"/>
                          <a:ea typeface="Inter"/>
                          <a:cs typeface="Inter"/>
                        </a:rPr>
                        <a:t>0.4178</a:t>
                      </a:r>
                    </a:p>
                  </a:txBody>
                  <a:tcPr marL="91440" marR="91440" marT="45720" marB="45720">
                    <a:solidFill>
                      <a:srgbClr val="FFFFFF"/>
                    </a:solidFill>
                  </a:tcPr>
                </a:tc>
                <a:tc>
                  <a:txBody>
                    <a:bodyPr/>
                    <a:lstStyle/>
                    <a:p>
                      <a:r>
                        <a:rPr sz="1725" b="0">
                          <a:solidFill>
                            <a:srgbClr val="152E3C"/>
                          </a:solidFill>
                          <a:latin typeface="Inter"/>
                          <a:ea typeface="Inter"/>
                          <a:cs typeface="Inter"/>
                        </a:rPr>
                        <a:t>39.61%</a:t>
                      </a:r>
                    </a:p>
                  </a:txBody>
                  <a:tcPr marL="91440" marR="91440" marT="45720" marB="45720">
                    <a:solidFill>
                      <a:srgbClr val="FFFFFF"/>
                    </a:solidFill>
                  </a:tcPr>
                </a:tc>
              </a:tr>
              <a:tr h="561975">
                <a:tc>
                  <a:txBody>
                    <a:bodyPr/>
                    <a:lstStyle/>
                    <a:p>
                      <a:r>
                        <a:rPr sz="1725" b="0">
                          <a:solidFill>
                            <a:srgbClr val="152E3C"/>
                          </a:solidFill>
                          <a:latin typeface="Inter"/>
                          <a:ea typeface="Inter"/>
                          <a:cs typeface="Inter"/>
                        </a:rPr>
                        <a:t>BETO + aumentación Severe</a:t>
                      </a:r>
                    </a:p>
                  </a:txBody>
                  <a:tcPr marL="91440" marR="91440" marT="45720" marB="45720">
                    <a:solidFill>
                      <a:srgbClr val="FFFFFF"/>
                    </a:solidFill>
                  </a:tcPr>
                </a:tc>
                <a:tc>
                  <a:txBody>
                    <a:bodyPr/>
                    <a:lstStyle/>
                    <a:p>
                      <a:r>
                        <a:rPr sz="1725" b="0">
                          <a:solidFill>
                            <a:srgbClr val="152E3C"/>
                          </a:solidFill>
                          <a:latin typeface="Inter"/>
                          <a:ea typeface="Inter"/>
                          <a:cs typeface="Inter"/>
                        </a:rPr>
                        <a:t>0.5552</a:t>
                      </a:r>
                    </a:p>
                  </a:txBody>
                  <a:tcPr marL="91440" marR="91440" marT="45720" marB="45720">
                    <a:solidFill>
                      <a:srgbClr val="FFFFFF"/>
                    </a:solidFill>
                  </a:tcPr>
                </a:tc>
                <a:tc>
                  <a:txBody>
                    <a:bodyPr/>
                    <a:lstStyle/>
                    <a:p>
                      <a:r>
                        <a:rPr sz="1725" b="0">
                          <a:solidFill>
                            <a:srgbClr val="152E3C"/>
                          </a:solidFill>
                          <a:latin typeface="Inter"/>
                          <a:ea typeface="Inter"/>
                          <a:cs typeface="Inter"/>
                        </a:rPr>
                        <a:t>0.4335</a:t>
                      </a:r>
                    </a:p>
                  </a:txBody>
                  <a:tcPr marL="91440" marR="91440" marT="45720" marB="45720">
                    <a:solidFill>
                      <a:srgbClr val="FFFFFF"/>
                    </a:solidFill>
                  </a:tcPr>
                </a:tc>
                <a:tc>
                  <a:txBody>
                    <a:bodyPr/>
                    <a:lstStyle/>
                    <a:p>
                      <a:r>
                        <a:rPr sz="1725" b="0">
                          <a:solidFill>
                            <a:srgbClr val="152E3C"/>
                          </a:solidFill>
                          <a:latin typeface="Inter"/>
                          <a:ea typeface="Inter"/>
                          <a:cs typeface="Inter"/>
                        </a:rPr>
                        <a:t>37.01%</a:t>
                      </a:r>
                    </a:p>
                  </a:txBody>
                  <a:tcPr marL="91440" marR="91440" marT="45720" marB="45720">
                    <a:solidFill>
                      <a:srgbClr val="FFFFFF"/>
                    </a:solidFill>
                  </a:tcPr>
                </a:tc>
              </a:tr>
              <a:tr h="561975">
                <a:tc>
                  <a:txBody>
                    <a:bodyPr/>
                    <a:lstStyle/>
                    <a:p>
                      <a:r>
                        <a:rPr sz="1725" b="1">
                          <a:solidFill>
                            <a:srgbClr val="16766E"/>
                          </a:solidFill>
                          <a:latin typeface="Inter"/>
                          <a:ea typeface="Inter"/>
                          <a:cs typeface="Inter"/>
                        </a:rPr>
                        <a:t>Ensamble con BETO aumentado</a:t>
                      </a:r>
                    </a:p>
                  </a:txBody>
                  <a:tcPr marL="91440" marR="91440" marT="45720" marB="45720">
                    <a:solidFill>
                      <a:srgbClr val="E8F3EF"/>
                    </a:solidFill>
                  </a:tcPr>
                </a:tc>
                <a:tc>
                  <a:txBody>
                    <a:bodyPr/>
                    <a:lstStyle/>
                    <a:p>
                      <a:r>
                        <a:rPr sz="1725" b="1">
                          <a:solidFill>
                            <a:srgbClr val="16766E"/>
                          </a:solidFill>
                          <a:latin typeface="Inter"/>
                          <a:ea typeface="Inter"/>
                          <a:cs typeface="Inter"/>
                        </a:rPr>
                        <a:t>0.5805</a:t>
                      </a:r>
                    </a:p>
                  </a:txBody>
                  <a:tcPr marL="91440" marR="91440" marT="45720" marB="45720">
                    <a:solidFill>
                      <a:srgbClr val="E8F3EF"/>
                    </a:solidFill>
                  </a:tcPr>
                </a:tc>
                <a:tc>
                  <a:txBody>
                    <a:bodyPr/>
                    <a:lstStyle/>
                    <a:p>
                      <a:r>
                        <a:rPr sz="1725" b="1">
                          <a:solidFill>
                            <a:srgbClr val="16766E"/>
                          </a:solidFill>
                          <a:latin typeface="Inter"/>
                          <a:ea typeface="Inter"/>
                          <a:cs typeface="Inter"/>
                        </a:rPr>
                        <a:t>0.4737</a:t>
                      </a:r>
                    </a:p>
                  </a:txBody>
                  <a:tcPr marL="91440" marR="91440" marT="45720" marB="45720">
                    <a:solidFill>
                      <a:srgbClr val="E8F3EF"/>
                    </a:solidFill>
                  </a:tcPr>
                </a:tc>
                <a:tc>
                  <a:txBody>
                    <a:bodyPr/>
                    <a:lstStyle/>
                    <a:p>
                      <a:r>
                        <a:rPr sz="1725" b="1">
                          <a:solidFill>
                            <a:srgbClr val="16766E"/>
                          </a:solidFill>
                          <a:latin typeface="Inter"/>
                          <a:ea typeface="Inter"/>
                          <a:cs typeface="Inter"/>
                        </a:rPr>
                        <a:t>40.91%</a:t>
                      </a:r>
                    </a:p>
                  </a:txBody>
                  <a:tcPr marL="91440" marR="91440" marT="45720" marB="45720">
                    <a:solidFill>
                      <a:srgbClr val="E8F3EF"/>
                    </a:solidFill>
                  </a:tcPr>
                </a:tc>
              </a:tr>
            </a:tbl>
          </a:graphicData>
        </a:graphic>
      </p:graphicFrame>
      <p:sp>
        <p:nvSpPr>
          <p:cNvPr id="7" name="">
            <a:extLst xmlns:a="http://schemas.openxmlformats.org/drawingml/2006/main">
              <a:ext uri="{FF2B5EF4-FFF2-40B4-BE49-F238E27FC236}">
                <a16:creationId xmlns:a16="http://schemas.microsoft.com/office/drawing/2014/main" id="{B4EBD139-D8E6-4FF6-9144-F0DBE1A1B51F}"/>
              </a:ext>
            </a:extLst>
          </p:cNvPr>
          <p:cNvSpPr>
            <a:spLocks xmlns:a="http://schemas.openxmlformats.org/drawingml/2006/main" noGrp="1"/>
          </p:cNvSpPr>
          <p:nvPr/>
        </p:nvSpPr>
        <p:spPr>
          <a:xfrm xmlns:a="http://schemas.openxmlformats.org/drawingml/2006/main">
            <a:off x="457200" y="5124450"/>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6766E"/>
                </a:solidFill>
                <a:latin typeface="Inter"/>
                <a:ea typeface="Inter"/>
                <a:cs typeface="Inter"/>
              </a:defRPr>
            </a:pPr>
            <a:r>
              <a:rPr sz="2550" b="1">
                <a:solidFill>
                  <a:srgbClr val="16766E"/>
                </a:solidFill>
                <a:latin typeface="Inter"/>
                <a:ea typeface="Inter"/>
                <a:cs typeface="Inter"/>
              </a:rPr>
              <a:t>El recall de Severe supera al modelo base</a:t>
            </a:r>
          </a:p>
        </p:txBody>
      </p:sp>
      <p:sp>
        <p:nvSpPr>
          <p:cNvPr id="8" name="">
            <a:extLst xmlns:a="http://schemas.openxmlformats.org/drawingml/2006/main">
              <a:ext uri="{FF2B5EF4-FFF2-40B4-BE49-F238E27FC236}">
                <a16:creationId xmlns:a16="http://schemas.microsoft.com/office/drawing/2014/main" id="{CACC8533-51F7-4570-BD35-7B8743BBABE7}"/>
              </a:ext>
            </a:extLst>
          </p:cNvPr>
          <p:cNvSpPr>
            <a:spLocks xmlns:a="http://schemas.openxmlformats.org/drawingml/2006/main" noGrp="1"/>
          </p:cNvSpPr>
          <p:nvPr/>
        </p:nvSpPr>
        <p:spPr>
          <a:xfrm xmlns:a="http://schemas.openxmlformats.org/drawingml/2006/main">
            <a:off x="457200" y="5743575"/>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10 fuentes con igual peso, incluido BETO con aumentación Severe.</a:t>
            </a:r>
          </a:p>
        </p:txBody>
      </p:sp>
      <p:sp>
        <p:nvSpPr>
          <p:cNvPr id="9" name="">
            <a:extLst xmlns:a="http://schemas.openxmlformats.org/drawingml/2006/main">
              <a:ext uri="{FF2B5EF4-FFF2-40B4-BE49-F238E27FC236}">
                <a16:creationId xmlns:a16="http://schemas.microsoft.com/office/drawing/2014/main" id="{2A9D097C-ACC2-4EA4-A09B-2003E52DA8E3}"/>
              </a:ext>
            </a:extLst>
          </p:cNvPr>
          <p:cNvSpPr>
            <a:spLocks xmlns:a="http://schemas.openxmlformats.org/drawingml/2006/main" noGrp="1"/>
          </p:cNvSpPr>
          <p:nvPr/>
        </p:nvSpPr>
        <p:spPr>
          <a:xfrm xmlns:a="http://schemas.openxmlformats.org/drawingml/2006/main">
            <a:off x="457200" y="6181725"/>
            <a:ext cx="11239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Respaldo: resultado del ensamble completo en desarrollo</a:t>
            </a:r>
          </a:p>
        </p:txBody>
      </p:sp>
    </p:spTree>
    <p:extLst>
      <p:ext uri="{BB962C8B-B14F-4D97-AF65-F5344CB8AC3E}">
        <p14:creationId xmlns:p14="http://schemas.microsoft.com/office/powerpoint/2010/main" val="3756368278"/>
      </p:ext>
    </p:extLst>
  </p:cSld>
</p:sld>
</file>

<file path=ppt/theme/theme1.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2026-09-22T08:45:55.7380000Z</dcterms:created>
  <dcterms:modified xsi:type="dcterms:W3CDTF">2026-09-22T08:45:55.7380000Z</dcterms:modified>
</coreProperties>
</file>