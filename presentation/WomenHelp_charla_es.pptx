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e279a41bed4cbd" /><Relationship Type="http://schemas.openxmlformats.org/officeDocument/2006/relationships/extended-properties" Target="/docProps/app.xml" Id="R549a6020444f4bee" /><Relationship Type="http://schemas.openxmlformats.org/officeDocument/2006/relationships/officeDocument" Target="/ppt/presentation.xml" Id="R62dae2e78d424a2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65996a9f8794fb3"/>
  </p:sldMasterIdLst>
  <p:notesMasterIdLst>
    <p:notesMasterId xmlns:r="http://schemas.openxmlformats.org/officeDocument/2006/relationships" r:id="R0a77cdbc8b564b89"/>
  </p:notesMasterIdLst>
  <p:sldIdLst>
    <p:sldId xmlns:r="http://schemas.openxmlformats.org/officeDocument/2006/relationships" id="256" r:id="R7da14b8854994c1a"/>
    <p:sldId xmlns:r="http://schemas.openxmlformats.org/officeDocument/2006/relationships" id="257" r:id="R163d208dd6844759"/>
    <p:sldId xmlns:r="http://schemas.openxmlformats.org/officeDocument/2006/relationships" id="258" r:id="Rc3f89b6710eb433d"/>
    <p:sldId xmlns:r="http://schemas.openxmlformats.org/officeDocument/2006/relationships" id="259" r:id="R942f87810ac24ecd"/>
    <p:sldId xmlns:r="http://schemas.openxmlformats.org/officeDocument/2006/relationships" id="260" r:id="R666078e459734d01"/>
    <p:sldId xmlns:r="http://schemas.openxmlformats.org/officeDocument/2006/relationships" id="261" r:id="Rc35fc0552d6645cd"/>
    <p:sldId xmlns:r="http://schemas.openxmlformats.org/officeDocument/2006/relationships" id="262" r:id="R8418769e30834dba"/>
    <p:sldId xmlns:r="http://schemas.openxmlformats.org/officeDocument/2006/relationships" id="263" r:id="R827f735beead4461"/>
    <p:sldId xmlns:r="http://schemas.openxmlformats.org/officeDocument/2006/relationships" id="264" r:id="R32547291b99f4e94"/>
    <p:sldId xmlns:r="http://schemas.openxmlformats.org/officeDocument/2006/relationships" id="265" r:id="R21834ef5bf18450b"/>
  </p:sldIdLst>
  <p:sldSz cx="12192000" cy="6858000"/>
  <p:notesSz cx="6858000" cy="9144000"/>
  <p:embeddedFontLst>
    <p:embeddedFont>
      <p:font typeface="Inter"/>
      <p:regular xmlns:r="http://schemas.openxmlformats.org/officeDocument/2006/relationships" r:id="Rbaf51b9fae55445b"/>
      <p:bold xmlns:r="http://schemas.openxmlformats.org/officeDocument/2006/relationships" r:id="R37633d31b3ca4de0"/>
    </p:embeddedFont>
    <p:embeddedFont>
      <p:font typeface="Inter Medium"/>
      <p:regular xmlns:r="http://schemas.openxmlformats.org/officeDocument/2006/relationships" r:id="R8fe1cc1a70b046e3"/>
    </p:embeddedFont>
    <p:embeddedFont>
      <p:font typeface="Inter SemiBold"/>
      <p:regular xmlns:r="http://schemas.openxmlformats.org/officeDocument/2006/relationships" r:id="R45ea7ccdfe6a4f58"/>
      <p:bold xmlns:r="http://schemas.openxmlformats.org/officeDocument/2006/relationships" r:id="R934d97b396df49c0"/>
    </p:embeddedFont>
    <p:embeddedFont>
      <p:font typeface="OpenAI Sans"/>
      <p:regular xmlns:r="http://schemas.openxmlformats.org/officeDocument/2006/relationships" r:id="R9852c6be9bfd4913"/>
      <p:bold xmlns:r="http://schemas.openxmlformats.org/officeDocument/2006/relationships" r:id="R436d777d409e4e63"/>
      <p:italic xmlns:r="http://schemas.openxmlformats.org/officeDocument/2006/relationships" r:id="R4c607f23809849d1"/>
      <p:boldItalic xmlns:r="http://schemas.openxmlformats.org/officeDocument/2006/relationships" r:id="R1e16894434d04ce9"/>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249434d5207423b" /><Relationship Type="http://schemas.openxmlformats.org/officeDocument/2006/relationships/slideMaster" Target="/ppt/slideMasters/slideMaster1.xml" Id="Re65996a9f8794fb3" /><Relationship Type="http://schemas.openxmlformats.org/officeDocument/2006/relationships/notesMaster" Target="/ppt/notesMasters/notesMaster1.xml" Id="R0a77cdbc8b564b89" /><Relationship Type="http://schemas.openxmlformats.org/officeDocument/2006/relationships/presProps" Target="/ppt/presProps.xml" Id="R58cf2819330a43f0" /><Relationship Type="http://schemas.openxmlformats.org/officeDocument/2006/relationships/viewProps" Target="/ppt/viewProps.xml" Id="R18a25ea2f4614757" /><Relationship Type="http://schemas.openxmlformats.org/officeDocument/2006/relationships/tableStyles" Target="/ppt/tableStyles.xml" Id="R91dceae71f974853" /><Relationship Type="http://schemas.openxmlformats.org/officeDocument/2006/relationships/font" Target="/ppt/fonts/font.dat" Id="Rbaf51b9fae55445b" /><Relationship Type="http://schemas.openxmlformats.org/officeDocument/2006/relationships/font" Target="/ppt/fonts/font2.dat" Id="R37633d31b3ca4de0" /><Relationship Type="http://schemas.openxmlformats.org/officeDocument/2006/relationships/font" Target="/ppt/fonts/font3.dat" Id="R8fe1cc1a70b046e3" /><Relationship Type="http://schemas.openxmlformats.org/officeDocument/2006/relationships/font" Target="/ppt/fonts/font4.dat" Id="R45ea7ccdfe6a4f58" /><Relationship Type="http://schemas.openxmlformats.org/officeDocument/2006/relationships/font" Target="/ppt/fonts/font5.dat" Id="R934d97b396df49c0" /><Relationship Type="http://schemas.openxmlformats.org/officeDocument/2006/relationships/font" Target="/ppt/fonts/font6.dat" Id="R9852c6be9bfd4913" /><Relationship Type="http://schemas.openxmlformats.org/officeDocument/2006/relationships/font" Target="/ppt/fonts/font7.dat" Id="R436d777d409e4e63" /><Relationship Type="http://schemas.openxmlformats.org/officeDocument/2006/relationships/font" Target="/ppt/fonts/font8.dat" Id="R4c607f23809849d1" /><Relationship Type="http://schemas.openxmlformats.org/officeDocument/2006/relationships/font" Target="/ppt/fonts/font9.dat" Id="R1e16894434d04ce9" /><Relationship Type="http://schemas.openxmlformats.org/officeDocument/2006/relationships/slide" Target="/ppt/slides/slide1.xml" Id="R7da14b8854994c1a" /><Relationship Type="http://schemas.openxmlformats.org/officeDocument/2006/relationships/slide" Target="/ppt/slides/slide2.xml" Id="R163d208dd6844759" /><Relationship Type="http://schemas.openxmlformats.org/officeDocument/2006/relationships/slide" Target="/ppt/slides/slide3.xml" Id="Rc3f89b6710eb433d" /><Relationship Type="http://schemas.openxmlformats.org/officeDocument/2006/relationships/slide" Target="/ppt/slides/slide4.xml" Id="R942f87810ac24ecd" /><Relationship Type="http://schemas.openxmlformats.org/officeDocument/2006/relationships/slide" Target="/ppt/slides/slide5.xml" Id="R666078e459734d01" /><Relationship Type="http://schemas.openxmlformats.org/officeDocument/2006/relationships/slide" Target="/ppt/slides/slide6.xml" Id="Rc35fc0552d6645cd" /><Relationship Type="http://schemas.openxmlformats.org/officeDocument/2006/relationships/slide" Target="/ppt/slides/slide7.xml" Id="R8418769e30834dba" /><Relationship Type="http://schemas.openxmlformats.org/officeDocument/2006/relationships/slide" Target="/ppt/slides/slide8.xml" Id="R827f735beead4461" /><Relationship Type="http://schemas.openxmlformats.org/officeDocument/2006/relationships/slide" Target="/ppt/slides/slide9.xml" Id="R32547291b99f4e94" /><Relationship Type="http://schemas.openxmlformats.org/officeDocument/2006/relationships/slide" Target="/ppt/slides/slide10.xml" Id="R21834ef5bf1845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2fd6f9596d4b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d43ddceefa445c" /><Relationship Type="http://schemas.openxmlformats.org/officeDocument/2006/relationships/notesMaster" Target="/ppt/notesMasters/notesMaster1.xml" Id="Ra885778c1f724b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61ac52d9084384" /><Relationship Type="http://schemas.openxmlformats.org/officeDocument/2006/relationships/notesMaster" Target="/ppt/notesMasters/notesMaster1.xml" Id="R66f908b73cef42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8d34e536f94d12" /><Relationship Type="http://schemas.openxmlformats.org/officeDocument/2006/relationships/notesMaster" Target="/ppt/notesMasters/notesMaster1.xml" Id="R771aed72d0b040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4174f484d549d6" /><Relationship Type="http://schemas.openxmlformats.org/officeDocument/2006/relationships/notesMaster" Target="/ppt/notesMasters/notesMaster1.xml" Id="Rc9c677113e5d4c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88da9415c54868" /><Relationship Type="http://schemas.openxmlformats.org/officeDocument/2006/relationships/notesMaster" Target="/ppt/notesMasters/notesMaster1.xml" Id="Rb6955829847746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eda30e64ce4f16" /><Relationship Type="http://schemas.openxmlformats.org/officeDocument/2006/relationships/notesMaster" Target="/ppt/notesMasters/notesMaster1.xml" Id="R8e698300f54d46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a134ac56d74333" /><Relationship Type="http://schemas.openxmlformats.org/officeDocument/2006/relationships/notesMaster" Target="/ppt/notesMasters/notesMaster1.xml" Id="R79877810e94a44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e0f341b78b043f2" /><Relationship Type="http://schemas.openxmlformats.org/officeDocument/2006/relationships/notesMaster" Target="/ppt/notesMasters/notesMaster1.xml" Id="Rb0a28a008c0b47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6a99b49a17e4790" /><Relationship Type="http://schemas.openxmlformats.org/officeDocument/2006/relationships/notesMaster" Target="/ppt/notesMasters/notesMaster1.xml" Id="R8862c8e9de8646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d80b430fcf400b" /><Relationship Type="http://schemas.openxmlformats.org/officeDocument/2006/relationships/notesMaster" Target="/ppt/notesMasters/notesMaster1.xml" Id="R4a9670adf96249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la izquierda comparo exactamente los mismos 133 reportes. La exactitud conjunta exige acertar severidad y todos los tipos: TF-IDF con SGD obtuvo 0.2331, el piloto Gemma con LoRA 0.1955 y Qwen con prompting 0.1053. El piloto LoRA usó 625 ejemplos y 80 pasos. No representa el potencial de todos los LLM. A la derecha comparo recetas clásicas y BETO en desarrollo completo. En severidad, la referencia clásica temprana dio 0.4974 y BETO focal 0.5429 de macro-F1. Hubo ensambles clásicos posteriores de 0.5047 y 0.5215. En tipos, el SVM de caracteres dio 0.7642 de macro-F1 y 0.8449 de micro-F1; BETO con umbral fijo 0.45 dio 0.8198 y 0.8685. Son recetas distintas, no una ablación aislada de arquitectura. No mezclo ambas escalas porque cambian los datos y la métrica. La conclusión práctica fue conservar referencias clásicas y profundizar en encoders especializados.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tenía 616 de 13,630 ejemplos, apenas 4.52%. Elegimos aumentar solo esa clase en entrenamiento. El método destacado no utiliza un LLM: combina plantillas de apertura, acciones, contexto y cierre con estilo de reporte institucional. Los indicios del original, como relación, horario o referencias a amenazas, condicionan parte de las elecciones. La semilla es estable por registro y generamos como máximo dos variantes por origen. Retenemos los originales y heredamos sus etiquetas. Añadimos 516 textos: ahora Severe tiene 1,132 de 14,146, es decir, 8%. Reducimos el desequilibrio, sin igualar las cuatro clases. Las plantillas pueden introducir hechos, por lo que estos textos no deben presentarse como paráfrasis verificadas. El proyecto también exploró sinónimos y variantes de Mild; la gráfica siguiente corresponde específicamente a las plantillas Severe.</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Para que se vea el efecto, la gráfica muestra cambios absolutos multiplicados por cien y conserva el cero: 0.71 puntos de macro-F1, 1.57 de F1 Severe y menos 2.60 de recall Severe. Al lado están los valores originales en escala cero a uno. El conjunto de desarrollo contiene los mismos 3,405 reportes, sin aumentación. La mejora en F1 no implica recuperar más casos Severe: el recall bajó. Además, al aumentar datos cambiaron las proporciones y los pesos de clase recalculados. No podemos adjudicar el resultado exclusivamente al estilo de las plantillas. Faltan un control de sobremuestreo equivalente, pesos controlados, varias semillas y una auditoría de etiquetas. Esta es evidencia de una receta concreta, no una garantía de mejora general.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Añadí este análisis después del envío del paper. Las etiquetas suaves de tipos toman valores cero, un tercio, dos tercios y uno: conservan la fracción de tres votos positivos. En desarrollo, 877 de 1,212 reportes, 72.36%, tienen al menos uno de los seis tipos con voto dividido. Psicológica registra 33% de decisiones divididas y sexual 6.44%, siempre sobre todos los reportes. Las prevalencias influyen, así que esta comparación no mide directamente la dificultad de cada categoría. La varianza dentro de una decisión binaria es p por uno menos p: cero en unanimidad y dos novenos en división. No tenemos identidades para comparar trabajadores, ni votos de severidad, y la fuente consultada solo identifica anotadores humanos. Encontramos además 24 discrepancias entre mayoría suave y etiqueta dura en desarrollo, cuya causa no conocemos. Esta evidencia invita a evaluar por consenso. La cabeza auxiliar S1 sí aprovechó etiquetas suaves, pero el componente S2 final usó duras; los experimentos S2 con suaves fueron posteriores al envío.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https://github.com/mariron42/clasificador_violencia/blob/92aa2ad0a8568dc729da674bcc81040d01f64fa4/scripts/materialize_hailmary_s1_foldbag_router_20260507.py; https://github.com/mariron42/clasificador_violencia/blob/92aa2ad0a8568dc729da674bcc81040d01f64fa4/docs/method.md.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El sistema completo obtuvo 0.60798 de macro-F1 en severidad, tercer lugar de dieciséis equipos. Para tipos obtuvo 0.87016 de micro-F1, sexto de quince. La mejora final sobre el ancla fue pequeña: de 0.60678 a 0.60798, alrededor de 0.00120. La salida de tipos permaneció exactamente igual. Separar esta mejora de la aumentación evita atribuirle al último ajuste toda la historia del proyecto. Los resultados oficiales orientaron la selección, por lo que el test no fue una evaluación final completamente independiente. Estos son resultados de benchmark, no validación en atención social ni evidencia de transferencia entre instituciones.</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c7cd0993f441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d90f3ea2a6643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fc2ea6ae2134b4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3ba18439744e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5016f915b44dc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2feefbf038d4ec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8786b9d39c2460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9d1698752714a6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7555ffe2ef74a98" /><Relationship Type="http://schemas.openxmlformats.org/officeDocument/2006/relationships/image" Target="/ppt/media/image.png" Id="R2f93b3d1484a49d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34e140e31c648c9" /><Relationship Type="http://schemas.openxmlformats.org/officeDocument/2006/relationships/image" Target="/ppt/media/image2.png" Id="R0392a8b8ccc84046"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2f93b3d1484a49db">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0392a8b8ccc84046">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246e8542a54626" /><Relationship Type="http://schemas.openxmlformats.org/officeDocument/2006/relationships/slideLayout" Target="/ppt/slideLayouts/slideLayout1.xml" Id="R702f35555e5c4690" /><Relationship Type="http://schemas.openxmlformats.org/officeDocument/2006/relationships/slideLayout" Target="/ppt/slideLayouts/slideLayout2.xml" Id="Rf8abf6a7844b43a9" /><Relationship Type="http://schemas.openxmlformats.org/officeDocument/2006/relationships/slideLayout" Target="/ppt/slideLayouts/slideLayout3.xml" Id="R396ef5b82689451a" /><Relationship Type="http://schemas.openxmlformats.org/officeDocument/2006/relationships/slideLayout" Target="/ppt/slideLayouts/slideLayout4.xml" Id="Rce6496c6be484c6e" /><Relationship Type="http://schemas.openxmlformats.org/officeDocument/2006/relationships/slideLayout" Target="/ppt/slideLayouts/slideLayout5.xml" Id="R4b6fa21d1903424b" /><Relationship Type="http://schemas.openxmlformats.org/officeDocument/2006/relationships/slideLayout" Target="/ppt/slideLayouts/slideLayout6.xml" Id="R79b0cb6279d74b39" /><Relationship Type="http://schemas.openxmlformats.org/officeDocument/2006/relationships/slideLayout" Target="/ppt/slideLayouts/slideLayout7.xml" Id="Rbabecd02736c49d3" /><Relationship Type="http://schemas.openxmlformats.org/officeDocument/2006/relationships/slideLayout" Target="/ppt/slideLayouts/slideLayout8.xml" Id="Rac0ba782d91446b3" /><Relationship Type="http://schemas.openxmlformats.org/officeDocument/2006/relationships/slideLayout" Target="/ppt/slideLayouts/slideLayout9.xml" Id="R9f58d4e759df4db3" /><Relationship Type="http://schemas.openxmlformats.org/officeDocument/2006/relationships/slideLayout" Target="/ppt/slideLayouts/slideLayout10.xml" Id="Re53aedc800f74f6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2f35555e5c4690"/>
    <p:sldLayoutId xmlns:r="http://schemas.openxmlformats.org/officeDocument/2006/relationships" id="2147483650" r:id="Rf8abf6a7844b43a9"/>
    <p:sldLayoutId xmlns:r="http://schemas.openxmlformats.org/officeDocument/2006/relationships" id="2147483651" r:id="R396ef5b82689451a"/>
    <p:sldLayoutId xmlns:r="http://schemas.openxmlformats.org/officeDocument/2006/relationships" id="2147483652" r:id="Rce6496c6be484c6e"/>
    <p:sldLayoutId xmlns:r="http://schemas.openxmlformats.org/officeDocument/2006/relationships" id="2147483653" r:id="R4b6fa21d1903424b"/>
    <p:sldLayoutId xmlns:r="http://schemas.openxmlformats.org/officeDocument/2006/relationships" id="2147483654" r:id="R79b0cb6279d74b39"/>
    <p:sldLayoutId xmlns:r="http://schemas.openxmlformats.org/officeDocument/2006/relationships" id="2147483655" r:id="Rbabecd02736c49d3"/>
    <p:sldLayoutId xmlns:r="http://schemas.openxmlformats.org/officeDocument/2006/relationships" id="2147483656" r:id="Rac0ba782d91446b3"/>
    <p:sldLayoutId xmlns:r="http://schemas.openxmlformats.org/officeDocument/2006/relationships" id="2147483657" r:id="R9f58d4e759df4db3"/>
    <p:sldLayoutId xmlns:r="http://schemas.openxmlformats.org/officeDocument/2006/relationships" id="2147483658" r:id="Re53aedc800f74f69"/>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89d4381fa4d4502" /><Relationship Type="http://schemas.openxmlformats.org/officeDocument/2006/relationships/image" Target="/ppt/media/image3.png" Id="Ra65896f3f906453b" /><Relationship Type="http://schemas.openxmlformats.org/officeDocument/2006/relationships/notesSlide" Target="/ppt/notesSlides/notesSlide1.xml" Id="Rd73e6f6f56d947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a5c230283dc4959" /><Relationship Type="http://schemas.openxmlformats.org/officeDocument/2006/relationships/notesSlide" Target="/ppt/notesSlides/notesSlide2.xml" Id="R7330882665984f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933445bce9496b" /><Relationship Type="http://schemas.openxmlformats.org/officeDocument/2006/relationships/chart" Target="/ppt/slides/charts/chart1.xml" Id="R0f31d0bfab034b0e" /><Relationship Type="http://schemas.openxmlformats.org/officeDocument/2006/relationships/notesSlide" Target="/ppt/notesSlides/notesSlide3.xml" Id="Rd5dbd334ddae47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cb88c01133a74020" /><Relationship Type="http://schemas.openxmlformats.org/officeDocument/2006/relationships/notesSlide" Target="/ppt/notesSlides/notesSlide4.xml" Id="R655535248ec943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9c9773eb61414d09" /><Relationship Type="http://schemas.openxmlformats.org/officeDocument/2006/relationships/chart" Target="/ppt/slides/charts/chart2.xml" Id="Rb4aeeda7d2f74225" /><Relationship Type="http://schemas.openxmlformats.org/officeDocument/2006/relationships/notesSlide" Target="/ppt/notesSlides/notesSlide5.xml" Id="R4099f322f6994d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e4b8e9ee4c4bb8" /><Relationship Type="http://schemas.openxmlformats.org/officeDocument/2006/relationships/chart" Target="/ppt/slides/charts/chart3.xml" Id="R9e10ff84e5564cdf" /><Relationship Type="http://schemas.openxmlformats.org/officeDocument/2006/relationships/notesSlide" Target="/ppt/notesSlides/notesSlide6.xml" Id="Rcaaca4b4804246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e135c38f7b140e3" /><Relationship Type="http://schemas.openxmlformats.org/officeDocument/2006/relationships/chart" Target="/ppt/slides/charts/chart4.xml" Id="Ra6afc48ea3d342ac" /><Relationship Type="http://schemas.openxmlformats.org/officeDocument/2006/relationships/notesSlide" Target="/ppt/notesSlides/notesSlide7.xml" Id="Re57e9c576b8745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d1912c1e872c4721" /><Relationship Type="http://schemas.openxmlformats.org/officeDocument/2006/relationships/notesSlide" Target="/ppt/notesSlides/notesSlide8.xml" Id="R2362b53845cb4b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bd9cd0cff0254443" /><Relationship Type="http://schemas.openxmlformats.org/officeDocument/2006/relationships/notesSlide" Target="/ppt/notesSlides/notesSlide9.xml" Id="Ra01112bce9424b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dfe84ca266d49cc" /><Relationship Type="http://schemas.openxmlformats.org/officeDocument/2006/relationships/image" Target="/ppt/media/image3.png" Id="R0b0a611493cb478a" /><Relationship Type="http://schemas.openxmlformats.org/officeDocument/2006/relationships/notesSlide" Target="/ppt/notesSlides/notesSlide10.xml" Id="Ra27396f666054b6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Antes</c:v>
                </c:pt>
                <c:pt idx="1">
                  <c:v>Después</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F1 Severe</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Recall Severe</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Económica</c:v>
                </c:pt>
                <c:pt idx="1">
                  <c:v>Física</c:v>
                </c:pt>
                <c:pt idx="2">
                  <c:v>Patrimonial</c:v>
                </c:pt>
                <c:pt idx="3">
                  <c:v>Psicológica</c:v>
                </c:pt>
                <c:pt idx="4">
                  <c:v>Sexual</c:v>
                </c:pt>
                <c:pt idx="5">
                  <c:v>Vicaria</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a65896f3f906453b"/>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1E5E12F-1427-49E6-A852-C423562BFC92}"/>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Clasificación de reportes</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de violencia</a:t>
            </a:r>
          </a:p>
        </p:txBody>
      </p:sp>
      <p:sp>
        <p:nvSpPr>
          <p:cNvPr id="8" name="">
            <a:extLst xmlns:a="http://schemas.openxmlformats.org/drawingml/2006/main">
              <a:ext uri="{FF2B5EF4-FFF2-40B4-BE49-F238E27FC236}">
                <a16:creationId xmlns:a16="http://schemas.microsoft.com/office/drawing/2014/main" id="{0BB2B7A0-D753-4FFE-8515-2759EBE90844}"/>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048378B6-5BA7-4EF9-B5DB-88831B1FF06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8C4C4857-9F3F-45B8-85E8-70313CC594E4}"/>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Elección de modelos, aumentación de Severe</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y decisiones finales alrededor de un ancla</a:t>
            </a:r>
          </a:p>
        </p:txBody>
      </p:sp>
      <p:sp>
        <p:nvSpPr>
          <p:cNvPr id="11" name="">
            <a:extLst xmlns:a="http://schemas.openxmlformats.org/drawingml/2006/main">
              <a:ext uri="{FF2B5EF4-FFF2-40B4-BE49-F238E27FC236}">
                <a16:creationId xmlns:a16="http://schemas.microsoft.com/office/drawing/2014/main" id="{20B45875-8BC9-4711-8190-2A7D0A6F3916}"/>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8562F1A-CE05-4897-99E3-47E5C7DDBA8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Tres familias, tres formas de clasificar</a:t>
            </a:r>
          </a:p>
        </p:txBody>
      </p:sp>
      <p:sp>
        <p:nvSpPr>
          <p:cNvPr id="2" name="">
            <a:extLst xmlns:a="http://schemas.openxmlformats.org/drawingml/2006/main">
              <a:ext uri="{FF2B5EF4-FFF2-40B4-BE49-F238E27FC236}">
                <a16:creationId xmlns:a16="http://schemas.microsoft.com/office/drawing/2014/main" id="{BBEB5C56-DB3C-4B81-AE3A-249A15AE244A}"/>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53C6EC7C-74D7-4539-B380-2F2FBCAA597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F3C30724-5691-4487-B883-46E10E3EC660}"/>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Clásicos</a:t>
            </a:r>
          </a:p>
        </p:txBody>
      </p:sp>
      <p:sp>
        <p:nvSpPr>
          <p:cNvPr id="5" name="">
            <a:extLst xmlns:a="http://schemas.openxmlformats.org/drawingml/2006/main">
              <a:ext uri="{FF2B5EF4-FFF2-40B4-BE49-F238E27FC236}">
                <a16:creationId xmlns:a16="http://schemas.microsoft.com/office/drawing/2014/main" id="{4B041295-8086-4B3E-9081-AC8F313F8F89}"/>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44DAEA2D-1757-4869-B47E-29FA5348825D}"/>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Palabras + caracteres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Vector TF-IDF</a:t>
            </a:r>
          </a:p>
        </p:txBody>
      </p:sp>
      <p:sp>
        <p:nvSpPr>
          <p:cNvPr id="7" name="">
            <a:extLst xmlns:a="http://schemas.openxmlformats.org/drawingml/2006/main">
              <a:ext uri="{FF2B5EF4-FFF2-40B4-BE49-F238E27FC236}">
                <a16:creationId xmlns:a16="http://schemas.microsoft.com/office/drawing/2014/main" id="{AB3BF2ED-C336-46CD-A1CF-71D92063DDDB}"/>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6EBC13B6-F1AE-48EA-9068-0220B83C7DC0}"/>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Clasificador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clase</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9629AFC5-EE5C-4091-8D25-488DB914D74C}"/>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LLM generativos</a:t>
            </a:r>
          </a:p>
        </p:txBody>
      </p:sp>
      <p:sp>
        <p:nvSpPr>
          <p:cNvPr id="11" name="">
            <a:extLst xmlns:a="http://schemas.openxmlformats.org/drawingml/2006/main">
              <a:ext uri="{FF2B5EF4-FFF2-40B4-BE49-F238E27FC236}">
                <a16:creationId xmlns:a16="http://schemas.microsoft.com/office/drawing/2014/main" id="{2DF93EA2-C3E2-4978-BD50-22A2461E7B12}"/>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109AA1A0-7BF3-4517-A9E2-4552411C90A3}"/>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Instrucción + reporte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1552D046-9D20-4E07-8882-B4E619726A22}"/>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D48B8C51-F4EE-499C-B7A3-DCEACCD274A3}"/>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Generación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Respuesta JSON</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8C8D126D-4E97-49D6-968C-2C1B4C293073}"/>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Encoders Transformer</a:t>
            </a:r>
          </a:p>
        </p:txBody>
      </p:sp>
      <p:sp>
        <p:nvSpPr>
          <p:cNvPr id="17" name="">
            <a:extLst xmlns:a="http://schemas.openxmlformats.org/drawingml/2006/main">
              <a:ext uri="{FF2B5EF4-FFF2-40B4-BE49-F238E27FC236}">
                <a16:creationId xmlns:a16="http://schemas.microsoft.com/office/drawing/2014/main" id="{97A860BB-3CF9-49FE-99B9-B3EF8B6599E2}"/>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996139EF-0D2F-4256-AD1F-42E86CE01F5D}"/>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D7811413-2433-4AC9-8C84-5A410DEB3BBC}"/>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B4BF687B-0536-49BA-A48D-A526D9DDF90D}"/>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Cabezas supervisadas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etiqueta</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58C717C7-2F3B-40D3-9B96-0FC4D1A1B8E2}"/>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Los LLM también usan Transformers. Aquí distinguimos su uso generativo y discriminativo.</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A3F3163-2029-4E3E-83EC-B89505E361A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evidencia orientó la elección</a:t>
            </a:r>
          </a:p>
        </p:txBody>
      </p:sp>
      <p:sp>
        <p:nvSpPr>
          <p:cNvPr id="2" name="">
            <a:extLst xmlns:a="http://schemas.openxmlformats.org/drawingml/2006/main">
              <a:ext uri="{FF2B5EF4-FFF2-40B4-BE49-F238E27FC236}">
                <a16:creationId xmlns:a16="http://schemas.microsoft.com/office/drawing/2014/main" id="{E955AB3D-C741-4DA9-AAF5-32346A354CB8}"/>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EB47D1EE-D964-4189-96A2-A1DAED1F70A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5C06EB55-2BFB-452E-A905-9495B5C2E909}"/>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Pilotos sobre los mismos 133 reportes</a:t>
            </a:r>
          </a:p>
        </p:txBody>
      </p:sp>
      <p:sp>
        <p:nvSpPr>
          <p:cNvPr id="5" name="">
            <a:extLst xmlns:a="http://schemas.openxmlformats.org/drawingml/2006/main">
              <a:ext uri="{FF2B5EF4-FFF2-40B4-BE49-F238E27FC236}">
                <a16:creationId xmlns:a16="http://schemas.microsoft.com/office/drawing/2014/main" id="{1F715229-9663-41A0-B58D-3EE027D369A6}"/>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Exactitud conjunta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0f31d0bfab034b0e"/>
          </a:graphicData>
        </a:graphic>
      </p:graphicFrame>
      <p:sp>
        <p:nvSpPr>
          <p:cNvPr id="7" name="">
            <a:extLst xmlns:a="http://schemas.openxmlformats.org/drawingml/2006/main">
              <a:ext uri="{FF2B5EF4-FFF2-40B4-BE49-F238E27FC236}">
                <a16:creationId xmlns:a16="http://schemas.microsoft.com/office/drawing/2014/main" id="{43BBB556-A0DD-4431-BFF5-F8E13B7815B9}"/>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625 ejemplos, 80 pasos.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Resultados acotados a estos pilotos.</a:t>
            </a:r>
          </a:p>
        </p:txBody>
      </p:sp>
      <p:sp>
        <p:nvSpPr>
          <p:cNvPr id="8" name="">
            <a:extLst xmlns:a="http://schemas.openxmlformats.org/drawingml/2006/main">
              <a:ext uri="{FF2B5EF4-FFF2-40B4-BE49-F238E27FC236}">
                <a16:creationId xmlns:a16="http://schemas.microsoft.com/office/drawing/2014/main" id="{2FC3A7BA-5D63-4B76-8F3D-4BC9CF784452}"/>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Clásicos frente a BETO</a:t>
            </a:r>
          </a:p>
        </p:txBody>
      </p:sp>
      <p:sp>
        <p:nvSpPr>
          <p:cNvPr id="9" name="">
            <a:extLst xmlns:a="http://schemas.openxmlformats.org/drawingml/2006/main">
              <a:ext uri="{FF2B5EF4-FFF2-40B4-BE49-F238E27FC236}">
                <a16:creationId xmlns:a16="http://schemas.microsoft.com/office/drawing/2014/main" id="{79E16C0F-E192-462B-AB94-5C6CFD20836E}"/>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Desarrollo completo · Recetas distintas</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Clásico</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9D275A66-55D2-406C-9BC5-A43A11DAD8B7}"/>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referencia clásica temprana.</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SVM caracteres / BETO umbral 0.45.</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Los paneles usan métricas distintas.</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B5C9551-AEB1-403A-8933-54CAB3C7BBC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problema determina las salidas</a:t>
            </a:r>
          </a:p>
        </p:txBody>
      </p:sp>
      <p:sp>
        <p:nvSpPr>
          <p:cNvPr id="2" name="">
            <a:extLst xmlns:a="http://schemas.openxmlformats.org/drawingml/2006/main">
              <a:ext uri="{FF2B5EF4-FFF2-40B4-BE49-F238E27FC236}">
                <a16:creationId xmlns:a16="http://schemas.microsoft.com/office/drawing/2014/main" id="{58B66D21-068C-444A-A7DB-EB11BB39DF4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2EF51BA8-3AF9-49AE-AF49-9B7E293D44A5}"/>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4ACB243F-A068-4020-A997-9974A4E8BA84}"/>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Receta BETO aumentada (augrep08)</a:t>
            </a:r>
          </a:p>
        </p:txBody>
      </p:sp>
      <p:sp>
        <p:nvSpPr>
          <p:cNvPr id="5" name="">
            <a:extLst xmlns:a="http://schemas.openxmlformats.org/drawingml/2006/main">
              <a:ext uri="{FF2B5EF4-FFF2-40B4-BE49-F238E27FC236}">
                <a16:creationId xmlns:a16="http://schemas.microsoft.com/office/drawing/2014/main" id="{CC237517-F159-43E0-B9F1-748DAA4F93AB}"/>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82ECD458-5569-4008-BB3C-75A1EED34852}"/>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3ED25D65-E63F-483B-BB24-1905BF5789FC}"/>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7F4E9A58-2186-4B95-965D-DE9922C32160}"/>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97850ABC-51FB-43D8-A979-7F71BD398E2A}"/>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C8AD0780-E4A9-421D-A167-8CF951CE7DF0}"/>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DD121F6B-12D0-4E9B-8FE9-40CB2D5673F9}"/>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F8B4BFB7-3B05-493C-94F1-E46423338560}"/>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 auxiliar de 7 tipos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Etiquetas suaves donde existen</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500D180E-7BA1-4DD7-99E2-FBFE507DBDCB}"/>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Focal ponderada + distancia ordinal (0.05)</a:t>
            </a:r>
          </a:p>
        </p:txBody>
      </p:sp>
      <p:sp>
        <p:nvSpPr>
          <p:cNvPr id="17" name="">
            <a:extLst xmlns:a="http://schemas.openxmlformats.org/drawingml/2006/main">
              <a:ext uri="{FF2B5EF4-FFF2-40B4-BE49-F238E27FC236}">
                <a16:creationId xmlns:a16="http://schemas.microsoft.com/office/drawing/2014/main" id="{299C4A18-C220-4F93-A62E-7BBC6378D007}"/>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BCE enmascarada · Peso 0.3 · Incluye N/A</a:t>
            </a:r>
          </a:p>
        </p:txBody>
      </p:sp>
      <p:sp>
        <p:nvSpPr>
          <p:cNvPr id="18" name="">
            <a:extLst xmlns:a="http://schemas.openxmlformats.org/drawingml/2006/main">
              <a:ext uri="{FF2B5EF4-FFF2-40B4-BE49-F238E27FC236}">
                <a16:creationId xmlns:a16="http://schemas.microsoft.com/office/drawing/2014/main" id="{1BC46B2D-5E5A-4AF3-90A0-95B451D37004}"/>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Espacios normalizados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Tokenización y truncamiento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por lote</a:t>
            </a:r>
          </a:p>
        </p:txBody>
      </p:sp>
      <p:sp>
        <p:nvSpPr>
          <p:cNvPr id="19" name="">
            <a:extLst xmlns:a="http://schemas.openxmlformats.org/drawingml/2006/main">
              <a:ext uri="{FF2B5EF4-FFF2-40B4-BE49-F238E27FC236}">
                <a16:creationId xmlns:a16="http://schemas.microsoft.com/office/drawing/2014/main" id="{0F8D9853-3363-47BA-9601-D0E3C58177F7}"/>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Componente final independiente</a:t>
            </a:r>
          </a:p>
        </p:txBody>
      </p:sp>
      <p:sp>
        <p:nvSpPr>
          <p:cNvPr id="20" name="">
            <a:extLst xmlns:a="http://schemas.openxmlformats.org/drawingml/2006/main">
              <a:ext uri="{FF2B5EF4-FFF2-40B4-BE49-F238E27FC236}">
                <a16:creationId xmlns:a16="http://schemas.microsoft.com/office/drawing/2014/main" id="{CBCA9DD2-D4FC-4E81-9D25-89C998083820}"/>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70A633DA-05A9-4C4B-B7C6-CB03BFF8C549}"/>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133E6911-3E49-407D-B306-95F31D257ECE}"/>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A31BE120-E49E-4A14-A257-9571CAAAF5EE}"/>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Umbral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67711F42-397C-47AD-A938-59215B1C3728}"/>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Económica, física, patrimonial,</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psicológica, sexual, vicaria</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si ninguna se activa</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5362A96-9433-4D1B-9DC6-B8BC3ACCA99D}"/>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Aumentación dirigida a Severe</a:t>
            </a:r>
          </a:p>
        </p:txBody>
      </p:sp>
      <p:sp>
        <p:nvSpPr>
          <p:cNvPr id="2" name="">
            <a:extLst xmlns:a="http://schemas.openxmlformats.org/drawingml/2006/main">
              <a:ext uri="{FF2B5EF4-FFF2-40B4-BE49-F238E27FC236}">
                <a16:creationId xmlns:a16="http://schemas.microsoft.com/office/drawing/2014/main" id="{887837E1-A131-4D91-918B-49699ECAB73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52E099B-164C-43B8-AAD9-24BDC05F1086}"/>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96CEE026-EDCD-46FF-AC30-AA74A0127DFC}"/>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entrenamiento · Originales conservados · Etiquetas heredadas</a:t>
            </a:r>
          </a:p>
        </p:txBody>
      </p:sp>
      <p:sp>
        <p:nvSpPr>
          <p:cNvPr id="5" name="">
            <a:extLst xmlns:a="http://schemas.openxmlformats.org/drawingml/2006/main">
              <a:ext uri="{FF2B5EF4-FFF2-40B4-BE49-F238E27FC236}">
                <a16:creationId xmlns:a16="http://schemas.microsoft.com/office/drawing/2014/main" id="{C90D3D27-FAAC-4C2D-8C95-64D4EA77A79E}"/>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7AB67108-62DA-463E-9049-A7C84247F83B}"/>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reportes</a:t>
            </a:r>
          </a:p>
        </p:txBody>
      </p:sp>
      <p:sp>
        <p:nvSpPr>
          <p:cNvPr id="7" name="">
            <a:extLst xmlns:a="http://schemas.openxmlformats.org/drawingml/2006/main">
              <a:ext uri="{FF2B5EF4-FFF2-40B4-BE49-F238E27FC236}">
                <a16:creationId xmlns:a16="http://schemas.microsoft.com/office/drawing/2014/main" id="{2C5C5023-29E8-4CBD-9036-0CEA438B29C2}"/>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BDFDBBCD-6297-4C89-9DF4-4CEC2A2B5941}"/>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Indicios del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Relación, horario, acciones</a:t>
            </a:r>
          </a:p>
        </p:txBody>
      </p:sp>
      <p:sp>
        <p:nvSpPr>
          <p:cNvPr id="9" name="">
            <a:extLst xmlns:a="http://schemas.openxmlformats.org/drawingml/2006/main">
              <a:ext uri="{FF2B5EF4-FFF2-40B4-BE49-F238E27FC236}">
                <a16:creationId xmlns:a16="http://schemas.microsoft.com/office/drawing/2014/main" id="{EF97B116-2A3D-4FEB-9418-5EDEC608F784}"/>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339DFB95-D3E0-46D5-845E-05FFEB49D405}"/>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Máximo 2 por origen</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4D0F95C9-A68E-4656-8B74-3EFCDF1788E9}"/>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Composición con plantillas de reporte</a:t>
            </a:r>
          </a:p>
        </p:txBody>
      </p:sp>
      <p:sp>
        <p:nvSpPr>
          <p:cNvPr id="14" name="">
            <a:extLst xmlns:a="http://schemas.openxmlformats.org/drawingml/2006/main">
              <a:ext uri="{FF2B5EF4-FFF2-40B4-BE49-F238E27FC236}">
                <a16:creationId xmlns:a16="http://schemas.microsoft.com/office/drawing/2014/main" id="{F96E330D-704E-4EAE-80F3-A0FA8E2AF53D}"/>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473B687F-0388-4E3A-98B1-114CF02C12CF}"/>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Apertura</a:t>
            </a:r>
          </a:p>
        </p:txBody>
      </p:sp>
      <p:sp>
        <p:nvSpPr>
          <p:cNvPr id="16" name="">
            <a:extLst xmlns:a="http://schemas.openxmlformats.org/drawingml/2006/main">
              <a:ext uri="{FF2B5EF4-FFF2-40B4-BE49-F238E27FC236}">
                <a16:creationId xmlns:a16="http://schemas.microsoft.com/office/drawing/2014/main" id="{761E3122-BA14-4B82-BACE-23AD5D637F03}"/>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09BF435C-1654-4A7A-9C6E-97DF161FEEFF}"/>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Acciones</a:t>
            </a:r>
          </a:p>
        </p:txBody>
      </p:sp>
      <p:sp>
        <p:nvSpPr>
          <p:cNvPr id="18" name="">
            <a:extLst xmlns:a="http://schemas.openxmlformats.org/drawingml/2006/main">
              <a:ext uri="{FF2B5EF4-FFF2-40B4-BE49-F238E27FC236}">
                <a16:creationId xmlns:a16="http://schemas.microsoft.com/office/drawing/2014/main" id="{0B38D7E8-06CB-4567-9DAA-E95E697606E7}"/>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10918F0C-E4A4-4AB7-B016-EB308E428EC4}"/>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Contexto</a:t>
            </a:r>
          </a:p>
        </p:txBody>
      </p:sp>
      <p:sp>
        <p:nvSpPr>
          <p:cNvPr id="20" name="">
            <a:extLst xmlns:a="http://schemas.openxmlformats.org/drawingml/2006/main">
              <a:ext uri="{FF2B5EF4-FFF2-40B4-BE49-F238E27FC236}">
                <a16:creationId xmlns:a16="http://schemas.microsoft.com/office/drawing/2014/main" id="{17B3DF76-7360-4445-921A-27202FEBB3BD}"/>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954E9120-F052-430C-81AA-7051E2415D24}"/>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Cierre</a:t>
            </a:r>
          </a:p>
        </p:txBody>
      </p:sp>
      <p:sp>
        <p:nvSpPr>
          <p:cNvPr id="22" name="">
            <a:extLst xmlns:a="http://schemas.openxmlformats.org/drawingml/2006/main">
              <a:ext uri="{FF2B5EF4-FFF2-40B4-BE49-F238E27FC236}">
                <a16:creationId xmlns:a16="http://schemas.microsoft.com/office/drawing/2014/main" id="{72AA7700-06F0-4776-A8F3-72D5A94B36F4}"/>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Semilla estable por registro.</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No se usó un LLM para estas variantes.</a:t>
            </a:r>
          </a:p>
          <a:p xmlns:a="http://schemas.openxmlformats.org/drawingml/2006/main">
            <a:r>
              <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Pueden introducir hechos: falta auditar</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la fidelidad de las etiquetas.</a:t>
            </a:r>
          </a:p>
        </p:txBody>
      </p:sp>
      <p:sp>
        <p:nvSpPr>
          <p:cNvPr id="23" name="">
            <a:extLst xmlns:a="http://schemas.openxmlformats.org/drawingml/2006/main">
              <a:ext uri="{FF2B5EF4-FFF2-40B4-BE49-F238E27FC236}">
                <a16:creationId xmlns:a16="http://schemas.microsoft.com/office/drawing/2014/main" id="{D2E43714-AD95-4148-BEA2-7E799EE9B975}"/>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Proporción de Severe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b4aeeda7d2f74225"/>
          </a:graphicData>
        </a:graphic>
      </p:graphicFrame>
      <p:sp>
        <p:nvSpPr>
          <p:cNvPr id="25" name="">
            <a:extLst xmlns:a="http://schemas.openxmlformats.org/drawingml/2006/main">
              <a:ext uri="{FF2B5EF4-FFF2-40B4-BE49-F238E27FC236}">
                <a16:creationId xmlns:a16="http://schemas.microsoft.com/office/drawing/2014/main" id="{3C7D7EF0-FE1C-4DBA-940C-C684BF570638}"/>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Balance parcial</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7CC6C35-7016-4497-9EAD-4D04568BB47E}"/>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mejora incluye un intercambio de errores</a:t>
            </a:r>
          </a:p>
        </p:txBody>
      </p:sp>
      <p:sp>
        <p:nvSpPr>
          <p:cNvPr id="2" name="">
            <a:extLst xmlns:a="http://schemas.openxmlformats.org/drawingml/2006/main">
              <a:ext uri="{FF2B5EF4-FFF2-40B4-BE49-F238E27FC236}">
                <a16:creationId xmlns:a16="http://schemas.microsoft.com/office/drawing/2014/main" id="{58C9B767-66A8-4364-B9DB-9A9C666C97B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12A335A-5554-4796-9E52-9F162049A7F2}"/>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E1EBF529-AD13-42B4-AEA3-2DC428AD7C47}"/>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Cambio absoluto × 100 · Cero = sin cambio</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9e10ff84e5564cdf"/>
          </a:graphicData>
        </a:graphic>
      </p:graphicFrame>
      <p:sp>
        <p:nvSpPr>
          <p:cNvPr id="6" name="">
            <a:extLst xmlns:a="http://schemas.openxmlformats.org/drawingml/2006/main">
              <a:ext uri="{FF2B5EF4-FFF2-40B4-BE49-F238E27FC236}">
                <a16:creationId xmlns:a16="http://schemas.microsoft.com/office/drawing/2014/main" id="{205D1359-621A-4853-88E8-DDBA69FF8A76}"/>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7DD3E63E-8FC8-4FB6-A584-388B6FBDFC6D}"/>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F1 Severe</a:t>
            </a:r>
          </a:p>
        </p:txBody>
      </p:sp>
      <p:sp>
        <p:nvSpPr>
          <p:cNvPr id="8" name="">
            <a:extLst xmlns:a="http://schemas.openxmlformats.org/drawingml/2006/main">
              <a:ext uri="{FF2B5EF4-FFF2-40B4-BE49-F238E27FC236}">
                <a16:creationId xmlns:a16="http://schemas.microsoft.com/office/drawing/2014/main" id="{8B548FF9-F261-4901-933C-B7A8F2B63206}"/>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Recall Severe</a:t>
            </a:r>
          </a:p>
        </p:txBody>
      </p:sp>
      <p:sp>
        <p:nvSpPr>
          <p:cNvPr id="9" name="">
            <a:extLst xmlns:a="http://schemas.openxmlformats.org/drawingml/2006/main">
              <a:ext uri="{FF2B5EF4-FFF2-40B4-BE49-F238E27FC236}">
                <a16:creationId xmlns:a16="http://schemas.microsoft.com/office/drawing/2014/main" id="{11E7809B-0DF1-4E6A-9014-B85FC8AA828E}"/>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Mismos 3,405 reportes de desarrollo.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Sin aumentación en evaluación.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F1 Severe</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A61A46F-2F6C-48DA-94AC-EEFCD8FEC0BE}"/>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mejora; recall baja</a:t>
            </a:r>
          </a:p>
        </p:txBody>
      </p:sp>
      <p:sp>
        <p:nvSpPr>
          <p:cNvPr id="12" name="">
            <a:extLst xmlns:a="http://schemas.openxmlformats.org/drawingml/2006/main">
              <a:ext uri="{FF2B5EF4-FFF2-40B4-BE49-F238E27FC236}">
                <a16:creationId xmlns:a16="http://schemas.microsoft.com/office/drawing/2014/main" id="{7CC944BB-C2A1-444F-92B8-17AD8FF9BF7A}"/>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Estilo, balance y pesos cambian juntos.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Falta aislar sus efectos.</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89E7DC-85C1-4729-B57D-51864A44964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desacuerdo permanece en las etiquetas</a:t>
            </a:r>
          </a:p>
        </p:txBody>
      </p:sp>
      <p:sp>
        <p:nvSpPr>
          <p:cNvPr id="2" name="">
            <a:extLst xmlns:a="http://schemas.openxmlformats.org/drawingml/2006/main">
              <a:ext uri="{FF2B5EF4-FFF2-40B4-BE49-F238E27FC236}">
                <a16:creationId xmlns:a16="http://schemas.microsoft.com/office/drawing/2014/main" id="{1CB26424-D10E-4B15-8608-6136EE6CE961}"/>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11039E79-9A86-464C-8CCF-C286B48CE946}"/>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DEC66AD2-DEA7-4BE0-B1C9-E5B797A06797}"/>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Análisis nuevo de etiquetas suaves S2 · Desarrollo: 1,212 reportes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a6afc48ea3d342ac"/>
          </a:graphicData>
        </a:graphic>
      </p:graphicFrame>
      <p:sp>
        <p:nvSpPr>
          <p:cNvPr id="6" name="">
            <a:extLst xmlns:a="http://schemas.openxmlformats.org/drawingml/2006/main">
              <a:ext uri="{FF2B5EF4-FFF2-40B4-BE49-F238E27FC236}">
                <a16:creationId xmlns:a16="http://schemas.microsoft.com/office/drawing/2014/main" id="{F82C11A5-C120-4072-AB9A-F0FA0F7D3028}"/>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Decisiones con voto dividido (%) · Denominador: todos los reportes</a:t>
            </a:r>
          </a:p>
        </p:txBody>
      </p:sp>
      <p:sp>
        <p:nvSpPr>
          <p:cNvPr id="7" name="">
            <a:extLst xmlns:a="http://schemas.openxmlformats.org/drawingml/2006/main">
              <a:ext uri="{FF2B5EF4-FFF2-40B4-BE49-F238E27FC236}">
                <a16:creationId xmlns:a16="http://schemas.microsoft.com/office/drawing/2014/main" id="{DB253E48-65A6-4D33-AE62-D3952F4D3AC0}"/>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D4284621-E93E-4D90-AA39-79E54A66E1E1}"/>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con al menos un tipo dividido</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de 1,212 reportes</a:t>
            </a:r>
          </a:p>
        </p:txBody>
      </p:sp>
      <p:sp>
        <p:nvSpPr>
          <p:cNvPr id="9" name="">
            <a:extLst xmlns:a="http://schemas.openxmlformats.org/drawingml/2006/main">
              <a:ext uri="{FF2B5EF4-FFF2-40B4-BE49-F238E27FC236}">
                <a16:creationId xmlns:a16="http://schemas.microsoft.com/office/drawing/2014/main" id="{504270E9-6D0E-43C3-98C3-286A235714FA}"/>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597F5053-95F0-4603-9632-1C92B1FFF25C}"/>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C92EA5ED-4F6A-45B6-B82A-23D68F343EC4}"/>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636CF9AB-29A2-4401-A5EF-D06AC476D7CA}"/>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6B601D45-8437-4D2B-A902-E1233B5E4A3C}"/>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Ejemplo de 3 votos.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Varianza interna: p(1−p) = 2/9.</a:t>
            </a:r>
          </a:p>
        </p:txBody>
      </p:sp>
      <p:sp>
        <p:nvSpPr>
          <p:cNvPr id="15" name="">
            <a:extLst xmlns:a="http://schemas.openxmlformats.org/drawingml/2006/main">
              <a:ext uri="{FF2B5EF4-FFF2-40B4-BE49-F238E27FC236}">
                <a16:creationId xmlns:a16="http://schemas.microsoft.com/office/drawing/2014/main" id="{A651AFCD-F05E-4AD9-833B-1B87096ADD0E}"/>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Sin identidades ni votos S1: no mide diferencias entre trabajadores. 24 discrepancias hard/soft en desarrollo.</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C43AF67-F569-4A72-9FC9-6AAA4D0D477D}"/>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ancla limita los cambios finales</a:t>
            </a:r>
          </a:p>
        </p:txBody>
      </p:sp>
      <p:sp>
        <p:nvSpPr>
          <p:cNvPr id="2" name="">
            <a:extLst xmlns:a="http://schemas.openxmlformats.org/drawingml/2006/main">
              <a:ext uri="{FF2B5EF4-FFF2-40B4-BE49-F238E27FC236}">
                <a16:creationId xmlns:a16="http://schemas.microsoft.com/office/drawing/2014/main" id="{A13AC3D9-E437-4E51-8789-0D90FA8650F9}"/>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C7385FD-E0AC-4AEA-A029-A44CFA1B8498}"/>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D7A28B17-192D-491C-8FE7-20382505B8A2}"/>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35E980A7-D90D-4572-8CBE-FD912EEAFCC4}"/>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Ancla Top10</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Mejor entrega previa</a:t>
            </a:r>
          </a:p>
        </p:txBody>
      </p:sp>
      <p:sp>
        <p:nvSpPr>
          <p:cNvPr id="6" name="">
            <a:extLst xmlns:a="http://schemas.openxmlformats.org/drawingml/2006/main">
              <a:ext uri="{FF2B5EF4-FFF2-40B4-BE49-F238E27FC236}">
                <a16:creationId xmlns:a16="http://schemas.microsoft.com/office/drawing/2014/main" id="{58C89FF0-1FBE-4075-BD11-748B54AB5492}"/>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1C6A9A38-104B-4F73-BAB4-D0B54D6538F4}"/>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Candidato foldbag</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F31B2579-5FBD-426D-AA40-70BFEB8BB0E3}"/>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9F47FF06-8C99-4DAE-894E-C693050570EC}"/>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transiciones permitidas</a:t>
            </a:r>
          </a:p>
        </p:txBody>
      </p:sp>
      <p:sp>
        <p:nvSpPr>
          <p:cNvPr id="10" name="">
            <a:extLst xmlns:a="http://schemas.openxmlformats.org/drawingml/2006/main">
              <a:ext uri="{FF2B5EF4-FFF2-40B4-BE49-F238E27FC236}">
                <a16:creationId xmlns:a16="http://schemas.microsoft.com/office/drawing/2014/main" id="{749579CE-0B37-4E06-950A-A9B9CE15AD90}"/>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7BB51AF8-92C0-4825-BB42-598A250ECACF}"/>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Conservar ancla</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FD4C6CEF-B141-45D3-96B4-2C88981A8F81}"/>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F0B7A19C-B66D-427B-9F57-3A12262CE45E}"/>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Aplicar cambio</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DD843A34-454E-4A36-9814-747D617AFB35}"/>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67995D65-7124-4C34-8B0E-5F625A8A2B49}"/>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Sí</a:t>
            </a:r>
          </a:p>
        </p:txBody>
      </p:sp>
      <p:sp>
        <p:nvSpPr>
          <p:cNvPr id="20" name="">
            <a:extLst xmlns:a="http://schemas.openxmlformats.org/drawingml/2006/main">
              <a:ext uri="{FF2B5EF4-FFF2-40B4-BE49-F238E27FC236}">
                <a16:creationId xmlns:a16="http://schemas.microsoft.com/office/drawing/2014/main" id="{5E500514-8741-46BE-B1A8-CCC418BF3512}"/>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37C8FA8B-2F57-4F09-9ED1-200688AFC41E}"/>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exige indicios léxicos severos. Recetas seleccionadas + regla de decisión final.</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7845B8-97E9-4A43-A849-7A8334CCDB59}"/>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Resultados del sistema completo</a:t>
            </a:r>
          </a:p>
        </p:txBody>
      </p:sp>
      <p:sp>
        <p:nvSpPr>
          <p:cNvPr id="2" name="">
            <a:extLst xmlns:a="http://schemas.openxmlformats.org/drawingml/2006/main">
              <a:ext uri="{FF2B5EF4-FFF2-40B4-BE49-F238E27FC236}">
                <a16:creationId xmlns:a16="http://schemas.microsoft.com/office/drawing/2014/main" id="{495EC2C6-01E1-4215-BA0B-BF67AE2B9C1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FF8A9C64-014B-4931-9494-C6A89F65268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8C8E8BD3-8A90-4C62-A979-AF42B9EA25ED}"/>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SEVERIDAD · MACRO-F1</a:t>
            </a:r>
          </a:p>
        </p:txBody>
      </p:sp>
      <p:sp>
        <p:nvSpPr>
          <p:cNvPr id="5" name="">
            <a:extLst xmlns:a="http://schemas.openxmlformats.org/drawingml/2006/main">
              <a:ext uri="{FF2B5EF4-FFF2-40B4-BE49-F238E27FC236}">
                <a16:creationId xmlns:a16="http://schemas.microsoft.com/office/drawing/2014/main" id="{1E0B9434-4B7A-486C-8D8A-F45A96BEB24A}"/>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CDCD36F7-4025-476D-B4CB-C2B65F0A0867}"/>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3.º / 16 equipos</a:t>
            </a:r>
          </a:p>
        </p:txBody>
      </p:sp>
      <p:sp>
        <p:nvSpPr>
          <p:cNvPr id="7" name="">
            <a:extLst xmlns:a="http://schemas.openxmlformats.org/drawingml/2006/main">
              <a:ext uri="{FF2B5EF4-FFF2-40B4-BE49-F238E27FC236}">
                <a16:creationId xmlns:a16="http://schemas.microsoft.com/office/drawing/2014/main" id="{CC1F57BD-0444-4E32-940B-8D84E1FC150F}"/>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Ancla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Cambio: +0.00120</a:t>
            </a:r>
          </a:p>
        </p:txBody>
      </p:sp>
      <p:sp>
        <p:nvSpPr>
          <p:cNvPr id="8" name="">
            <a:extLst xmlns:a="http://schemas.openxmlformats.org/drawingml/2006/main">
              <a:ext uri="{FF2B5EF4-FFF2-40B4-BE49-F238E27FC236}">
                <a16:creationId xmlns:a16="http://schemas.microsoft.com/office/drawing/2014/main" id="{4C440F2B-8791-496C-A477-859797D9A30D}"/>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TIPOS · MICRO-F1</a:t>
            </a:r>
          </a:p>
        </p:txBody>
      </p:sp>
      <p:sp>
        <p:nvSpPr>
          <p:cNvPr id="9" name="">
            <a:extLst xmlns:a="http://schemas.openxmlformats.org/drawingml/2006/main">
              <a:ext uri="{FF2B5EF4-FFF2-40B4-BE49-F238E27FC236}">
                <a16:creationId xmlns:a16="http://schemas.microsoft.com/office/drawing/2014/main" id="{6F802934-3104-4398-8A4C-16C1EF7217FB}"/>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067DFD25-3DD7-4E01-AE36-40424E5BFC38}"/>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6.º / 15 equipos</a:t>
            </a:r>
          </a:p>
        </p:txBody>
      </p:sp>
      <p:sp>
        <p:nvSpPr>
          <p:cNvPr id="11" name="">
            <a:extLst xmlns:a="http://schemas.openxmlformats.org/drawingml/2006/main">
              <a:ext uri="{FF2B5EF4-FFF2-40B4-BE49-F238E27FC236}">
                <a16:creationId xmlns:a16="http://schemas.microsoft.com/office/drawing/2014/main" id="{3EA5C1B4-AFB8-4A29-93C0-D3B585B55CAD}"/>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Predicciones S2</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sin cambios finales</a:t>
            </a:r>
          </a:p>
        </p:txBody>
      </p:sp>
      <p:sp>
        <p:nvSpPr>
          <p:cNvPr id="12" name="">
            <a:extLst xmlns:a="http://schemas.openxmlformats.org/drawingml/2006/main">
              <a:ext uri="{FF2B5EF4-FFF2-40B4-BE49-F238E27FC236}">
                <a16:creationId xmlns:a16="http://schemas.microsoft.com/office/drawing/2014/main" id="{8FAB629C-C75A-41CA-A49C-AB6A03C5D053}"/>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El test oficial orientó la selección. La transferencia entre instituciones sigue sin evaluarse.</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0b0a611493cb478a"/>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241002E-94B2-4382-BBAC-F225ADA00FF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Una estrategia que se puede</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poner a prueba en otros contextos</a:t>
            </a:r>
          </a:p>
        </p:txBody>
      </p:sp>
      <p:sp>
        <p:nvSpPr>
          <p:cNvPr id="9" name="">
            <a:extLst xmlns:a="http://schemas.openxmlformats.org/drawingml/2006/main">
              <a:ext uri="{FF2B5EF4-FFF2-40B4-BE49-F238E27FC236}">
                <a16:creationId xmlns:a16="http://schemas.microsoft.com/office/drawing/2014/main" id="{D53CE5F0-C687-4585-A641-4B02D1EA847C}"/>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98C2FC14-6562-4AE5-9F62-A6DD4AC2B29C}"/>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D18DA94C-0EE6-4672-A2A2-63A5E6544934}"/>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Comparar familias con el mismo protocolo</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Adaptar salidas y pérdidas a las etiquetas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Evaluar aumentación por clase y tipo de error</a:t>
            </a:r>
          </a:p>
        </p:txBody>
      </p:sp>
      <p:sp>
        <p:nvSpPr>
          <p:cNvPr id="12" name="">
            <a:extLst xmlns:a="http://schemas.openxmlformats.org/drawingml/2006/main">
              <a:ext uri="{FF2B5EF4-FFF2-40B4-BE49-F238E27FC236}">
                <a16:creationId xmlns:a16="http://schemas.microsoft.com/office/drawing/2014/main" id="{9C417AA2-4AA1-4DAC-89C2-4BC58990EA3E}"/>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Próximas pruebas</a:t>
            </a:r>
          </a:p>
        </p:txBody>
      </p:sp>
      <p:sp>
        <p:nvSpPr>
          <p:cNvPr id="13" name="">
            <a:extLst xmlns:a="http://schemas.openxmlformats.org/drawingml/2006/main">
              <a:ext uri="{FF2B5EF4-FFF2-40B4-BE49-F238E27FC236}">
                <a16:creationId xmlns:a16="http://schemas.microsoft.com/office/drawing/2014/main" id="{4D46D644-F99E-44A0-8ECA-BFC4BFC5BED9}"/>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Auditoría de variantes · Control de balance y pesos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Varias semillas · Validación por institución y consenso</a:t>
            </a:r>
          </a:p>
        </p:txBody>
      </p:sp>
      <p:sp>
        <p:nvSpPr>
          <p:cNvPr id="14" name="">
            <a:extLst xmlns:a="http://schemas.openxmlformats.org/drawingml/2006/main">
              <a:ext uri="{FF2B5EF4-FFF2-40B4-BE49-F238E27FC236}">
                <a16:creationId xmlns:a16="http://schemas.microsoft.com/office/drawing/2014/main" id="{B457ADAD-C37B-423B-B06B-1F1F5B7B88B1}"/>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Código y evidencia: github.com/mariron42/clasificador_violencia</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2026-09-21T20:25:07.6520000Z</dcterms:created>
  <dcterms:modified xsi:type="dcterms:W3CDTF">2026-09-21T20:25:07.6520000Z</dcterms:modified>
</coreProperties>
</file>