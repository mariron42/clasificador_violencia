
<file path=[Content_Types].xml><?xml version="1.0" encoding="utf-8"?>
<Types xmlns="http://schemas.openxmlformats.org/package/2006/content-types">
  <Default Extension="xml" ContentType="application/vnd.openxmlformats-package.core-properties+xml"/>
  <Default Extension="png" ContentType="image/png"/>
  <Default Extension="dat" ContentType="application/x-fontdata"/>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2.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3.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4.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7d37b32f06784078" /><Relationship Type="http://schemas.openxmlformats.org/officeDocument/2006/relationships/extended-properties" Target="/docProps/app.xml" Id="R8a43250c2c024622" /><Relationship Type="http://schemas.openxmlformats.org/officeDocument/2006/relationships/officeDocument" Target="/ppt/presentation.xml" Id="R5414578fc8f6478a"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542930f9629e411d"/>
  </p:sldMasterIdLst>
  <p:notesMasterIdLst>
    <p:notesMasterId xmlns:r="http://schemas.openxmlformats.org/officeDocument/2006/relationships" r:id="R7ad346a7d06340ae"/>
  </p:notesMasterIdLst>
  <p:sldIdLst>
    <p:sldId xmlns:r="http://schemas.openxmlformats.org/officeDocument/2006/relationships" id="256" r:id="R6464e168ee594110"/>
    <p:sldId xmlns:r="http://schemas.openxmlformats.org/officeDocument/2006/relationships" id="257" r:id="R329cfb490d7b41f2"/>
    <p:sldId xmlns:r="http://schemas.openxmlformats.org/officeDocument/2006/relationships" id="258" r:id="Rd5054ce182a645ed"/>
    <p:sldId xmlns:r="http://schemas.openxmlformats.org/officeDocument/2006/relationships" id="259" r:id="R55d85a16c3d4401b"/>
    <p:sldId xmlns:r="http://schemas.openxmlformats.org/officeDocument/2006/relationships" id="260" r:id="Rd5cae86ddf004891"/>
    <p:sldId xmlns:r="http://schemas.openxmlformats.org/officeDocument/2006/relationships" id="261" r:id="R3ce763bc0e6943a2"/>
    <p:sldId xmlns:r="http://schemas.openxmlformats.org/officeDocument/2006/relationships" id="262" r:id="Re9770df7af8e4b26"/>
    <p:sldId xmlns:r="http://schemas.openxmlformats.org/officeDocument/2006/relationships" id="263" r:id="R25e908649cb14eef"/>
    <p:sldId xmlns:r="http://schemas.openxmlformats.org/officeDocument/2006/relationships" id="264" r:id="R9879ad0cf7c34941"/>
    <p:sldId xmlns:r="http://schemas.openxmlformats.org/officeDocument/2006/relationships" id="265" r:id="R11d1989550e34ce1"/>
    <p:sldId xmlns:r="http://schemas.openxmlformats.org/officeDocument/2006/relationships" id="266" r:id="R5f78232ab0a54a8e"/>
  </p:sldIdLst>
  <p:sldSz cx="12192000" cy="6858000"/>
  <p:notesSz cx="6858000" cy="9144000"/>
  <p:embeddedFontLst>
    <p:embeddedFont>
      <p:font typeface="Inter"/>
      <p:regular xmlns:r="http://schemas.openxmlformats.org/officeDocument/2006/relationships" r:id="R22b437b263574c19"/>
      <p:bold xmlns:r="http://schemas.openxmlformats.org/officeDocument/2006/relationships" r:id="R73ed464faf36439f"/>
    </p:embeddedFont>
    <p:embeddedFont>
      <p:font typeface="Inter Medium"/>
      <p:regular xmlns:r="http://schemas.openxmlformats.org/officeDocument/2006/relationships" r:id="R1717ec08d0c64409"/>
    </p:embeddedFont>
    <p:embeddedFont>
      <p:font typeface="Inter SemiBold"/>
      <p:regular xmlns:r="http://schemas.openxmlformats.org/officeDocument/2006/relationships" r:id="Re0963d452a3c4cdf"/>
      <p:bold xmlns:r="http://schemas.openxmlformats.org/officeDocument/2006/relationships" r:id="R3f121bd08b0c456c"/>
    </p:embeddedFont>
    <p:embeddedFont>
      <p:font typeface="OpenAI Sans"/>
      <p:regular xmlns:r="http://schemas.openxmlformats.org/officeDocument/2006/relationships" r:id="Rb7d9ca27bda04c98"/>
      <p:bold xmlns:r="http://schemas.openxmlformats.org/officeDocument/2006/relationships" r:id="R0d4af925e2484dd5"/>
      <p:italic xmlns:r="http://schemas.openxmlformats.org/officeDocument/2006/relationships" r:id="R2162e80e22d747f1"/>
      <p:boldItalic xmlns:r="http://schemas.openxmlformats.org/officeDocument/2006/relationships" r:id="Rf7ee09c0f9974a1c"/>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d2eedf9a6d4c4153" /><Relationship Type="http://schemas.openxmlformats.org/officeDocument/2006/relationships/slideMaster" Target="/ppt/slideMasters/slideMaster1.xml" Id="R542930f9629e411d" /><Relationship Type="http://schemas.openxmlformats.org/officeDocument/2006/relationships/notesMaster" Target="/ppt/notesMasters/notesMaster1.xml" Id="R7ad346a7d06340ae" /><Relationship Type="http://schemas.openxmlformats.org/officeDocument/2006/relationships/presProps" Target="/ppt/presProps.xml" Id="R44ab0ba7aea74093" /><Relationship Type="http://schemas.openxmlformats.org/officeDocument/2006/relationships/viewProps" Target="/ppt/viewProps.xml" Id="Rf97f6ad0072c494c" /><Relationship Type="http://schemas.openxmlformats.org/officeDocument/2006/relationships/tableStyles" Target="/ppt/tableStyles.xml" Id="Rdaafb7cdd47a45e1" /><Relationship Type="http://schemas.openxmlformats.org/officeDocument/2006/relationships/font" Target="/ppt/fonts/font.dat" Id="R22b437b263574c19" /><Relationship Type="http://schemas.openxmlformats.org/officeDocument/2006/relationships/font" Target="/ppt/fonts/font2.dat" Id="R73ed464faf36439f" /><Relationship Type="http://schemas.openxmlformats.org/officeDocument/2006/relationships/font" Target="/ppt/fonts/font3.dat" Id="R1717ec08d0c64409" /><Relationship Type="http://schemas.openxmlformats.org/officeDocument/2006/relationships/font" Target="/ppt/fonts/font4.dat" Id="Re0963d452a3c4cdf" /><Relationship Type="http://schemas.openxmlformats.org/officeDocument/2006/relationships/font" Target="/ppt/fonts/font5.dat" Id="R3f121bd08b0c456c" /><Relationship Type="http://schemas.openxmlformats.org/officeDocument/2006/relationships/font" Target="/ppt/fonts/font6.dat" Id="Rb7d9ca27bda04c98" /><Relationship Type="http://schemas.openxmlformats.org/officeDocument/2006/relationships/font" Target="/ppt/fonts/font7.dat" Id="R0d4af925e2484dd5" /><Relationship Type="http://schemas.openxmlformats.org/officeDocument/2006/relationships/font" Target="/ppt/fonts/font8.dat" Id="R2162e80e22d747f1" /><Relationship Type="http://schemas.openxmlformats.org/officeDocument/2006/relationships/font" Target="/ppt/fonts/font9.dat" Id="Rf7ee09c0f9974a1c" /><Relationship Type="http://schemas.openxmlformats.org/officeDocument/2006/relationships/slide" Target="/ppt/slides/slide1.xml" Id="R6464e168ee594110" /><Relationship Type="http://schemas.openxmlformats.org/officeDocument/2006/relationships/slide" Target="/ppt/slides/slide2.xml" Id="R329cfb490d7b41f2" /><Relationship Type="http://schemas.openxmlformats.org/officeDocument/2006/relationships/slide" Target="/ppt/slides/slide3.xml" Id="Rd5054ce182a645ed" /><Relationship Type="http://schemas.openxmlformats.org/officeDocument/2006/relationships/slide" Target="/ppt/slides/slide4.xml" Id="R55d85a16c3d4401b" /><Relationship Type="http://schemas.openxmlformats.org/officeDocument/2006/relationships/slide" Target="/ppt/slides/slide5.xml" Id="Rd5cae86ddf004891" /><Relationship Type="http://schemas.openxmlformats.org/officeDocument/2006/relationships/slide" Target="/ppt/slides/slide6.xml" Id="R3ce763bc0e6943a2" /><Relationship Type="http://schemas.openxmlformats.org/officeDocument/2006/relationships/slide" Target="/ppt/slides/slide7.xml" Id="Re9770df7af8e4b26" /><Relationship Type="http://schemas.openxmlformats.org/officeDocument/2006/relationships/slide" Target="/ppt/slides/slide8.xml" Id="R25e908649cb14eef" /><Relationship Type="http://schemas.openxmlformats.org/officeDocument/2006/relationships/slide" Target="/ppt/slides/slide9.xml" Id="R9879ad0cf7c34941" /><Relationship Type="http://schemas.openxmlformats.org/officeDocument/2006/relationships/slide" Target="/ppt/slides/slide10.xml" Id="R11d1989550e34ce1" /><Relationship Type="http://schemas.openxmlformats.org/officeDocument/2006/relationships/slide" Target="/ppt/slides/slide11.xml" Id="R5f78232ab0a54a8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8af63d71b274fa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Default Codex Theme">
  <a:themeElements>
    <a:clrScheme name="Color Block Theme">
      <a:dk1>
        <a:srgbClr val="000000"/>
      </a:dk1>
      <a:lt1>
        <a:srgbClr val="FFFFFF"/>
      </a:lt1>
      <a:dk2>
        <a:srgbClr val="393939"/>
      </a:dk2>
      <a:lt2>
        <a:srgbClr val="F5F5F5"/>
      </a:lt2>
      <a:accent1>
        <a:srgbClr val="2ED978"/>
      </a:accent1>
      <a:accent2>
        <a:srgbClr val="9FB6FE"/>
      </a:accent2>
      <a:accent3>
        <a:srgbClr val="F3F161"/>
      </a:accent3>
      <a:accent4>
        <a:srgbClr val="FF5F27"/>
      </a:accent4>
      <a:accent5>
        <a:srgbClr val="5EC4FF"/>
      </a:accent5>
      <a:accent6>
        <a:srgbClr val="3C7DA3"/>
      </a:accent6>
      <a:hlink>
        <a:srgbClr val="FFA83A"/>
      </a:hlink>
      <a:folHlink>
        <a:srgbClr val="96607D"/>
      </a:folHlink>
    </a:clrScheme>
    <a:fontScheme name="Inter">
      <a:majorFont>
        <a:latin typeface="Inter"/>
        <a:ea typeface=""/>
        <a:cs typeface=""/>
      </a:majorFont>
      <a:minorFont>
        <a:latin typeface="Inter"/>
        <a:ea typeface=""/>
        <a:cs typeface=""/>
      </a:minorFont>
    </a:fontScheme>
    <a:fmtScheme name="Color Block Them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83bfb2e823a4d33" /><Relationship Type="http://schemas.openxmlformats.org/officeDocument/2006/relationships/notesMaster" Target="/ppt/notesMasters/notesMaster1.xml" Id="Rcaa868035b0a45ee" /></Relationships>
</file>

<file path=ppt/notesSlides/_rels/notesSlide2.xml.rels>&#65279;<?xml version="1.0" encoding="utf-8"?><Relationships xmlns="http://schemas.openxmlformats.org/package/2006/relationships"><Relationship Type="http://schemas.openxmlformats.org/officeDocument/2006/relationships/slide" Target="/ppt/slides/slide2.xml" Id="Reb7b4d63dbd54441" /><Relationship Type="http://schemas.openxmlformats.org/officeDocument/2006/relationships/notesMaster" Target="/ppt/notesMasters/notesMaster1.xml" Id="Rc0c68d7330e849b5" /></Relationships>
</file>

<file path=ppt/notesSlides/_rels/notesSlide3.xml.rels>&#65279;<?xml version="1.0" encoding="utf-8"?><Relationships xmlns="http://schemas.openxmlformats.org/package/2006/relationships"><Relationship Type="http://schemas.openxmlformats.org/officeDocument/2006/relationships/slide" Target="/ppt/slides/slide3.xml" Id="Rfe428a4900404d39" /><Relationship Type="http://schemas.openxmlformats.org/officeDocument/2006/relationships/notesMaster" Target="/ppt/notesMasters/notesMaster1.xml" Id="Raa79261d4a654311" /></Relationships>
</file>

<file path=ppt/notesSlides/_rels/notesSlide4.xml.rels>&#65279;<?xml version="1.0" encoding="utf-8"?><Relationships xmlns="http://schemas.openxmlformats.org/package/2006/relationships"><Relationship Type="http://schemas.openxmlformats.org/officeDocument/2006/relationships/slide" Target="/ppt/slides/slide4.xml" Id="Rbd639c9e53c0447e" /><Relationship Type="http://schemas.openxmlformats.org/officeDocument/2006/relationships/notesMaster" Target="/ppt/notesMasters/notesMaster1.xml" Id="Rfde1c678d3464651" /></Relationships>
</file>

<file path=ppt/notesSlides/_rels/notesSlide5.xml.rels>&#65279;<?xml version="1.0" encoding="utf-8"?><Relationships xmlns="http://schemas.openxmlformats.org/package/2006/relationships"><Relationship Type="http://schemas.openxmlformats.org/officeDocument/2006/relationships/slide" Target="/ppt/slides/slide5.xml" Id="Re1bba88ad3804aa1" /><Relationship Type="http://schemas.openxmlformats.org/officeDocument/2006/relationships/notesMaster" Target="/ppt/notesMasters/notesMaster1.xml" Id="R36c1358afc3d4dc8" /></Relationships>
</file>

<file path=ppt/notesSlides/_rels/notesSlide6.xml.rels>&#65279;<?xml version="1.0" encoding="utf-8"?><Relationships xmlns="http://schemas.openxmlformats.org/package/2006/relationships"><Relationship Type="http://schemas.openxmlformats.org/officeDocument/2006/relationships/slide" Target="/ppt/slides/slide6.xml" Id="Rff763a01581c4827" /><Relationship Type="http://schemas.openxmlformats.org/officeDocument/2006/relationships/notesMaster" Target="/ppt/notesMasters/notesMaster1.xml" Id="Rc5d84db93edb4dcd" /></Relationships>
</file>

<file path=ppt/notesSlides/_rels/notesSlide7.xml.rels>&#65279;<?xml version="1.0" encoding="utf-8"?><Relationships xmlns="http://schemas.openxmlformats.org/package/2006/relationships"><Relationship Type="http://schemas.openxmlformats.org/officeDocument/2006/relationships/slide" Target="/ppt/slides/slide7.xml" Id="Rf271b8c9b64f4470" /><Relationship Type="http://schemas.openxmlformats.org/officeDocument/2006/relationships/notesMaster" Target="/ppt/notesMasters/notesMaster1.xml" Id="Re2431a70a23f4c07" /></Relationships>
</file>

<file path=ppt/notesSlides/_rels/notesSlide8.xml.rels>&#65279;<?xml version="1.0" encoding="utf-8"?><Relationships xmlns="http://schemas.openxmlformats.org/package/2006/relationships"><Relationship Type="http://schemas.openxmlformats.org/officeDocument/2006/relationships/slide" Target="/ppt/slides/slide8.xml" Id="R32c9d2e4754e4ada" /><Relationship Type="http://schemas.openxmlformats.org/officeDocument/2006/relationships/notesMaster" Target="/ppt/notesMasters/notesMaster1.xml" Id="R8db4bf94cfcd45da" /></Relationships>
</file>

<file path=ppt/notesSlides/_rels/notesSlide9.xml.rels>&#65279;<?xml version="1.0" encoding="utf-8"?><Relationships xmlns="http://schemas.openxmlformats.org/package/2006/relationships"><Relationship Type="http://schemas.openxmlformats.org/officeDocument/2006/relationships/slide" Target="/ppt/slides/slide9.xml" Id="Rcfc6e624b20f4d46" /><Relationship Type="http://schemas.openxmlformats.org/officeDocument/2006/relationships/notesMaster" Target="/ppt/notesMasters/notesMaster1.xml" Id="Re5fc20416f19414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3a5f12970dc41e7" /><Relationship Type="http://schemas.openxmlformats.org/officeDocument/2006/relationships/notesMaster" Target="/ppt/notesMasters/notesMaster1.xml" Id="Ra8a4e62d5d69404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1206f81582542da" /><Relationship Type="http://schemas.openxmlformats.org/officeDocument/2006/relationships/notesMaster" Target="/ppt/notesMasters/notesMaster1.xml" Id="R294183b00afa421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0:00–0:30</a:t>
            </a:r>
            <a:endParaRPr/>
          </a:p>
          <a:p xmlns:a="http://schemas.openxmlformats.org/drawingml/2006/main">
            <a:r>
              <a:t/>
            </a:r>
            <a:endParaRPr/>
          </a:p>
          <a:p xmlns:a="http://schemas.openxmlformats.org/drawingml/2006/main">
            <a:r>
              <a:t>Good morning. I am Marcel Herrera Rendón from Universidad de Sonora. I will explain our strategy for classifying violence reports in WomenHelp. The central issue is how the problem guided our choice of models, outputs and training data. After finding useful recipes, we restricted final changes around a reference. Another session introduces the corpus, so I will focus on implementation.</a:t>
            </a:r>
            <a:endParaRPr/>
          </a:p>
          <a:p xmlns:a="http://schemas.openxmlformats.org/drawingml/2006/main">
            <a:r>
              <a:t/>
            </a:r>
            <a:endParaRPr/>
          </a:p>
          <a:p xmlns:a="http://schemas.openxmlformats.org/drawingml/2006/main">
            <a:r>
              <a:t>Source: https://github.com/mariron42/clasificador_violencia/blob/92aa2ad0a8568dc729da674bcc81040d01f64fa4/docs/method.md; https://github.com/mariron42/clasificador_violencia/blob/92aa2ad0a8568dc729da674bcc81040d01f64fa4/docs/results.md (corrected system-description paper).</a:t>
            </a:r>
            <a:endParaRPr/>
          </a:p>
          <a:p xmlns:a="http://schemas.openxmlformats.org/drawingml/2006/main">
            <a:r>
              <a:t/>
            </a:r>
            <a:endParaRPr/>
          </a:p>
          <a:p xmlns:a="http://schemas.openxmlformats.org/drawingml/2006/main">
            <a:r>
              <a:t>Technical backup for questions: Good morning. I am Marcel Herrera Rendón from Universidad de Sonora. I will explain our strategy for classifying violence reports in WomenHelp. The central issue is how the problem guided our choice of models, outputs and training data. After finding useful recipes, we restricted final changes around a reference. Another session introduces the corpus, so I will focus on implementation.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0:30–1:30</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We explored three families. Classical models turn words and characters into TF-IDF vectors and then classify. Generative LLMs receive instructions and produce structured answers; we tested prompting and LoRA adaptation. Transformer encoders such as BETO learn contextual representations that feed classification heads. LLMs also use Transformers: the distinction is their generative versus discriminative use. Classical methods provided strong references and diversity. Encoders gave us control over outputs. The generative route was excluded from the final system. This was a choice based on our experiments and resources, not a universal ranking of model families.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https://github.com/mariron42/clasificador_violencia/blob/92aa2ad0a8568dc729da674bcc81040d01f64fa4/docs/method.md, model families and implementation.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Technical backup for questions: We explored three families. Classical models turn words and characters into TF-IDF vectors and then classify. Generative LLMs receive instructions and produce structured answers; we tested prompting and LoRA adaptation. Transformer encoders such as BETO learn contextual representations that feed classification heads. LLMs also use Transformers: the distinction is their generative versus discriminative use. Classical methods provided strong references and diversity. Encoders gave us control over outputs. The generative route was excluded from the final system. This was a choice based on our experiments and resources, not a universal ranking of model families.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1:30–2:20</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We used two evaluations, identified on the slide. On the left, all systems share the same 133 reports: joint exact match was 0.2331 for TF-IDF with SGD, 0.1955 for Gemma LoRA and 0.1053 for Qwen prompting. The LoRA pilot used 625 examples and 80 steps. On the right, full-development results show BETO ahead of the early classical severity reference and the character SVM for types. We retained classical models as references and ensemble components, and pursued specialized encoders.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https://github.com/mariron42/clasificador_violencia/blob/92aa2ad0a8568dc729da674bcc81040d01f64fa4/docs/results.md, classical/encoder and common 133-record comparisons.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Technical backup for questions: On the left, all systems are evaluated on the same 133 reports. Joint exact match requires both severity and the complete set of types to be correct. TF-IDF with SGD reached 0.2331, the Gemma LoRA pilot 0.1955 and Qwen prompting 0.1053. The LoRA pilot used 625 training examples and 80 steps. It does not represent the full potential of LLMs. On the right we compare classical and BETO recipes on full development. For severity, the early classical reference reached 0.4974 and BETO focal 0.5429 macro-F1. Later classical ensembles reached 0.5047 and 0.5215. For types, character SVM reached 0.7642 macro-F1 and 0.8449 micro-F1; BETO with a fixed 0.45 threshold reached 0.8198 and 0.8685. These compare complete recipes, not an isolated architecture ablation. These panels have different datasets and metrics and must not be compared numerically. The practical conclusion was to keep classical references and investigate specialized encoders.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2:20–3:35</a:t>
            </a:r>
          </a:p>
          <a:p xmlns:a="http://schemas.openxmlformats.org/drawingml/2006/main">
            <a:r>
              <a:t/>
            </a:r>
          </a:p>
          <a:p xmlns:a="http://schemas.openxmlformats.org/drawingml/2006/main">
            <a:r>
              <a:t>Severity requires one ordered category: Mild, Medium, High or Severe. Violence types can co-occur: Economic, Physical, Property-related, Psychological, Sexual and Vicarious. The upper diagram shows the augmented BETO recipe. We normalize whitespace, tokenize and truncate at 512 tokens. Its main head uses softmax, weighted focal loss and an ordinal penalty of 0.05. An auxiliary head learns seven type labels, including N/A, using soft labels with weight 0.3 only where available. A mask prevents missing annotations from becoming negative labels. Final type predictions come from a separate BETO using up to 384 tokens, six sigmoid outputs and a 0.45 threshold. N/A is derived when none reaches the threshold. The implementation confirms six outputs, despite a general seven-output description in the paper. These choices adapt existing architectures to the task; we do not claim a new architecture.</a:t>
            </a:r>
          </a:p>
          <a:p xmlns:a="http://schemas.openxmlformats.org/drawingml/2006/main">
            <a:r>
              <a:t/>
            </a:r>
          </a:p>
          <a:p xmlns:a="http://schemas.openxmlformats.org/drawingml/2006/main">
            <a:r>
              <a:t>Source: https://github.com/mariron42/clasificador_violencia/blob/92aa2ad0a8568dc729da674bcc81040d01f64fa4/scripts/run_competitive_encoder_severity.py; https://github.com/mariron42/clasificador_violencia/blob/92aa2ad0a8568dc729da674bcc81040d01f64fa4/scripts/run_subtask2_encoder_20260429.py; https://github.com/mariron42/clasificador_violencia/blob/92aa2ad0a8568dc729da674bcc81040d01f64fa4/docs/method.md.</a:t>
            </a:r>
          </a:p>
          <a:p xmlns:a="http://schemas.openxmlformats.org/drawingml/2006/main">
            <a:r>
              <a:t/>
            </a:r>
          </a:p>
          <a:p xmlns:a="http://schemas.openxmlformats.org/drawingml/2006/main">
            <a:r>
              <a:t>Technical backup for questions: Severity requires one ordered category: Mild, Medium, High or Severe. Violence types can co-occur: Economic, Physical, Property-related, Psychological, Sexual and Vicarious. The upper diagram shows the augmented BETO recipe. We normalize whitespace, tokenize and truncate at 512 tokens. Its main head uses softmax, weighted focal loss and an ordinal penalty of 0.05. An auxiliary head learns seven type labels, including N/A, using soft labels with weight 0.3 only where available. A mask prevents missing annotations from becoming negative labels. Final type predictions come from a separate BETO using up to 384 tokens, six sigmoid outputs and a 0.45 threshold. N/A is derived when none reaches the threshold. The implementation confirms six outputs, despite a general seven-output description in the paper. These choices adapt existing architectures to the task; we do not claim a new architecture.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3:35–5:05</a:t>
            </a:r>
          </a:p>
          <a:p xmlns:a="http://schemas.openxmlformats.org/drawingml/2006/main">
            <a:r>
              <a:t/>
            </a:r>
          </a:p>
          <a:p xmlns:a="http://schemas.openxmlformats.org/drawingml/2006/main">
            <a:r>
              <a:t>Severe accounted for 616 of 13,630 training reports, or 4.52%. The selected augmentation composes report templates for openings, actions, context and closure. Source cues condition part of the composition. We use a stable seed, retain the originals and let variants inherit their labels. At most two variants per source added 516 texts. Severe then accounted for 1,132 of 14,146 records, or 8%. This partially rebalances the scarce class. Generation uses templates, and evaluation retains the original reports.</a:t>
            </a:r>
          </a:p>
          <a:p xmlns:a="http://schemas.openxmlformats.org/drawingml/2006/main">
            <a:r>
              <a:t/>
            </a:r>
          </a:p>
          <a:p xmlns:a="http://schemas.openxmlformats.org/drawingml/2006/main">
            <a:r>
              <a:t>Source: https://github.com/mariron42/clasificador_violencia/blob/92aa2ad0a8568dc729da674bcc81040d01f64fa4/src/womenhelp_competition/text_augmentation.py; https://github.com/mariron42/clasificador_violencia/blob/92aa2ad0a8568dc729da674bcc81040d01f64fa4/results/evidence.json.</a:t>
            </a:r>
          </a:p>
          <a:p xmlns:a="http://schemas.openxmlformats.org/drawingml/2006/main">
            <a:r>
              <a:t/>
            </a:r>
          </a:p>
          <a:p xmlns:a="http://schemas.openxmlformats.org/drawingml/2006/main">
            <a:r>
              <a:t>Technical backup for questions: Severe had 616 of 13,630 training examples, just 4.52%. We targeted augmentation at this class in training only. The highlighted method does not use an LLM: it combines institutional report templates for openings, actions, context and closure. Cues from the original report, such as relationship, time or threats, condition some choices. A stable seed and at most two variants per source make the process reproducible. We retain originals and inherit their labels. Adding 516 texts gives 1,132 Severe examples out of 14,146, or 8%. This reduces imbalance without equalizing the four classes. Templates may introduce facts, so these are not verified paraphrases. The project also explored synonyms and Mild variants; the following chart specifically evaluates Severe report templates.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5:05–6:15</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Both recipes use the same 3,405 development reports. The chart shows absolute differences multiplied by one hundred: macro-F1 rises by 0.71 points and Severe F1 by 1.57. Severe recall falls by 2.60 points. This is why we evaluate several metrics: the recipe improves F1 while recovering a smaller proportion of Severe cases. Class weights were recomputed on augmented training data. The comparison describes the observed result of the complete recipe. The backup slide shows what happened when this variant joined a later ensemble.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https://github.com/mariron42/clasificador_violencia/blob/92aa2ad0a8568dc729da674bcc81040d01f64fa4/results/evidence.json; https://github.com/mariron42/clasificador_violencia/blob/92aa2ad0a8568dc729da674bcc81040d01f64fa4/docs/results.md. Delta = 100*(augmented - baseline).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Technical backup for questions: To make the effect visible, the chart shows absolute changes multiplied by one hundred with a zero baseline: plus 0.71 macro-F1 points, plus 1.57 Severe F1 points and minus 2.60 Severe recall points. The original zero-to-one values appear alongside. Evaluation uses the same 3,405 development reports without augmentation. Higher F1 does not mean that more Severe cases were recovered: recall fell. Augmentation also changed class proportions and recomputed class weights. We cannot attribute the outcome solely to template style. Matched oversampling, controlled weights, repeated seeds and a label audit are still needed. This supports one specific recipe rather than guaranteeing general gains.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6:15–7:15</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This analysis was added after the paper and uses soft type labels. Each proportion summarizes three votes. In development, 877 of 1,212 reports, or 72.36%, have a split vote on at least one of the six types. The chart shows the proportion over all reports for each type. With two positive votes and one negative vote, p is two thirds and within-item variance is two ninths. Soft labels preserve consensus information that hard labels lose. The auxiliary head of the S1 recipe used that information where available.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https://github.com/mariron42/clasificador_violencia/blob/92aa2ad0a8568dc729da674bcc81040d01f64fa4/docs/annotation_consensus.md; https://github.com/mariron42/clasificador_violencia/blob/92aa2ad0a8568dc729da674bcc81040d01f64fa4/results/annotation_consensus.json; https://github.com/mariron42/clasificador_violencia/blob/92aa2ad0a8568dc729da674bcc81040d01f64fa4/scripts/analyze_annotations.py. New analysis after the paper.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Technical backup for questions: This is a new descriptive analysis conducted after the paper submission. Soft type labels take values zero, one third, two thirds and one, retaining the proportion of three positive votes. In development, 877 of 1,212 reports, or 72.36%, have a split vote on at least one of the six violence types. Psychological has split votes in 33% of decisions and Sexual in 6.44%, using all reports as the denominator. These rates depend on prevalence and do not directly measure difficulty. Within-decision binary vote variance is p times one minus p: zero for unanimity and two ninths for a split vote. We lack annotator identities and severity votes, and the source only identifies human annotators, not their profession. We also found 24 development decisions where majority thresholding the soft label differs from the hard label; the cause is unknown. This motivates evaluation by consensus. The S1 auxiliary head used soft labels, whereas final S2 used hard labels; S2 soft-label experiments followed the final submission.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7:15–8:30</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By the final stage we had useful recipes. We fixed the predictions from the best prior submission as an anchor rather than retraining the recipes for each last adjustment. The Top10 reference combined three BETO variants, three Electricidad variants, three classical components and one BERTin. An alternative candidate with five augmented BETO folds and five Electricidad folds proposes changes using ordinal thresholds. The router allows only Medium to Mild, Mild to Medium and High to Severe. The last transition additionally requires severe lexical cues. Otherwise the anchor is retained. Only 290 of 4,219 predictions changed: 177, 101 and 12 respectively. The remaining 93.13% stayed identical. This is a decision rule, not a claim that no additional models were trained. It retains the selected recipes and narrows the scope of the final modification.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https://github.com/mariron42/clasificador_violencia/blob/92aa2ad0a8568dc729da674bcc81040d01f64fa4/scripts/materialize_hailmary_s1_foldbag_router_20260507.py; https://github.com/mariron42/clasificador_violencia/blob/92aa2ad0a8568dc729da674bcc81040d01f64fa4/docs/method.md.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Technical backup for questions: By the final stage we had useful recipes. We fixed the predictions from the best prior submission as an anchor rather than retraining the recipes for each last adjustment. The Top10 reference combined three BETO variants, three Electricidad variants, three classical components and one BERTin. An alternative candidate with five augmented BETO folds and five Electricidad folds proposes changes using ordinal thresholds. The router allows only Medium to Mild, Mild to Medium and High to Severe. The last transition additionally requires severe lexical cues. Otherwise the anchor is retained. Only 290 of 4,219 predictions changed: 177, 101 and 12 respectively. The remaining 93.13% stayed identical. This is a decision rule, not a claim that no additional models were trained. It retains the selected recipes and narrows the scope of the final modification.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8:30–9:20</a:t>
            </a:r>
          </a:p>
          <a:p xmlns:a="http://schemas.openxmlformats.org/drawingml/2006/main">
            <a:r>
              <a:t/>
            </a:r>
          </a:p>
          <a:p xmlns:a="http://schemas.openxmlformats.org/drawingml/2006/main">
            <a:r>
              <a:t>The complete system reached 0.60798 severity macro-F1, third of sixteen teams, and 0.87016 type micro-F1, sixth of fifteen. The final adjustment moved severity from 0.60678 to 0.60798 while preserving type predictions. This is a small increment around selected recipes. Official scores informed submission selection, so we present these as benchmark results.</a:t>
            </a:r>
          </a:p>
          <a:p xmlns:a="http://schemas.openxmlformats.org/drawingml/2006/main">
            <a:r>
              <a:t/>
            </a:r>
          </a:p>
          <a:p xmlns:a="http://schemas.openxmlformats.org/drawingml/2006/main">
            <a:r>
              <a:t>Source: https://github.com/mariron42/clasificador_violencia/blob/92aa2ad0a8568dc729da674bcc81040d01f64fa4/docs/results.md; corrected paper, official results. https://www.codabench.org/competitions/14614/</a:t>
            </a:r>
          </a:p>
          <a:p xmlns:a="http://schemas.openxmlformats.org/drawingml/2006/main">
            <a:r>
              <a:t/>
            </a:r>
          </a:p>
          <a:p xmlns:a="http://schemas.openxmlformats.org/drawingml/2006/main">
            <a:r>
              <a:t>Technical backup for questions: The complete system reached 0.60798 severity macro-F1, ranking third of sixteen teams. For types it reached 0.87016 micro-F1, ranking sixth of fifteen. The final gain over the anchor was small: from 0.60678 to 0.60798, about 0.00120. Type predictions were exactly unchanged. Separating this gain from augmentation avoids attributing the whole project to the final adjustment. Official scores informed selection, so the test was not a completely independent final evaluation. These are benchmark results, not validation in social care or evidence of transfer across institutions.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9:20–10:00</a:t>
            </a:r>
            <a:endParaRPr/>
          </a:p>
          <a:p xmlns:a="http://schemas.openxmlformats.org/drawingml/2006/main">
            <a:r>
              <a:t/>
            </a:r>
            <a:endParaRPr/>
          </a:p>
          <a:p xmlns:a="http://schemas.openxmlformats.org/drawingml/2006/main">
            <a:r>
              <a:t>What may generalize is a testable strategy: compare model families under common protocols, align outputs and losses with label meaning, target scarce classes and measure all relevant errors. After selecting recipes, restricting changes around a reference controls how many decisions move. To test the strategy outside the competition, we propose auditing synthetic variants, controlling balance and weights, repeating seeds and evaluating by institution and annotation consensus. These are future tests. Cross-institution generalization has not yet been demonstrated. Thank you.</a:t>
            </a:r>
            <a:endParaRPr/>
          </a:p>
          <a:p xmlns:a="http://schemas.openxmlformats.org/drawingml/2006/main">
            <a:r>
              <a:t/>
            </a:r>
            <a:endParaRPr/>
          </a:p>
          <a:p xmlns:a="http://schemas.openxmlformats.org/drawingml/2006/main">
            <a:r>
              <a:t>Source: https://github.com/mariron42/clasificador_violencia/blob/92aa2ad0a8568dc729da674bcc81040d01f64fa4/docs/method.md, limitations and future validation.</a:t>
            </a:r>
            <a:endParaRPr/>
          </a:p>
          <a:p xmlns:a="http://schemas.openxmlformats.org/drawingml/2006/main">
            <a:r>
              <a:t/>
            </a:r>
            <a:endParaRPr/>
          </a:p>
          <a:p xmlns:a="http://schemas.openxmlformats.org/drawingml/2006/main">
            <a:r>
              <a:t>Technical backup for questions: What may generalize is a testable strategy: compare model families under common protocols, align outputs and losses with label meaning, target scarce classes and measure all relevant errors. After selecting recipes, restricting changes around a reference controls how many decisions move. To test the strategy outside the competition, we propose auditing synthetic variants, controlling balance and weights, repeating seeds and evaluating by institution and annotation consensus. These are future tests. Cross-institution generalization has not yet been demonstrated. Thank you.</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Respaldo / Q&amp;A: 45–60 s</a:t>
            </a:r>
          </a:p>
          <a:p xmlns:a="http://schemas.openxmlformats.org/drawingml/2006/main">
            <a:r>
              <a:t/>
            </a:r>
          </a:p>
          <a:p xmlns:a="http://schemas.openxmlformats.org/drawingml/2006/main">
            <a:r>
              <a:t>This comparison shows what happened when we combined the augmented model with other sources. On the same 3,405 original development reports, Severe recall was 39.61% for baseline BETO and 37.01% for augmented BETO. A later ensemble of ten sources, including that variant, reached 40.91% recall, 0.4737 Severe F1 and 0.5805 macro-F1. Among 154 Severe reports, these recalls correspond to 61 correct predictions for the baseline, 57 for augmented BETO and 63 for the ensemble. The individual component recall loss therefore did not persist in this ensemble. This is an intermediate development result from May 5, separate from the final official result.</a:t>
            </a:r>
          </a:p>
          <a:p xmlns:a="http://schemas.openxmlformats.org/drawingml/2006/main">
            <a:r>
              <a:t/>
            </a:r>
          </a:p>
          <a:p xmlns:a="http://schemas.openxmlformats.org/drawingml/2006/main">
            <a:r>
              <a:t>Source: https://github.com/mariron42/clasificador_violencia/blob/main/docs/augmentation_ensemble.md; https://github.com/mariron42/clasificador_violencia/blob/main/results/evidence.json. Archived source: reporte_s1_reproducible_sources_search_20260505.md.</a:t>
            </a:r>
          </a:p>
          <a:p xmlns:a="http://schemas.openxmlformats.org/drawingml/2006/main">
            <a:r>
              <a:t/>
            </a:r>
          </a:p>
          <a:p xmlns:a="http://schemas.openxmlformats.org/drawingml/2006/main">
            <a:r>
              <a:t>Technical backup for questions: Candidate repro_diverse10_dw0.50_equal_ordmix uses ten equally weighted sources and cumulative thresholds [0.50, 0.50, 0.50]. It includes augrep08, other BETO augmentation variants, Electricidad, XLM-R, mmBERT and mean_top3, which is already a combined source. The archived report documents reproduction of the search score during materialization. Selection used development data: this is not an ablation and does not isolate the contribution of augrep08. Correction to the earlier explanation: 41.56% recall referred to an earlier search candidate whose reconstruction did not reproduce its score. This slide uses the later verified candidate at 40.91%. This is not a claim about final-system recall.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2d6d217c76c44b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193012edd044e1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40c88fc3edb4a2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0bffc8551ae4f9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3262735362d495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2953b1e03b1457d"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32d876b606e448f9"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231adea175a74b1c"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bd4b6b4841ab42a1" /><Relationship Type="http://schemas.openxmlformats.org/officeDocument/2006/relationships/image" Target="/ppt/media/image.png" Id="Rf24863ef6af74b96"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59bbe84e111446c2" /><Relationship Type="http://schemas.openxmlformats.org/officeDocument/2006/relationships/image" Target="/ppt/media/image2.png" Id="Ra124da3986404391" /></Relationships>
</file>

<file path=ppt/slideLayouts/slideLayout1.xml><?xml version="1.0" encoding="utf-8"?>
<p:sldLayout xmlns:p="http://schemas.openxmlformats.org/presentationml/2006/main" preserve="1" userDrawn="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83004A5-B645-655E-5362-4217D55892E1}"/>
              </a:ext>
            </a:extLst>
          </p:cNvPr>
          <p:cNvSpPr>
            <a:spLocks xmlns:a="http://schemas.openxmlformats.org/drawingml/2006/main" noGrp="1"/>
          </p:cNvSpPr>
          <p:nvPr>
            <p:ph type="ctrTitle" idx="0"/>
          </p:nvPr>
        </p:nvSpPr>
        <p:spPr>
          <a:xfrm xmlns:a="http://schemas.openxmlformats.org/drawingml/2006/main">
            <a:off x="393700" y="1041400"/>
            <a:ext cx="7493000" cy="2491490"/>
          </a:xfrm>
        </p:spPr>
        <p:txBody>
          <a:bodyPr xmlns:a="http://schemas.openxmlformats.org/drawingml/2006/main" anchor="b"/>
          <a:lstStyle xmlns:a="http://schemas.openxmlformats.org/drawingml/2006/main">
            <a:lvl1pPr algn="l">
              <a:buNone/>
              <a:defRPr sz="6000" b="1" i="0">
                <a:solidFill>
                  <a:schemeClr val="accent1"/>
                </a:solidFill>
                <a:latin typeface="Inter SemiBold"/>
                <a:ea typeface="Inter SemiBold"/>
                <a:cs typeface="Inter SemiBold"/>
              </a:defRPr>
            </a:lvl1pPr>
          </a:lstStyle>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C57031B1-59B2-C235-9FDD-8050418A5FD8}"/>
              </a:ext>
            </a:extLst>
          </p:cNvPr>
          <p:cNvSpPr>
            <a:spLocks xmlns:a="http://schemas.openxmlformats.org/drawingml/2006/main" noGrp="1"/>
          </p:cNvSpPr>
          <p:nvPr>
            <p:ph type="subTitle" idx="1"/>
          </p:nvPr>
        </p:nvSpPr>
        <p:spPr>
          <a:xfrm xmlns:a="http://schemas.openxmlformats.org/drawingml/2006/main">
            <a:off x="393700" y="4356100"/>
            <a:ext cx="5537200" cy="1638300"/>
          </a:xfrm>
        </p:spPr>
        <p:txBody>
          <a:bodyPr xmlns:a="http://schemas.openxmlformats.org/drawingml/2006/main"/>
          <a:lstStyle xmlns:a="http://schemas.openxmlformats.org/drawingml/2006/main">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p>
        </p:txBody>
      </p:sp>
    </p:spTree>
  </p:cSld>
</p:sldLayout>
</file>

<file path=ppt/slideLayouts/slideLayout2.xml><?xml version="1.0" encoding="utf-8"?>
<p:sldLayout xmlns:p="http://schemas.openxmlformats.org/presentationml/2006/main" preserve="1" userDrawn="1">
  <p:cSld name="Title and Content">
    <p:spTree>
      <p:nvGrpSpPr>
        <p:cNvPr id="1" name=""/>
        <p:cNvGrpSpPr/>
        <p:nvPr/>
      </p:nvGrpSpPr>
      <p:grpSpPr>
        <a:xfrm xmlns:a="http://schemas.openxmlformats.org/drawingml/2006/main"/>
      </p:grpSpPr>
      <p:sp>
        <p:nvSpPr>
          <p:cNvPr id="8" name="Text Placeholder 2">
            <a:extLst xmlns:a="http://schemas.openxmlformats.org/drawingml/2006/main">
              <a:ext uri="{FF2B5EF4-FFF2-40B4-BE49-F238E27FC236}">
                <a16:creationId xmlns:a16="http://schemas.microsoft.com/office/drawing/2014/main" id="{5E851FDE-9E0B-568C-1CBA-E72B86CC06ED}"/>
              </a:ext>
            </a:extLst>
          </p:cNvPr>
          <p:cNvSpPr>
            <a:spLocks xmlns:a="http://schemas.openxmlformats.org/drawingml/2006/main" noGrp="1"/>
          </p:cNvSpPr>
          <p:nvPr>
            <p:ph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9" name="Footer Placeholder 4">
            <a:extLst xmlns:a="http://schemas.openxmlformats.org/drawingml/2006/main">
              <a:ext uri="{FF2B5EF4-FFF2-40B4-BE49-F238E27FC236}">
                <a16:creationId xmlns:a16="http://schemas.microsoft.com/office/drawing/2014/main" id="{29CCD18F-3BF6-A3EE-DAAE-66BD406D7E8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a:endParaRPr sz="1100"/>
          </a:p>
        </p:txBody>
      </p:sp>
      <p:sp>
        <p:nvSpPr>
          <p:cNvPr id="10" name="Slide Number Placeholder 5">
            <a:extLst xmlns:a="http://schemas.openxmlformats.org/drawingml/2006/main">
              <a:ext uri="{FF2B5EF4-FFF2-40B4-BE49-F238E27FC236}">
                <a16:creationId xmlns:a16="http://schemas.microsoft.com/office/drawing/2014/main" id="{5186992D-ADA6-5A23-EBD5-6BEF0A2E61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kern="1200">
                <a:solidFill>
                  <a:schemeClr val="tx1"/>
                </a:solidFill>
                <a:latin typeface="+mn-lt"/>
                <a:ea typeface="+mn-lt"/>
                <a:cs typeface="+mn-lt"/>
              </a:defRPr>
            </a:lvl1pPr>
          </a:lstStyle>
          <a:p xmlns:a="http://schemas.openxmlformats.org/drawingml/2006/main">
            <a:fld id="{8574A810-7A8E-054F-9F6B-09E9C694ECF9}" type="slidenum">
              <a:t>‹#›</a:t>
            </a:fld>
            <a:endParaRPr sz="1100"/>
          </a:p>
        </p:txBody>
      </p:sp>
      <p:sp>
        <p:nvSpPr>
          <p:cNvPr id="2" name="Title Placeholder 1">
            <a:extLst xmlns:a="http://schemas.openxmlformats.org/drawingml/2006/main">
              <a:ext uri="{FF2B5EF4-FFF2-40B4-BE49-F238E27FC236}">
                <a16:creationId xmlns:a16="http://schemas.microsoft.com/office/drawing/2014/main" id="{CDBB333F-FFCF-AA9E-7AC0-64DB02353FBC}"/>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3.xml><?xml version="1.0" encoding="utf-8"?>
<p:sldLayout xmlns:p="http://schemas.openxmlformats.org/presentationml/2006/main" preserve="1" userDrawn="1">
  <p:cSld name="Two Content">
    <p:spTree>
      <p:nvGrpSpPr>
        <p:cNvPr id="1" name=""/>
        <p:cNvGrpSpPr/>
        <p:nvPr/>
      </p:nvGrpSpPr>
      <p:grpSpPr>
        <a:xfrm xmlns:a="http://schemas.openxmlformats.org/drawingml/2006/main"/>
      </p:grpSpPr>
      <p:sp>
        <p:nvSpPr>
          <p:cNvPr id="9" name="Text Placeholder 2">
            <a:extLst xmlns:a="http://schemas.openxmlformats.org/drawingml/2006/main">
              <a:ext uri="{FF2B5EF4-FFF2-40B4-BE49-F238E27FC236}">
                <a16:creationId xmlns:a16="http://schemas.microsoft.com/office/drawing/2014/main" id="{4DCC3060-FADA-4310-30F9-24EC34B5AA87}"/>
              </a:ext>
            </a:extLst>
          </p:cNvPr>
          <p:cNvSpPr>
            <a:spLocks xmlns:a="http://schemas.openxmlformats.org/drawingml/2006/main" noGrp="1"/>
          </p:cNvSpPr>
          <p:nvPr>
            <p:ph idx="1"/>
          </p:nvPr>
        </p:nvSpPr>
        <p:spPr>
          <a:xfrm xmlns:a="http://schemas.openxmlformats.org/drawingml/2006/main">
            <a:off x="393700"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0" name="Footer Placeholder 4">
            <a:extLst xmlns:a="http://schemas.openxmlformats.org/drawingml/2006/main">
              <a:ext uri="{FF2B5EF4-FFF2-40B4-BE49-F238E27FC236}">
                <a16:creationId xmlns:a16="http://schemas.microsoft.com/office/drawing/2014/main" id="{19E7B047-08E6-29C1-F101-C084D555AACC}"/>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a:endParaRPr sz="1100"/>
          </a:p>
        </p:txBody>
      </p:sp>
      <p:sp>
        <p:nvSpPr>
          <p:cNvPr id="11" name="Slide Number Placeholder 5">
            <a:extLst xmlns:a="http://schemas.openxmlformats.org/drawingml/2006/main">
              <a:ext uri="{FF2B5EF4-FFF2-40B4-BE49-F238E27FC236}">
                <a16:creationId xmlns:a16="http://schemas.microsoft.com/office/drawing/2014/main" id="{3DE564C6-8AA0-935D-A919-07AFA15B335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kern="1200">
                <a:solidFill>
                  <a:schemeClr val="tx1"/>
                </a:solidFill>
                <a:latin typeface="+mn-lt"/>
                <a:ea typeface="+mn-lt"/>
                <a:cs typeface="+mn-lt"/>
              </a:defRPr>
            </a:lvl1pPr>
          </a:lstStyle>
          <a:p xmlns:a="http://schemas.openxmlformats.org/drawingml/2006/main">
            <a:fld id="{8574A810-7A8E-054F-9F6B-09E9C694ECF9}" type="slidenum">
              <a:t>‹#›</a:t>
            </a:fld>
            <a:endParaRPr sz="1100"/>
          </a:p>
        </p:txBody>
      </p:sp>
      <p:sp>
        <p:nvSpPr>
          <p:cNvPr id="12" name="Text Placeholder 2">
            <a:extLst xmlns:a="http://schemas.openxmlformats.org/drawingml/2006/main">
              <a:ext uri="{FF2B5EF4-FFF2-40B4-BE49-F238E27FC236}">
                <a16:creationId xmlns:a16="http://schemas.microsoft.com/office/drawing/2014/main" id="{4ABE46D3-8F05-1C7F-3EC7-20BFCC76C251}"/>
              </a:ext>
            </a:extLst>
          </p:cNvPr>
          <p:cNvSpPr>
            <a:spLocks xmlns:a="http://schemas.openxmlformats.org/drawingml/2006/main" noGrp="1"/>
          </p:cNvSpPr>
          <p:nvPr>
            <p:ph idx="10"/>
          </p:nvPr>
        </p:nvSpPr>
        <p:spPr>
          <a:xfrm xmlns:a="http://schemas.openxmlformats.org/drawingml/2006/main">
            <a:off x="6256618"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739D2C21-36BF-25E7-8E97-1D17F313F7AF}"/>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4.xml><?xml version="1.0" encoding="utf-8"?>
<p:sldLayout xmlns:p="http://schemas.openxmlformats.org/presentationml/2006/main" preserve="1" userDrawn="1">
  <p:cSld name="Three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a:endParaRPr sz="11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kern="1200">
                <a:solidFill>
                  <a:schemeClr val="tx1"/>
                </a:solidFill>
                <a:latin typeface="+mn-lt"/>
                <a:ea typeface="+mn-lt"/>
                <a:cs typeface="+mn-lt"/>
              </a:defRPr>
            </a:lvl1pPr>
          </a:lstStyle>
          <a:p xmlns:a="http://schemas.openxmlformats.org/drawingml/2006/main">
            <a:fld id="{8574A810-7A8E-054F-9F6B-09E9C694ECF9}" type="slidenum">
              <a:t>‹#›</a:t>
            </a:fld>
            <a:endParaRPr sz="1100"/>
          </a:p>
        </p:txBody>
      </p:sp>
      <p:sp>
        <p:nvSpPr>
          <p:cNvPr id="14" name="Text Placeholder 2">
            <a:extLst xmlns:a="http://schemas.openxmlformats.org/drawingml/2006/main">
              <a:ext uri="{FF2B5EF4-FFF2-40B4-BE49-F238E27FC236}">
                <a16:creationId xmlns:a16="http://schemas.microsoft.com/office/drawing/2014/main" id="{80E090C5-E6C8-92F2-E8C2-A840B8F1807D}"/>
              </a:ext>
            </a:extLst>
          </p:cNvPr>
          <p:cNvSpPr>
            <a:spLocks xmlns:a="http://schemas.openxmlformats.org/drawingml/2006/main" noGrp="1"/>
          </p:cNvSpPr>
          <p:nvPr>
            <p:ph idx="10"/>
          </p:nvPr>
        </p:nvSpPr>
        <p:spPr>
          <a:xfrm xmlns:a="http://schemas.openxmlformats.org/drawingml/2006/main">
            <a:off x="43180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5" name="Text Placeholder 2">
            <a:extLst xmlns:a="http://schemas.openxmlformats.org/drawingml/2006/main">
              <a:ext uri="{FF2B5EF4-FFF2-40B4-BE49-F238E27FC236}">
                <a16:creationId xmlns:a16="http://schemas.microsoft.com/office/drawing/2014/main" id="{0C6D2D15-AEC2-9F99-316F-C37AF863965D}"/>
              </a:ext>
            </a:extLst>
          </p:cNvPr>
          <p:cNvSpPr>
            <a:spLocks xmlns:a="http://schemas.openxmlformats.org/drawingml/2006/main" noGrp="1"/>
          </p:cNvSpPr>
          <p:nvPr>
            <p:ph idx="11"/>
          </p:nvPr>
        </p:nvSpPr>
        <p:spPr>
          <a:xfrm xmlns:a="http://schemas.openxmlformats.org/drawingml/2006/main">
            <a:off x="8232273"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5.xml><?xml version="1.0" encoding="utf-8"?>
<p:sldLayout xmlns:p="http://schemas.openxmlformats.org/presentationml/2006/main" preserve="1" userDrawn="1">
  <p:cSld name="Four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4826000"/>
            <a:ext cx="2595934" cy="1168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a:endParaRPr sz="11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952"/>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kern="1200">
                <a:solidFill>
                  <a:schemeClr val="tx1"/>
                </a:solidFill>
                <a:latin typeface="+mn-lt"/>
                <a:ea typeface="+mn-lt"/>
                <a:cs typeface="+mn-lt"/>
              </a:defRPr>
            </a:lvl1pPr>
          </a:lstStyle>
          <a:p xmlns:a="http://schemas.openxmlformats.org/drawingml/2006/main">
            <a:fld id="{8574A810-7A8E-054F-9F6B-09E9C694ECF9}" type="slidenum">
              <a:t>‹#›</a:t>
            </a:fld>
            <a:endParaRPr sz="1100"/>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8" name="Text Placeholder 7">
            <a:extLst xmlns:a="http://schemas.openxmlformats.org/drawingml/2006/main">
              <a:ext uri="{FF2B5EF4-FFF2-40B4-BE49-F238E27FC236}">
                <a16:creationId xmlns:a16="http://schemas.microsoft.com/office/drawing/2014/main" id="{4F70A9DA-D783-0627-3166-E13B68C2ADAC}"/>
              </a:ext>
            </a:extLst>
          </p:cNvPr>
          <p:cNvSpPr>
            <a:spLocks xmlns:a="http://schemas.openxmlformats.org/drawingml/2006/main" noGrp="1"/>
          </p:cNvSpPr>
          <p:nvPr>
            <p:ph type="body" idx="12"/>
          </p:nvPr>
        </p:nvSpPr>
        <p:spPr>
          <a:xfrm xmlns:a="http://schemas.openxmlformats.org/drawingml/2006/main">
            <a:off x="3334966" y="4826000"/>
            <a:ext cx="2595934" cy="1168400"/>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
        <p:nvSpPr>
          <p:cNvPr id="9" name="Text Placeholder 2">
            <a:extLst xmlns:a="http://schemas.openxmlformats.org/drawingml/2006/main">
              <a:ext uri="{FF2B5EF4-FFF2-40B4-BE49-F238E27FC236}">
                <a16:creationId xmlns:a16="http://schemas.microsoft.com/office/drawing/2014/main" id="{75BF2647-8E8C-CAEE-896D-0E1567AF7E99}"/>
              </a:ext>
            </a:extLst>
          </p:cNvPr>
          <p:cNvSpPr>
            <a:spLocks xmlns:a="http://schemas.openxmlformats.org/drawingml/2006/main" noGrp="1"/>
          </p:cNvSpPr>
          <p:nvPr>
            <p:ph idx="13"/>
          </p:nvPr>
        </p:nvSpPr>
        <p:spPr>
          <a:xfrm xmlns:a="http://schemas.openxmlformats.org/drawingml/2006/main">
            <a:off x="6264413" y="4826000"/>
            <a:ext cx="2595934" cy="1168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0" name="Text Placeholder 7">
            <a:extLst xmlns:a="http://schemas.openxmlformats.org/drawingml/2006/main">
              <a:ext uri="{FF2B5EF4-FFF2-40B4-BE49-F238E27FC236}">
                <a16:creationId xmlns:a16="http://schemas.microsoft.com/office/drawing/2014/main" id="{37C6F143-221A-9959-8FBA-B9B1DB6602D0}"/>
              </a:ext>
            </a:extLst>
          </p:cNvPr>
          <p:cNvSpPr>
            <a:spLocks xmlns:a="http://schemas.openxmlformats.org/drawingml/2006/main" noGrp="1"/>
          </p:cNvSpPr>
          <p:nvPr>
            <p:ph type="body" idx="14"/>
          </p:nvPr>
        </p:nvSpPr>
        <p:spPr>
          <a:xfrm xmlns:a="http://schemas.openxmlformats.org/drawingml/2006/main">
            <a:off x="9205679" y="4826000"/>
            <a:ext cx="2595934" cy="1168400"/>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Tree>
  </p:cSld>
</p:sldLayout>
</file>

<file path=ppt/slideLayouts/slideLayout6.xml><?xml version="1.0" encoding="utf-8"?>
<p:sldLayout xmlns:p="http://schemas.openxmlformats.org/presentationml/2006/main" preserve="1" userDrawn="1">
  <p:cSld name="Title Only">
    <p:spTree>
      <p:nvGrpSpPr>
        <p:cNvPr id="1" name=""/>
        <p:cNvGrpSpPr/>
        <p:nvPr/>
      </p:nvGrpSpPr>
      <p:grpSpPr>
        <a:xfrm xmlns:a="http://schemas.openxmlformats.org/drawingml/2006/main"/>
      </p:grpSpPr>
      <p:sp>
        <p:nvSpPr>
          <p:cNvPr id="8" name="Footer Placeholder 4">
            <a:extLst xmlns:a="http://schemas.openxmlformats.org/drawingml/2006/main">
              <a:ext uri="{FF2B5EF4-FFF2-40B4-BE49-F238E27FC236}">
                <a16:creationId xmlns:a16="http://schemas.microsoft.com/office/drawing/2014/main" id="{DB1182C5-F22B-2641-06DE-4EDACA3C1DD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a:endParaRPr sz="1100"/>
          </a:p>
        </p:txBody>
      </p:sp>
      <p:sp>
        <p:nvSpPr>
          <p:cNvPr id="9" name="Slide Number Placeholder 5">
            <a:extLst xmlns:a="http://schemas.openxmlformats.org/drawingml/2006/main">
              <a:ext uri="{FF2B5EF4-FFF2-40B4-BE49-F238E27FC236}">
                <a16:creationId xmlns:a16="http://schemas.microsoft.com/office/drawing/2014/main" id="{F97A4AD5-204B-38FD-4F33-270C2F9F5CC6}"/>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kern="1200">
                <a:solidFill>
                  <a:schemeClr val="tx1"/>
                </a:solidFill>
                <a:latin typeface="+mn-lt"/>
                <a:ea typeface="+mn-lt"/>
                <a:cs typeface="+mn-lt"/>
              </a:defRPr>
            </a:lvl1pPr>
          </a:lstStyle>
          <a:p xmlns:a="http://schemas.openxmlformats.org/drawingml/2006/main">
            <a:fld id="{8574A810-7A8E-054F-9F6B-09E9C694ECF9}" type="slidenum">
              <a:t>‹#›</a:t>
            </a:fld>
            <a:endParaRPr sz="1100"/>
          </a:p>
        </p:txBody>
      </p:sp>
      <p:sp>
        <p:nvSpPr>
          <p:cNvPr id="2" name="Title Placeholder 1">
            <a:extLst xmlns:a="http://schemas.openxmlformats.org/drawingml/2006/main">
              <a:ext uri="{FF2B5EF4-FFF2-40B4-BE49-F238E27FC236}">
                <a16:creationId xmlns:a16="http://schemas.microsoft.com/office/drawing/2014/main" id="{75CF9983-3FD7-FAE4-9F0B-B2CE806D891D}"/>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7.xml><?xml version="1.0" encoding="utf-8"?>
<p:sldLayout xmlns:p="http://schemas.openxmlformats.org/presentationml/2006/main" preserve="1" userDrawn="1">
  <p:cSld name="Footer Only">
    <p:spTree>
      <p:nvGrpSpPr>
        <p:cNvPr id="1" name=""/>
        <p:cNvGrpSpPr/>
        <p:nvPr/>
      </p:nvGrpSpPr>
      <p:grpSpPr>
        <a:xfrm xmlns:a="http://schemas.openxmlformats.org/drawingml/2006/main"/>
      </p:grpSpPr>
      <p:sp>
        <p:nvSpPr>
          <p:cNvPr id="7" name="Footer Placeholder 4">
            <a:extLst xmlns:a="http://schemas.openxmlformats.org/drawingml/2006/main">
              <a:ext uri="{FF2B5EF4-FFF2-40B4-BE49-F238E27FC236}">
                <a16:creationId xmlns:a16="http://schemas.microsoft.com/office/drawing/2014/main" id="{1012CBCC-C555-8C11-443D-86D6F7A45CF8}"/>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a:endParaRPr sz="1100"/>
          </a:p>
        </p:txBody>
      </p:sp>
      <p:sp>
        <p:nvSpPr>
          <p:cNvPr id="8" name="Slide Number Placeholder 5">
            <a:extLst xmlns:a="http://schemas.openxmlformats.org/drawingml/2006/main">
              <a:ext uri="{FF2B5EF4-FFF2-40B4-BE49-F238E27FC236}">
                <a16:creationId xmlns:a16="http://schemas.microsoft.com/office/drawing/2014/main" id="{B69B260B-B882-BF7F-1BB1-28B9578A25A2}"/>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kern="1200">
                <a:solidFill>
                  <a:schemeClr val="tx1"/>
                </a:solidFill>
                <a:latin typeface="+mn-lt"/>
                <a:ea typeface="+mn-lt"/>
                <a:cs typeface="+mn-lt"/>
              </a:defRPr>
            </a:lvl1pPr>
          </a:lstStyle>
          <a:p xmlns:a="http://schemas.openxmlformats.org/drawingml/2006/main">
            <a:fld id="{8574A810-7A8E-054F-9F6B-09E9C694ECF9}" type="slidenum">
              <a:t>‹#›</a:t>
            </a:fld>
            <a:endParaRPr sz="1100"/>
          </a:p>
        </p:txBody>
      </p:sp>
    </p:spTree>
  </p:cSld>
</p:sldLayout>
</file>

<file path=ppt/slideLayouts/slideLayout8.xml><?xml version="1.0" encoding="utf-8"?>
<p:sldLayout xmlns:p="http://schemas.openxmlformats.org/presentationml/2006/main" preserve="1" userDrawn="1">
  <p:cSld name="Blank">
    <p:spTree>
      <p:nvGrpSpPr>
        <p:cNvPr id="1" name=""/>
        <p:cNvGrpSpPr/>
        <p:nvPr/>
      </p:nvGrpSpPr>
      <p:grpSpPr>
        <a:xfrm xmlns:a="http://schemas.openxmlformats.org/drawingml/2006/main"/>
      </p:grpSpPr>
    </p:spTree>
  </p:cSld>
</p:sldLayout>
</file>

<file path=ppt/slideLayouts/slideLayout9.xml><?xml version="1.0" encoding="utf-8"?>
<p:sldLayout xmlns:p="http://schemas.openxmlformats.org/presentationml/2006/main" preserve="1" userDrawn="1">
  <p:cSld name="36 Field Grid">
    <p:bg>
      <p:bgPr>
        <a:blipFill xmlns:a="http://schemas.openxmlformats.org/drawingml/2006/main" rotWithShape="1">
          <a:blip xmlns:r="http://schemas.openxmlformats.org/officeDocument/2006/relationships" r:embed="Rf24863ef6af74b96">
            <a:lum/>
          </a:blip>
          <a:srcRect l="0" t="0" r="0" b="0"/>
          <a:stretch>
            <a:fillRect l="0" t="0" r="0" b="0"/>
          </a:stretch>
        </a:blipFill>
      </p:bgPr>
    </p:bg>
    <p:spTree>
      <p:nvGrpSpPr>
        <p:cNvPr id="1" name=""/>
        <p:cNvGrpSpPr/>
        <p:nvPr/>
      </p:nvGrpSpPr>
      <p:grpSpPr>
        <a:xfrm xmlns:a="http://schemas.openxmlformats.org/drawingml/2006/main"/>
      </p:grpSpPr>
    </p:spTree>
  </p:cSld>
</p:sldLayout>
</file>

<file path=ppt/slideLayouts/slideLayout10.xml><?xml version="1.0" encoding="utf-8"?>
<p:sldLayout xmlns:p="http://schemas.openxmlformats.org/presentationml/2006/main" preserve="1" userDrawn="1">
  <p:cSld name="48 Field Grid">
    <p:bg>
      <p:bgPr>
        <a:blipFill xmlns:a="http://schemas.openxmlformats.org/drawingml/2006/main" rotWithShape="1">
          <a:blip xmlns:r="http://schemas.openxmlformats.org/officeDocument/2006/relationships" r:embed="Ra124da3986404391">
            <a:lum/>
          </a:blip>
          <a:srcRect l="0" t="0" r="0" b="0"/>
          <a:stretch>
            <a:fillRect l="0" t="0" r="0" b="0"/>
          </a:stretch>
        </a:blipFill>
      </p:bgPr>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e787af6ff384277" /><Relationship Type="http://schemas.openxmlformats.org/officeDocument/2006/relationships/slideLayout" Target="/ppt/slideLayouts/slideLayout1.xml" Id="Re9ea3f69018b46fd" /><Relationship Type="http://schemas.openxmlformats.org/officeDocument/2006/relationships/slideLayout" Target="/ppt/slideLayouts/slideLayout2.xml" Id="Rec84f6ea60ff487b" /><Relationship Type="http://schemas.openxmlformats.org/officeDocument/2006/relationships/slideLayout" Target="/ppt/slideLayouts/slideLayout3.xml" Id="R2931c83b090e4d54" /><Relationship Type="http://schemas.openxmlformats.org/officeDocument/2006/relationships/slideLayout" Target="/ppt/slideLayouts/slideLayout4.xml" Id="R8a7b94be12474629" /><Relationship Type="http://schemas.openxmlformats.org/officeDocument/2006/relationships/slideLayout" Target="/ppt/slideLayouts/slideLayout5.xml" Id="R67c5450fbe854690" /><Relationship Type="http://schemas.openxmlformats.org/officeDocument/2006/relationships/slideLayout" Target="/ppt/slideLayouts/slideLayout6.xml" Id="Rfbea68d1273f4800" /><Relationship Type="http://schemas.openxmlformats.org/officeDocument/2006/relationships/slideLayout" Target="/ppt/slideLayouts/slideLayout7.xml" Id="R0099440555a64abb" /><Relationship Type="http://schemas.openxmlformats.org/officeDocument/2006/relationships/slideLayout" Target="/ppt/slideLayouts/slideLayout8.xml" Id="Rd8dc172cc7214253" /><Relationship Type="http://schemas.openxmlformats.org/officeDocument/2006/relationships/slideLayout" Target="/ppt/slideLayouts/slideLayout9.xml" Id="Re7817c8e5f0a4ee8" /><Relationship Type="http://schemas.openxmlformats.org/officeDocument/2006/relationships/slideLayout" Target="/ppt/slideLayouts/slideLayout10.xml" Id="R2df2b902a5704e20"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BB87ED2E-D8FF-5C8C-ED50-59BA3091C3E1}"/>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05B0E1CB-6DCA-2E9F-2B74-4309B4084C09}"/>
              </a:ext>
            </a:extLst>
          </p:cNvPr>
          <p:cNvSpPr>
            <a:spLocks xmlns:a="http://schemas.openxmlformats.org/drawingml/2006/main" noGrp="1"/>
          </p:cNvSpPr>
          <p:nvPr>
            <p:ph type="body"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Footer Placeholder 4">
            <a:extLst xmlns:a="http://schemas.openxmlformats.org/drawingml/2006/main">
              <a:ext uri="{FF2B5EF4-FFF2-40B4-BE49-F238E27FC236}">
                <a16:creationId xmlns:a16="http://schemas.microsoft.com/office/drawing/2014/main" id="{3C75650C-2983-5B02-8421-FF1818435433}"/>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a:endParaRPr sz="1100"/>
          </a:p>
        </p:txBody>
      </p:sp>
      <p:sp>
        <p:nvSpPr>
          <p:cNvPr id="6" name="Slide Number Placeholder 5">
            <a:extLst xmlns:a="http://schemas.openxmlformats.org/drawingml/2006/main">
              <a:ext uri="{FF2B5EF4-FFF2-40B4-BE49-F238E27FC236}">
                <a16:creationId xmlns:a16="http://schemas.microsoft.com/office/drawing/2014/main" id="{D872C88C-1AB3-96BA-C9E5-3435A4BD59B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kern="1200">
                <a:solidFill>
                  <a:schemeClr val="tx1"/>
                </a:solidFill>
                <a:latin typeface="+mn-lt"/>
                <a:ea typeface="+mn-lt"/>
                <a:cs typeface="+mn-lt"/>
              </a:defRPr>
            </a:lvl1pPr>
          </a:lstStyle>
          <a:p xmlns:a="http://schemas.openxmlformats.org/drawingml/2006/main">
            <a:fld id="{8574A810-7A8E-054F-9F6B-09E9C694ECF9}" type="slidenum">
              <a:t>‹#›</a:t>
            </a:fld>
            <a:endParaRPr sz="1100"/>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9ea3f69018b46fd"/>
    <p:sldLayoutId xmlns:r="http://schemas.openxmlformats.org/officeDocument/2006/relationships" id="2147483650" r:id="Rec84f6ea60ff487b"/>
    <p:sldLayoutId xmlns:r="http://schemas.openxmlformats.org/officeDocument/2006/relationships" id="2147483651" r:id="R2931c83b090e4d54"/>
    <p:sldLayoutId xmlns:r="http://schemas.openxmlformats.org/officeDocument/2006/relationships" id="2147483652" r:id="R8a7b94be12474629"/>
    <p:sldLayoutId xmlns:r="http://schemas.openxmlformats.org/officeDocument/2006/relationships" id="2147483653" r:id="R67c5450fbe854690"/>
    <p:sldLayoutId xmlns:r="http://schemas.openxmlformats.org/officeDocument/2006/relationships" id="2147483654" r:id="Rfbea68d1273f4800"/>
    <p:sldLayoutId xmlns:r="http://schemas.openxmlformats.org/officeDocument/2006/relationships" id="2147483655" r:id="R0099440555a64abb"/>
    <p:sldLayoutId xmlns:r="http://schemas.openxmlformats.org/officeDocument/2006/relationships" id="2147483656" r:id="Rd8dc172cc7214253"/>
    <p:sldLayoutId xmlns:r="http://schemas.openxmlformats.org/officeDocument/2006/relationships" id="2147483657" r:id="Re7817c8e5f0a4ee8"/>
    <p:sldLayoutId xmlns:r="http://schemas.openxmlformats.org/officeDocument/2006/relationships" id="2147483658" r:id="R2df2b902a5704e20"/>
  </p:sldLayoutIdLst>
  <p:hf hdr="0" dt="0"/>
  <p:txStyles>
    <p:titleStyle>
      <a:lvl1pPr xmlns:a="http://schemas.openxmlformats.org/drawingml/2006/main" algn="l" defTabSz="914400">
        <a:lnSpc>
          <a:spcPct val="90000"/>
        </a:lnSpc>
        <a:spcBef>
          <a:spcPct val="0"/>
        </a:spcBef>
        <a:buNone/>
        <a:defRPr sz="2900" b="0" i="0" kern="1200">
          <a:solidFill>
            <a:schemeClr val="tx1"/>
          </a:solidFill>
          <a:latin typeface="Inter Medium"/>
          <a:ea typeface="Inter Medium"/>
          <a:cs typeface="Inter Medium"/>
        </a:defRPr>
      </a:lvl1pPr>
    </p:titleStyle>
    <p:bodyStyle>
      <a:lvl1pPr xmlns:a="http://schemas.openxmlformats.org/drawingml/2006/main"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extLst>
    <p:ext uri="{27BBF7A9-308A-43DC-89C8-2F10F3537804}">
      <p15:sldGuideLst xmlns:p15="http://schemas.microsoft.com/office/powerpoint/2012/main">
        <p15:guide id="1" userDrawn="1">
          <p15:clr>
            <a:srgbClr xmlns:a="http://schemas.openxmlformats.org/drawingml/2006/main" val="F26B43"/>
          </p15:clr>
        </p15:guide>
        <p15:guide id="2" pos="7680" userDrawn="1">
          <p15:clr>
            <a:srgbClr xmlns:a="http://schemas.openxmlformats.org/drawingml/2006/main" val="F26B43"/>
          </p15:clr>
        </p15:guide>
        <p15:guide id="3" pos="248" userDrawn="1">
          <p15:clr>
            <a:srgbClr xmlns:a="http://schemas.openxmlformats.org/drawingml/2006/main" val="F26B43"/>
          </p15:clr>
        </p15:guide>
        <p15:guide id="4" pos="1264" userDrawn="1">
          <p15:clr>
            <a:srgbClr xmlns:a="http://schemas.openxmlformats.org/drawingml/2006/main" val="F26B43"/>
          </p15:clr>
        </p15:guide>
        <p15:guide id="5" pos="1480" userDrawn="1">
          <p15:clr>
            <a:srgbClr xmlns:a="http://schemas.openxmlformats.org/drawingml/2006/main" val="F26B43"/>
          </p15:clr>
        </p15:guide>
        <p15:guide id="6" pos="2496" userDrawn="1">
          <p15:clr>
            <a:srgbClr xmlns:a="http://schemas.openxmlformats.org/drawingml/2006/main" val="F26B43"/>
          </p15:clr>
        </p15:guide>
        <p15:guide id="7" pos="2712" userDrawn="1">
          <p15:clr>
            <a:srgbClr xmlns:a="http://schemas.openxmlformats.org/drawingml/2006/main" val="F26B43"/>
          </p15:clr>
        </p15:guide>
        <p15:guide id="8" pos="3736" userDrawn="1">
          <p15:clr>
            <a:srgbClr xmlns:a="http://schemas.openxmlformats.org/drawingml/2006/main" val="F26B43"/>
          </p15:clr>
        </p15:guide>
        <p15:guide id="9" pos="3944" userDrawn="1">
          <p15:clr>
            <a:srgbClr xmlns:a="http://schemas.openxmlformats.org/drawingml/2006/main" val="F26B43"/>
          </p15:clr>
        </p15:guide>
        <p15:guide id="10" pos="4968" userDrawn="1">
          <p15:clr>
            <a:srgbClr xmlns:a="http://schemas.openxmlformats.org/drawingml/2006/main" val="F26B43"/>
          </p15:clr>
        </p15:guide>
        <p15:guide id="11" pos="5184" userDrawn="1">
          <p15:clr>
            <a:srgbClr xmlns:a="http://schemas.openxmlformats.org/drawingml/2006/main" val="F26B43"/>
          </p15:clr>
        </p15:guide>
        <p15:guide id="12" pos="6200" userDrawn="1">
          <p15:clr>
            <a:srgbClr xmlns:a="http://schemas.openxmlformats.org/drawingml/2006/main" val="F26B43"/>
          </p15:clr>
        </p15:guide>
        <p15:guide id="13" pos="6416" userDrawn="1">
          <p15:clr>
            <a:srgbClr xmlns:a="http://schemas.openxmlformats.org/drawingml/2006/main" val="F26B43"/>
          </p15:clr>
        </p15:guide>
        <p15:guide id="14" pos="7432" userDrawn="1">
          <p15:clr>
            <a:srgbClr xmlns:a="http://schemas.openxmlformats.org/drawingml/2006/main" val="F26B43"/>
          </p15:clr>
        </p15:guide>
        <p15:guide id="15" orient="horz" userDrawn="1">
          <p15:clr>
            <a:srgbClr xmlns:a="http://schemas.openxmlformats.org/drawingml/2006/main" val="F26B43"/>
          </p15:clr>
        </p15:guide>
        <p15:guide id="17" orient="horz" pos="248" userDrawn="1">
          <p15:clr>
            <a:srgbClr xmlns:a="http://schemas.openxmlformats.org/drawingml/2006/main" val="F26B43"/>
          </p15:clr>
        </p15:guide>
        <p15:guide id="18" orient="horz" pos="656" userDrawn="1">
          <p15:clr>
            <a:srgbClr xmlns:a="http://schemas.openxmlformats.org/drawingml/2006/main" val="F26B43"/>
          </p15:clr>
        </p15:guide>
        <p15:guide id="19" orient="horz" pos="872" userDrawn="1">
          <p15:clr>
            <a:srgbClr xmlns:a="http://schemas.openxmlformats.org/drawingml/2006/main" val="F26B43"/>
          </p15:clr>
        </p15:guide>
        <p15:guide id="20" orient="horz" pos="1280" userDrawn="1">
          <p15:clr>
            <a:srgbClr xmlns:a="http://schemas.openxmlformats.org/drawingml/2006/main" val="F26B43"/>
          </p15:clr>
        </p15:guide>
        <p15:guide id="21" orient="horz" pos="1496" userDrawn="1">
          <p15:clr>
            <a:srgbClr xmlns:a="http://schemas.openxmlformats.org/drawingml/2006/main" val="F26B43"/>
          </p15:clr>
        </p15:guide>
        <p15:guide id="22" orient="horz" pos="1904" userDrawn="1">
          <p15:clr>
            <a:srgbClr xmlns:a="http://schemas.openxmlformats.org/drawingml/2006/main" val="F26B43"/>
          </p15:clr>
        </p15:guide>
        <p15:guide id="23" orient="horz" pos="2120" userDrawn="1">
          <p15:clr>
            <a:srgbClr xmlns:a="http://schemas.openxmlformats.org/drawingml/2006/main" val="F26B43"/>
          </p15:clr>
        </p15:guide>
        <p15:guide id="24" orient="horz" pos="2528" userDrawn="1">
          <p15:clr>
            <a:srgbClr xmlns:a="http://schemas.openxmlformats.org/drawingml/2006/main" val="F26B43"/>
          </p15:clr>
        </p15:guide>
        <p15:guide id="25" orient="horz" pos="2744" userDrawn="1">
          <p15:clr>
            <a:srgbClr xmlns:a="http://schemas.openxmlformats.org/drawingml/2006/main" val="F26B43"/>
          </p15:clr>
        </p15:guide>
        <p15:guide id="26" orient="horz" pos="3152" userDrawn="1">
          <p15:clr>
            <a:srgbClr xmlns:a="http://schemas.openxmlformats.org/drawingml/2006/main" val="F26B43"/>
          </p15:clr>
        </p15:guide>
        <p15:guide id="27" orient="horz" pos="3368" userDrawn="1">
          <p15:clr>
            <a:srgbClr xmlns:a="http://schemas.openxmlformats.org/drawingml/2006/main" val="F26B43"/>
          </p15:clr>
        </p15:guide>
        <p15:guide id="28" orient="horz" pos="3776" userDrawn="1">
          <p15:clr>
            <a:srgbClr xmlns:a="http://schemas.openxmlformats.org/drawingml/2006/main" val="F26B43"/>
          </p15:clr>
        </p15:guide>
        <p15:guide id="29" orient="horz" pos="4088" userDrawn="1">
          <p15:clr>
            <a:srgbClr xmlns:a="http://schemas.openxmlformats.org/drawingml/2006/main" val="F26B43"/>
          </p15:clr>
        </p15:guide>
      </p15:sldGuideLst>
    </p:ext>
  </p:extLst>
</p:sldMaster>
</file>

<file path=ppt/slideMasters/theme/theme2.xml><?xml version="1.0" encoding="utf-8"?>
<a:theme xmlns:a="http://schemas.openxmlformats.org/drawingml/2006/main" name="Default Codex Theme">
  <a:themeElements>
    <a:clrScheme name="Color Block Theme">
      <a:dk1>
        <a:srgbClr val="000000"/>
      </a:dk1>
      <a:lt1>
        <a:srgbClr val="FFFFFF"/>
      </a:lt1>
      <a:dk2>
        <a:srgbClr val="393939"/>
      </a:dk2>
      <a:lt2>
        <a:srgbClr val="F5F5F5"/>
      </a:lt2>
      <a:accent1>
        <a:srgbClr val="2ED978"/>
      </a:accent1>
      <a:accent2>
        <a:srgbClr val="9FB6FE"/>
      </a:accent2>
      <a:accent3>
        <a:srgbClr val="F3F161"/>
      </a:accent3>
      <a:accent4>
        <a:srgbClr val="FF5F27"/>
      </a:accent4>
      <a:accent5>
        <a:srgbClr val="5EC4FF"/>
      </a:accent5>
      <a:accent6>
        <a:srgbClr val="3C7DA3"/>
      </a:accent6>
      <a:hlink>
        <a:srgbClr val="FFA83A"/>
      </a:hlink>
      <a:folHlink>
        <a:srgbClr val="96607D"/>
      </a:folHlink>
    </a:clrScheme>
    <a:fontScheme name="Inter">
      <a:majorFont>
        <a:latin typeface="Inter"/>
        <a:ea typeface=""/>
        <a:cs typeface=""/>
      </a:majorFont>
      <a:minorFont>
        <a:latin typeface="Inter"/>
        <a:ea typeface=""/>
        <a:cs typeface=""/>
      </a:minorFont>
    </a:fontScheme>
    <a:fmtScheme name="Color Block Them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cd9b11d7f55450a" /><Relationship Type="http://schemas.openxmlformats.org/officeDocument/2006/relationships/image" Target="/ppt/media/image3.png" Id="R12bdb90a57ec443f" /><Relationship Type="http://schemas.openxmlformats.org/officeDocument/2006/relationships/notesSlide" Target="/ppt/notesSlides/notesSlide1.xml" Id="R98c19aeba593496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7b01076780447fb" /><Relationship Type="http://schemas.openxmlformats.org/officeDocument/2006/relationships/notesSlide" Target="/ppt/notesSlides/notesSlide2.xml" Id="R1840722f73a54a0a"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f4a800ba050a4a3d" /><Relationship Type="http://schemas.openxmlformats.org/officeDocument/2006/relationships/chart" Target="/ppt/slides/charts/chart1.xml" Id="R9cdefad2adc54059" /><Relationship Type="http://schemas.openxmlformats.org/officeDocument/2006/relationships/notesSlide" Target="/ppt/notesSlides/notesSlide3.xml" Id="R71e4d3b199c24c7b" /></Relationships>
</file>

<file path=ppt/slides/_rels/slide4.xml.rels>&#65279;<?xml version="1.0" encoding="utf-8"?><Relationships xmlns="http://schemas.openxmlformats.org/package/2006/relationships"><Relationship Type="http://schemas.openxmlformats.org/officeDocument/2006/relationships/slideLayout" Target="/ppt/slideLayouts/slideLayout3.xml" Id="Rced8115de5364c5a" /><Relationship Type="http://schemas.openxmlformats.org/officeDocument/2006/relationships/notesSlide" Target="/ppt/notesSlides/notesSlide4.xml" Id="R14d0bb2c02f64349" /></Relationships>
</file>

<file path=ppt/slides/_rels/slide5.xml.rels>&#65279;<?xml version="1.0" encoding="utf-8"?><Relationships xmlns="http://schemas.openxmlformats.org/package/2006/relationships"><Relationship Type="http://schemas.openxmlformats.org/officeDocument/2006/relationships/slideLayout" Target="/ppt/slideLayouts/slideLayout5.xml" Id="R373ad5a47dce447f" /><Relationship Type="http://schemas.openxmlformats.org/officeDocument/2006/relationships/chart" Target="/ppt/slides/charts/chart2.xml" Id="Ra282fe9f6dac4a48" /><Relationship Type="http://schemas.openxmlformats.org/officeDocument/2006/relationships/notesSlide" Target="/ppt/notesSlides/notesSlide5.xml" Id="Re44452b11553418d"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158c8ceaf3634d50" /><Relationship Type="http://schemas.openxmlformats.org/officeDocument/2006/relationships/chart" Target="/ppt/slides/charts/chart3.xml" Id="Rebcda4bfa5ff416b" /><Relationship Type="http://schemas.openxmlformats.org/officeDocument/2006/relationships/notesSlide" Target="/ppt/notesSlides/notesSlide6.xml" Id="R4f61eeb502c74f7a"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aeb0a62e26ee48b7" /><Relationship Type="http://schemas.openxmlformats.org/officeDocument/2006/relationships/chart" Target="/ppt/slides/charts/chart4.xml" Id="Rdb2b612d81174081" /><Relationship Type="http://schemas.openxmlformats.org/officeDocument/2006/relationships/notesSlide" Target="/ppt/notesSlides/notesSlide7.xml" Id="Rc8a9fbeb34e948ef" /></Relationships>
</file>

<file path=ppt/slides/_rels/slide8.xml.rels>&#65279;<?xml version="1.0" encoding="utf-8"?><Relationships xmlns="http://schemas.openxmlformats.org/package/2006/relationships"><Relationship Type="http://schemas.openxmlformats.org/officeDocument/2006/relationships/slideLayout" Target="/ppt/slideLayouts/slideLayout4.xml" Id="Rb49f00c6cf244709" /><Relationship Type="http://schemas.openxmlformats.org/officeDocument/2006/relationships/notesSlide" Target="/ppt/notesSlides/notesSlide8.xml" Id="Ra2fa6550b62f4fc9" /></Relationships>
</file>

<file path=ppt/slides/_rels/slide9.xml.rels>&#65279;<?xml version="1.0" encoding="utf-8"?><Relationships xmlns="http://schemas.openxmlformats.org/package/2006/relationships"><Relationship Type="http://schemas.openxmlformats.org/officeDocument/2006/relationships/slideLayout" Target="/ppt/slideLayouts/slideLayout4.xml" Id="R9c0863294bab406c" /><Relationship Type="http://schemas.openxmlformats.org/officeDocument/2006/relationships/notesSlide" Target="/ppt/notesSlides/notesSlide9.xml" Id="R8acf9491a6ff435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875ef04a3b244f0" /><Relationship Type="http://schemas.openxmlformats.org/officeDocument/2006/relationships/image" Target="/ppt/media/image3.png" Id="R62d12bb38de742b8" /><Relationship Type="http://schemas.openxmlformats.org/officeDocument/2006/relationships/notesSlide" Target="/ppt/notesSlides/notesSlide10.xml" Id="Rfdc1a0fec74e40b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4.xml" Id="R545c7b5549cd443e" /><Relationship Type="http://schemas.openxmlformats.org/officeDocument/2006/relationships/notesSlide" Target="/ppt/notesSlides/notesSlide11.xml" Id="Rcd8c27d6c09d4d98"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spPr>
            <a:solidFill xmlns:a="http://schemas.openxmlformats.org/drawingml/2006/main">
              <a:srgbClr val="2C637F"/>
            </a:solidFill>
          </c:spPr>
          <c:cat>
            <c:strRef>
              <c:f>'Chart Data'!$A$2:$A$4</c:f>
              <c:strCache>
                <c:ptCount val="3"/>
                <c:pt idx="0">
                  <c:v>TF-IDF + SGD</c:v>
                </c:pt>
                <c:pt idx="1">
                  <c:v>Gemma + LoRA</c:v>
                </c:pt>
                <c:pt idx="2">
                  <c:v>Qwen prompt</c:v>
                </c:pt>
              </c:strCache>
            </c:strRef>
          </c:cat>
          <c:val>
            <c:numRef>
              <c:f>'Chart Data'!$B$2:$B$4</c:f>
              <c:numCache>
                <c:formatCode>0.000</c:formatCode>
                <c:ptCount val="3"/>
                <c:pt idx="0">
                  <c:v>0.2331</c:v>
                </c:pt>
                <c:pt idx="1">
                  <c:v>0.1955</c:v>
                </c:pt>
                <c:pt idx="2">
                  <c:v>0.1053</c:v>
                </c:pt>
              </c:numCache>
            </c:numRef>
          </c:val>
        </c:ser>
        <c:dLbls>
          <c:txPr>
            <a:bodyPr xmlns:a="http://schemas.openxmlformats.org/drawingml/2006/main" anchorCtr="1"/>
            <a:lstStyle xmlns:a="http://schemas.openxmlformats.org/drawingml/2006/main"/>
            <a:p xmlns:a="http://schemas.openxmlformats.org/drawingml/2006/main">
              <a:pPr>
                <a:defRPr sz="1650">
                  <a:latin typeface="Inter"/>
                  <a:ea typeface="Inter"/>
                  <a:cs typeface="Inter"/>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l"/>
        <c:numFmt formatCode="General"/>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Inter"/>
                <a:ea typeface="Inter"/>
                <a:cs typeface="Inter"/>
              </a:defRPr>
            </a:pPr>
          </a:p>
        </c:txPr>
        <c:crossAx val="48672768"/>
      </c:catAx>
      <c:valAx>
        <c:axId val="48672768"/>
        <c:scaling>
          <c:orientation val="minMax"/>
          <c:max val="0.3"/>
          <c:min val="0"/>
        </c:scaling>
        <c:delete val="0"/>
        <c:axPos val="b"/>
        <c:majorGridlines>
          <c:spPr>
            <a:ln xmlns:a="http://schemas.openxmlformats.org/drawingml/2006/main" w="9525">
              <a:solidFill>
                <a:srgbClr val="DCE6EC"/>
              </a:solidFill>
            </a:ln>
          </c:spPr>
        </c:majorGridlines>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Inter"/>
                <a:ea typeface="Inter"/>
                <a:cs typeface="Inter"/>
              </a:defRPr>
            </a:pPr>
          </a:p>
        </c:txPr>
        <c:crossAx val="48650112"/>
        <c:crossBetween val="between"/>
        <c:majorUnit val="0.1"/>
      </c:valAx>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spPr>
            <a:solidFill xmlns:a="http://schemas.openxmlformats.org/drawingml/2006/main">
              <a:srgbClr val="2C637F"/>
            </a:solidFill>
          </c:spPr>
          <c:cat>
            <c:strRef>
              <c:f>'Chart Data'!$A$2:$A$3</c:f>
              <c:strCache>
                <c:ptCount val="2"/>
                <c:pt idx="0">
                  <c:v>Before</c:v>
                </c:pt>
                <c:pt idx="1">
                  <c:v>After</c:v>
                </c:pt>
              </c:strCache>
            </c:strRef>
          </c:cat>
          <c:val>
            <c:numRef>
              <c:f>'Chart Data'!$B$2:$B$3</c:f>
              <c:numCache>
                <c:formatCode>0.00</c:formatCode>
                <c:ptCount val="2"/>
                <c:pt idx="0">
                  <c:v>4.519442</c:v>
                </c:pt>
                <c:pt idx="1">
                  <c:v>8.002262</c:v>
                </c:pt>
              </c:numCache>
            </c:numRef>
          </c:val>
        </c:ser>
        <c:dLbls>
          <c:txPr>
            <a:bodyPr xmlns:a="http://schemas.openxmlformats.org/drawingml/2006/main" anchorCtr="1"/>
            <a:lstStyle xmlns:a="http://schemas.openxmlformats.org/drawingml/2006/main"/>
            <a:p xmlns:a="http://schemas.openxmlformats.org/drawingml/2006/main">
              <a:pPr>
                <a:defRPr sz="1650">
                  <a:latin typeface="Inter"/>
                  <a:ea typeface="Inter"/>
                  <a:cs typeface="Inter"/>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Inter"/>
                <a:ea typeface="Inter"/>
                <a:cs typeface="Inter"/>
              </a:defRPr>
            </a:pPr>
          </a:p>
        </c:txPr>
        <c:crossAx val="48672768"/>
      </c:catAx>
      <c:valAx>
        <c:axId val="48672768"/>
        <c:scaling>
          <c:orientation val="minMax"/>
          <c:max val="10"/>
          <c:min val="0"/>
        </c:scaling>
        <c:delete val="0"/>
        <c:axPos val="l"/>
        <c:majorGridlines>
          <c:spPr>
            <a:ln xmlns:a="http://schemas.openxmlformats.org/drawingml/2006/main" w="9525">
              <a:solidFill>
                <a:srgbClr val="DCE6EC"/>
              </a:solidFill>
            </a:ln>
          </c:spPr>
        </c:majorGridlines>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Inter"/>
                <a:ea typeface="Inter"/>
                <a:cs typeface="Inter"/>
              </a:defRPr>
            </a:pPr>
          </a:p>
        </c:txPr>
        <c:crossAx val="48650112"/>
        <c:crossBetween val="between"/>
        <c:majorUnit val="5"/>
      </c:valAx>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Macro-F1</c:v>
          </c:tx>
          <c:spPr>
            <a:solidFill xmlns:a="http://schemas.openxmlformats.org/drawingml/2006/main">
              <a:srgbClr val="2C637F"/>
            </a:solidFill>
          </c:spPr>
          <c:cat>
            <c:strRef>
              <c:f>'Chart Data'!$A$2:$A$2</c:f>
              <c:strCache>
                <c:ptCount val="1"/>
                <c:pt idx="0">
                  <c:v>Delta</c:v>
                </c:pt>
              </c:strCache>
            </c:strRef>
          </c:cat>
          <c:val>
            <c:numRef>
              <c:f>'Chart Data'!$B$2:$B$2</c:f>
              <c:numCache>
                <c:formatCode>+0.00;-0.00;0</c:formatCode>
                <c:ptCount val="1"/>
                <c:pt idx="0">
                  <c:v>0.7084</c:v>
                </c:pt>
              </c:numCache>
            </c:numRef>
          </c:val>
        </c:ser>
        <c:ser>
          <c:idx val="1"/>
          <c:order val="1"/>
          <c:tx>
            <c:v>Severe F1</c:v>
          </c:tx>
          <c:spPr>
            <a:solidFill xmlns:a="http://schemas.openxmlformats.org/drawingml/2006/main">
              <a:srgbClr val="16766E"/>
            </a:solidFill>
          </c:spPr>
          <c:cat>
            <c:strRef>
              <c:f>'Chart Data'!$C$2:$C$2</c:f>
              <c:strCache>
                <c:ptCount val="1"/>
                <c:pt idx="0">
                  <c:v>Delta</c:v>
                </c:pt>
              </c:strCache>
            </c:strRef>
          </c:cat>
          <c:val>
            <c:numRef>
              <c:f>'Chart Data'!$D$2:$D$2</c:f>
              <c:numCache>
                <c:formatCode>+0.00;-0.00;0</c:formatCode>
                <c:ptCount val="1"/>
                <c:pt idx="0">
                  <c:v>1.5652</c:v>
                </c:pt>
              </c:numCache>
            </c:numRef>
          </c:val>
        </c:ser>
        <c:ser>
          <c:idx val="2"/>
          <c:order val="2"/>
          <c:tx>
            <c:v>Severe recall</c:v>
          </c:tx>
          <c:spPr>
            <a:solidFill xmlns:a="http://schemas.openxmlformats.org/drawingml/2006/main">
              <a:srgbClr val="A86524"/>
            </a:solidFill>
          </c:spPr>
          <c:invertIfNegative val="0"/>
          <c:cat>
            <c:strRef>
              <c:f>'Chart Data'!$E$2:$E$2</c:f>
              <c:strCache>
                <c:ptCount val="1"/>
                <c:pt idx="0">
                  <c:v>Delta</c:v>
                </c:pt>
              </c:strCache>
            </c:strRef>
          </c:cat>
          <c:val>
            <c:numRef>
              <c:f>'Chart Data'!$F$2:$F$2</c:f>
              <c:numCache>
                <c:formatCode>+0.00;-0.00;0</c:formatCode>
                <c:ptCount val="1"/>
                <c:pt idx="0">
                  <c:v>-2.5974</c:v>
                </c:pt>
              </c:numCache>
            </c:numRef>
          </c:val>
        </c:ser>
        <c:dLbls>
          <c:txPr>
            <a:bodyPr xmlns:a="http://schemas.openxmlformats.org/drawingml/2006/main" anchorCtr="1"/>
            <a:lstStyle xmlns:a="http://schemas.openxmlformats.org/drawingml/2006/main"/>
            <a:p xmlns:a="http://schemas.openxmlformats.org/drawingml/2006/main">
              <a:pPr>
                <a:defRPr sz="1800">
                  <a:latin typeface="Inter"/>
                  <a:ea typeface="Inter"/>
                  <a:cs typeface="Inter"/>
                </a:defRPr>
              </a:pPr>
            </a:p>
          </c:txPr>
          <c:dLblPos val="outEnd"/>
          <c:showLegendKey val="0"/>
          <c:showVal val="1"/>
          <c:showCatName val="0"/>
          <c:showSerName val="0"/>
          <c:showPercent val="0"/>
          <c:showBubbleSize val="0"/>
          <c:showLeaderLines val="0"/>
        </c:dLbls>
        <c:gapWidth val="70"/>
        <c:overlap val="-2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Inter"/>
                <a:ea typeface="Inter"/>
                <a:cs typeface="Inter"/>
              </a:defRPr>
            </a:pPr>
          </a:p>
        </c:txPr>
        <c:crossAx val="48672768"/>
      </c:catAx>
      <c:valAx>
        <c:axId val="48672768"/>
        <c:scaling>
          <c:orientation val="minMax"/>
          <c:max val="4"/>
          <c:min val="-4"/>
        </c:scaling>
        <c:delete val="0"/>
        <c:axPos val="b"/>
        <c:majorGridlines>
          <c:spPr>
            <a:ln xmlns:a="http://schemas.openxmlformats.org/drawingml/2006/main" w="9525">
              <a:solidFill>
                <a:srgbClr val="DCE6EC"/>
              </a:solidFill>
            </a:ln>
          </c:spPr>
        </c:majorGridlines>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Inter"/>
                <a:ea typeface="Inter"/>
                <a:cs typeface="Inter"/>
              </a:defRPr>
            </a:pPr>
          </a:p>
        </c:txPr>
        <c:crossAx val="48650112"/>
        <c:crossBetween val="between"/>
        <c:majorUnit val="1"/>
      </c:valAx>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spPr>
            <a:solidFill xmlns:a="http://schemas.openxmlformats.org/drawingml/2006/main">
              <a:srgbClr val="2C637F"/>
            </a:solidFill>
          </c:spPr>
          <c:cat>
            <c:strRef>
              <c:f>'Chart Data'!$A$2:$A$7</c:f>
              <c:strCache>
                <c:ptCount val="6"/>
                <c:pt idx="0">
                  <c:v>Economic</c:v>
                </c:pt>
                <c:pt idx="1">
                  <c:v>Physical</c:v>
                </c:pt>
                <c:pt idx="2">
                  <c:v>Property-related</c:v>
                </c:pt>
                <c:pt idx="3">
                  <c:v>Psychological</c:v>
                </c:pt>
                <c:pt idx="4">
                  <c:v>Sexual</c:v>
                </c:pt>
                <c:pt idx="5">
                  <c:v>Vicarious</c:v>
                </c:pt>
              </c:strCache>
            </c:strRef>
          </c:cat>
          <c:val>
            <c:numRef>
              <c:f>'Chart Data'!$B$2:$B$7</c:f>
              <c:numCache>
                <c:formatCode>0.0</c:formatCode>
                <c:ptCount val="6"/>
                <c:pt idx="0">
                  <c:v>16.171617</c:v>
                </c:pt>
                <c:pt idx="1">
                  <c:v>17.656766</c:v>
                </c:pt>
                <c:pt idx="2">
                  <c:v>23.762376</c:v>
                </c:pt>
                <c:pt idx="3">
                  <c:v>33.0033</c:v>
                </c:pt>
                <c:pt idx="4">
                  <c:v>6.435644</c:v>
                </c:pt>
                <c:pt idx="5">
                  <c:v>20.709571</c:v>
                </c:pt>
              </c:numCache>
            </c:numRef>
          </c:val>
        </c:ser>
        <c:dLbls>
          <c:txPr>
            <a:bodyPr xmlns:a="http://schemas.openxmlformats.org/drawingml/2006/main" anchorCtr="1"/>
            <a:lstStyle xmlns:a="http://schemas.openxmlformats.org/drawingml/2006/main"/>
            <a:p xmlns:a="http://schemas.openxmlformats.org/drawingml/2006/main">
              <a:pPr>
                <a:defRPr sz="1650">
                  <a:latin typeface="Inter"/>
                  <a:ea typeface="Inter"/>
                  <a:cs typeface="Inter"/>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l"/>
        <c:numFmt formatCode="General"/>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Inter"/>
                <a:ea typeface="Inter"/>
                <a:cs typeface="Inter"/>
              </a:defRPr>
            </a:pPr>
          </a:p>
        </c:txPr>
        <c:crossAx val="48672768"/>
      </c:catAx>
      <c:valAx>
        <c:axId val="48672768"/>
        <c:scaling>
          <c:orientation val="minMax"/>
          <c:max val="40"/>
          <c:min val="0"/>
        </c:scaling>
        <c:delete val="0"/>
        <c:axPos val="b"/>
        <c:majorGridlines>
          <c:spPr>
            <a:ln xmlns:a="http://schemas.openxmlformats.org/drawingml/2006/main" w="9525">
              <a:solidFill>
                <a:srgbClr val="DCE6EC"/>
              </a:solidFill>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Inter"/>
                <a:ea typeface="Inter"/>
                <a:cs typeface="Inter"/>
              </a:defRPr>
            </a:pPr>
          </a:p>
        </c:txPr>
        <c:crossAx val="48650112"/>
        <c:crossBetween val="between"/>
        <c:majorUnit val="10"/>
      </c:valAx>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12" name="Picture 2"/>
          <p:cNvPicPr>
            <a:picLocks xmlns:a="http://schemas.openxmlformats.org/drawingml/2006/main" noChangeAspect="1"/>
          </p:cNvPicPr>
          <p:nvPr/>
        </p:nvPicPr>
        <p:blipFill>
          <a:blip xmlns:r="http://schemas.openxmlformats.org/officeDocument/2006/relationships" xmlns:a="http://schemas.openxmlformats.org/drawingml/2006/main" r:embed="R12bdb90a57ec443f"/>
          <a:srcRect xmlns:a="http://schemas.openxmlformats.org/drawingml/2006/main" l="0" t="25645" r="0" b="61469"/>
          <a:stretch xmlns:a="http://schemas.openxmlformats.org/drawingml/2006/main">
            <a:fillRect l="0" t="0" r="0" b="0"/>
          </a:stretch>
        </p:blipFill>
        <p:spPr>
          <a:xfrm xmlns:a="http://schemas.openxmlformats.org/drawingml/2006/main">
            <a:off x="0" y="4763386"/>
            <a:ext cx="12190542" cy="2094614"/>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73925BB1-2678-485A-ADDA-87C2A20C9A28}"/>
              </a:ext>
            </a:extLst>
          </p:cNvPr>
          <p:cNvSpPr>
            <a:spLocks xmlns:a="http://schemas.openxmlformats.org/drawingml/2006/main" noGrp="1"/>
          </p:cNvSpPr>
          <p:nvPr/>
        </p:nvSpPr>
        <p:spPr>
          <a:xfrm xmlns:a="http://schemas.openxmlformats.org/drawingml/2006/main">
            <a:off x="457200" y="857250"/>
            <a:ext cx="11239500"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1">
                <a:solidFill>
                  <a:srgbClr val="2C637F"/>
                </a:solidFill>
                <a:latin typeface="Inter"/>
                <a:ea typeface="Inter"/>
                <a:cs typeface="Inter"/>
              </a:defRPr>
            </a:pPr>
            <a:r>
              <a:rPr sz="4350" b="1">
                <a:solidFill>
                  <a:srgbClr val="2C637F"/>
                </a:solidFill>
                <a:latin typeface="Inter"/>
                <a:ea typeface="Inter"/>
                <a:cs typeface="Inter"/>
              </a:rPr>
              <a:t>Violence report</a:t>
            </a:r>
          </a:p>
          <a:p xmlns:a="http://schemas.openxmlformats.org/drawingml/2006/main">
            <a:pPr>
              <a:defRPr sz="4350" b="1">
                <a:solidFill>
                  <a:srgbClr val="2C637F"/>
                </a:solidFill>
                <a:latin typeface="Inter"/>
                <a:ea typeface="Inter"/>
                <a:cs typeface="Inter"/>
              </a:defRPr>
            </a:pPr>
            <a:r>
              <a:rPr sz="4350" b="1">
                <a:solidFill>
                  <a:srgbClr val="2C637F"/>
                </a:solidFill>
                <a:latin typeface="Inter"/>
                <a:ea typeface="Inter"/>
                <a:cs typeface="Inter"/>
              </a:rPr>
              <a:t>classification</a:t>
            </a:r>
          </a:p>
        </p:txBody>
      </p:sp>
      <p:sp>
        <p:nvSpPr>
          <p:cNvPr id="8" name="">
            <a:extLst xmlns:a="http://schemas.openxmlformats.org/drawingml/2006/main">
              <a:ext uri="{FF2B5EF4-FFF2-40B4-BE49-F238E27FC236}">
                <a16:creationId xmlns:a16="http://schemas.microsoft.com/office/drawing/2014/main" id="{FE406291-400A-42ED-9DE1-18F3CF705DAE}"/>
              </a:ext>
            </a:extLst>
          </p:cNvPr>
          <p:cNvSpPr>
            <a:spLocks xmlns:a="http://schemas.openxmlformats.org/drawingml/2006/main" noGrp="1"/>
          </p:cNvSpPr>
          <p:nvPr/>
        </p:nvSpPr>
        <p:spPr>
          <a:xfrm xmlns:a="http://schemas.openxmlformats.org/drawingml/2006/main">
            <a:off x="457200" y="65532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2C637F"/>
                </a:solidFill>
                <a:latin typeface="Inter"/>
                <a:ea typeface="Inter"/>
                <a:cs typeface="Inter"/>
              </a:defRPr>
            </a:pPr>
            <a:r>
              <a:rPr sz="1125" b="0">
                <a:solidFill>
                  <a:srgbClr val="2C637F"/>
                </a:solidFill>
                <a:latin typeface="Inter"/>
                <a:ea typeface="Inter"/>
                <a:cs typeface="Inter"/>
              </a:rPr>
              <a:t>WOMENHELP 2026   /   IBERLEF</a:t>
            </a:r>
          </a:p>
        </p:txBody>
      </p:sp>
      <p:sp>
        <p:nvSpPr>
          <p:cNvPr id="9" name="">
            <a:extLst xmlns:a="http://schemas.openxmlformats.org/drawingml/2006/main">
              <a:ext uri="{FF2B5EF4-FFF2-40B4-BE49-F238E27FC236}">
                <a16:creationId xmlns:a16="http://schemas.microsoft.com/office/drawing/2014/main" id="{D2DA6970-C1DF-45AA-9765-7C0E18067E0F}"/>
              </a:ext>
            </a:extLst>
          </p:cNvPr>
          <p:cNvSpPr>
            <a:spLocks xmlns:a="http://schemas.openxmlformats.org/drawingml/2006/main" noGrp="1"/>
          </p:cNvSpPr>
          <p:nvPr/>
        </p:nvSpPr>
        <p:spPr>
          <a:xfrm xmlns:a="http://schemas.openxmlformats.org/drawingml/2006/main">
            <a:off x="11334750" y="654367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2C637F"/>
                </a:solidFill>
                <a:latin typeface="Inter"/>
                <a:ea typeface="Inter"/>
                <a:cs typeface="Inter"/>
              </a:defRPr>
            </a:pPr>
            <a:r>
              <a:rPr sz="1200" b="0">
                <a:solidFill>
                  <a:srgbClr val="2C637F"/>
                </a:solidFill>
                <a:latin typeface="Inter"/>
                <a:ea typeface="Inter"/>
                <a:cs typeface="Inter"/>
              </a:rPr>
              <a:t>01</a:t>
            </a:r>
          </a:p>
        </p:txBody>
      </p:sp>
      <p:sp>
        <p:nvSpPr>
          <p:cNvPr id="10" name="">
            <a:extLst xmlns:a="http://schemas.openxmlformats.org/drawingml/2006/main">
              <a:ext uri="{FF2B5EF4-FFF2-40B4-BE49-F238E27FC236}">
                <a16:creationId xmlns:a16="http://schemas.microsoft.com/office/drawing/2014/main" id="{14D815D6-DFB5-4542-8481-F8BCCF842FA3}"/>
              </a:ext>
            </a:extLst>
          </p:cNvPr>
          <p:cNvSpPr>
            <a:spLocks xmlns:a="http://schemas.openxmlformats.org/drawingml/2006/main" noGrp="1"/>
          </p:cNvSpPr>
          <p:nvPr/>
        </p:nvSpPr>
        <p:spPr>
          <a:xfrm xmlns:a="http://schemas.openxmlformats.org/drawingml/2006/main">
            <a:off x="476250" y="3143250"/>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52E3C"/>
                </a:solidFill>
                <a:latin typeface="Inter"/>
                <a:ea typeface="Inter"/>
                <a:cs typeface="Inter"/>
              </a:defRPr>
            </a:pPr>
            <a:r>
              <a:rPr sz="2400" b="0">
                <a:solidFill>
                  <a:srgbClr val="152E3C"/>
                </a:solidFill>
                <a:latin typeface="Inter"/>
                <a:ea typeface="Inter"/>
                <a:cs typeface="Inter"/>
              </a:rPr>
              <a:t>Model selection, Severe augmentation</a:t>
            </a:r>
          </a:p>
          <a:p xmlns:a="http://schemas.openxmlformats.org/drawingml/2006/main">
            <a:pPr>
              <a:defRPr sz="2400" b="0">
                <a:solidFill>
                  <a:srgbClr val="152E3C"/>
                </a:solidFill>
                <a:latin typeface="Inter"/>
                <a:ea typeface="Inter"/>
                <a:cs typeface="Inter"/>
              </a:defRPr>
            </a:pPr>
            <a:r>
              <a:rPr sz="2400" b="0">
                <a:solidFill>
                  <a:srgbClr val="152E3C"/>
                </a:solidFill>
                <a:latin typeface="Inter"/>
                <a:ea typeface="Inter"/>
                <a:cs typeface="Inter"/>
              </a:rPr>
              <a:t>and final decisions around an anchor</a:t>
            </a:r>
          </a:p>
        </p:txBody>
      </p:sp>
      <p:sp>
        <p:nvSpPr>
          <p:cNvPr id="11" name="">
            <a:extLst xmlns:a="http://schemas.openxmlformats.org/drawingml/2006/main">
              <a:ext uri="{FF2B5EF4-FFF2-40B4-BE49-F238E27FC236}">
                <a16:creationId xmlns:a16="http://schemas.microsoft.com/office/drawing/2014/main" id="{D9C3F50C-2056-4D40-8410-A6E4C83DAA22}"/>
              </a:ext>
            </a:extLst>
          </p:cNvPr>
          <p:cNvSpPr>
            <a:spLocks xmlns:a="http://schemas.openxmlformats.org/drawingml/2006/main" noGrp="1"/>
          </p:cNvSpPr>
          <p:nvPr/>
        </p:nvSpPr>
        <p:spPr>
          <a:xfrm xmlns:a="http://schemas.openxmlformats.org/drawingml/2006/main">
            <a:off x="476250" y="4857750"/>
            <a:ext cx="9048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C637F"/>
                </a:solidFill>
                <a:latin typeface="Inter"/>
                <a:ea typeface="Inter"/>
                <a:cs typeface="Inter"/>
              </a:defRPr>
            </a:pPr>
            <a:r>
              <a:rPr sz="1875" b="0">
                <a:solidFill>
                  <a:srgbClr val="2C637F"/>
                </a:solidFill>
                <a:latin typeface="Inter"/>
                <a:ea typeface="Inter"/>
                <a:cs typeface="Inter"/>
              </a:rPr>
              <a:t>Marcel Herrera Rendón</a:t>
            </a:r>
          </a:p>
          <a:p xmlns:a="http://schemas.openxmlformats.org/drawingml/2006/main">
            <a:pPr>
              <a:defRPr sz="1875" b="0">
                <a:solidFill>
                  <a:srgbClr val="2C637F"/>
                </a:solidFill>
                <a:latin typeface="Inter"/>
                <a:ea typeface="Inter"/>
                <a:cs typeface="Inter"/>
              </a:defRPr>
            </a:pPr>
            <a:r>
              <a:rPr sz="1875" b="0">
                <a:solidFill>
                  <a:srgbClr val="2C637F"/>
                </a:solidFill>
                <a:latin typeface="Inter"/>
                <a:ea typeface="Inter"/>
                <a:cs typeface="Inter"/>
              </a:rPr>
              <a:t>Universidad de Sonora</a:t>
            </a:r>
          </a:p>
        </p:txBody>
      </p:sp>
    </p:spTree>
    <p:extLst>
      <p:ext uri="{BB962C8B-B14F-4D97-AF65-F5344CB8AC3E}">
        <p14:creationId xmlns:p14="http://schemas.microsoft.com/office/powerpoint/2010/main" val="3312496169"/>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D03F6D87-E487-4227-9ECD-FC2660C4A725}"/>
              </a:ext>
            </a:extLst>
          </p:cNvPr>
          <p:cNvSpPr>
            <a:spLocks xmlns:a="http://schemas.openxmlformats.org/drawingml/2006/main" noGrp="1"/>
          </p:cNvSpPr>
          <p:nvPr/>
        </p:nvSpPr>
        <p:spPr>
          <a:xfrm xmlns:a="http://schemas.openxmlformats.org/drawingml/2006/main">
            <a:off x="457200" y="304800"/>
            <a:ext cx="11239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75" b="1">
                <a:solidFill>
                  <a:srgbClr val="2C637F"/>
                </a:solidFill>
                <a:latin typeface="Inter"/>
                <a:ea typeface="Inter"/>
                <a:cs typeface="Inter"/>
              </a:defRPr>
            </a:pPr>
            <a:r>
              <a:rPr sz="3075" b="1">
                <a:solidFill>
                  <a:srgbClr val="2C637F"/>
                </a:solidFill>
                <a:latin typeface="Inter"/>
                <a:ea typeface="Inter"/>
                <a:cs typeface="Inter"/>
              </a:rPr>
              <a:t>Three families, three classification paths</a:t>
            </a:r>
          </a:p>
        </p:txBody>
      </p:sp>
      <p:sp>
        <p:nvSpPr>
          <p:cNvPr id="2" name="">
            <a:extLst xmlns:a="http://schemas.openxmlformats.org/drawingml/2006/main">
              <a:ext uri="{FF2B5EF4-FFF2-40B4-BE49-F238E27FC236}">
                <a16:creationId xmlns:a16="http://schemas.microsoft.com/office/drawing/2014/main" id="{108D37F2-1C52-43CD-A452-6EF9937EEEFA}"/>
              </a:ext>
            </a:extLst>
          </p:cNvPr>
          <p:cNvSpPr>
            <a:spLocks xmlns:a="http://schemas.openxmlformats.org/drawingml/2006/main" noGrp="1"/>
          </p:cNvSpPr>
          <p:nvPr/>
        </p:nvSpPr>
        <p:spPr>
          <a:xfrm xmlns:a="http://schemas.openxmlformats.org/drawingml/2006/main">
            <a:off x="457200" y="65532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2C637F"/>
                </a:solidFill>
                <a:latin typeface="Inter"/>
                <a:ea typeface="Inter"/>
                <a:cs typeface="Inter"/>
              </a:defRPr>
            </a:pPr>
            <a:r>
              <a:rPr sz="1125" b="0">
                <a:solidFill>
                  <a:srgbClr val="2C637F"/>
                </a:solidFill>
                <a:latin typeface="Inter"/>
                <a:ea typeface="Inter"/>
                <a:cs typeface="Inter"/>
              </a:rPr>
              <a:t>WOMENHELP 2026   /   IBERLEF</a:t>
            </a:r>
          </a:p>
        </p:txBody>
      </p:sp>
      <p:sp>
        <p:nvSpPr>
          <p:cNvPr id="3" name="">
            <a:extLst xmlns:a="http://schemas.openxmlformats.org/drawingml/2006/main">
              <a:ext uri="{FF2B5EF4-FFF2-40B4-BE49-F238E27FC236}">
                <a16:creationId xmlns:a16="http://schemas.microsoft.com/office/drawing/2014/main" id="{C7EE9CE4-AB7B-49D9-B906-29B93A02E1C3}"/>
              </a:ext>
            </a:extLst>
          </p:cNvPr>
          <p:cNvSpPr>
            <a:spLocks xmlns:a="http://schemas.openxmlformats.org/drawingml/2006/main" noGrp="1"/>
          </p:cNvSpPr>
          <p:nvPr/>
        </p:nvSpPr>
        <p:spPr>
          <a:xfrm xmlns:a="http://schemas.openxmlformats.org/drawingml/2006/main">
            <a:off x="11334750" y="654367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2C637F"/>
                </a:solidFill>
                <a:latin typeface="Inter"/>
                <a:ea typeface="Inter"/>
                <a:cs typeface="Inter"/>
              </a:defRPr>
            </a:pPr>
            <a:r>
              <a:rPr sz="1200" b="0">
                <a:solidFill>
                  <a:srgbClr val="2C637F"/>
                </a:solidFill>
                <a:latin typeface="Inter"/>
                <a:ea typeface="Inter"/>
                <a:cs typeface="Inter"/>
              </a:rPr>
              <a:t>02</a:t>
            </a:r>
          </a:p>
        </p:txBody>
      </p:sp>
      <p:sp>
        <p:nvSpPr>
          <p:cNvPr id="4" name="">
            <a:extLst xmlns:a="http://schemas.openxmlformats.org/drawingml/2006/main">
              <a:ext uri="{FF2B5EF4-FFF2-40B4-BE49-F238E27FC236}">
                <a16:creationId xmlns:a16="http://schemas.microsoft.com/office/drawing/2014/main" id="{4139641F-B45B-4CE3-82BF-1DB520FD8BBB}"/>
              </a:ext>
            </a:extLst>
          </p:cNvPr>
          <p:cNvSpPr>
            <a:spLocks xmlns:a="http://schemas.openxmlformats.org/drawingml/2006/main" noGrp="1"/>
          </p:cNvSpPr>
          <p:nvPr/>
        </p:nvSpPr>
        <p:spPr>
          <a:xfrm xmlns:a="http://schemas.openxmlformats.org/drawingml/2006/main">
            <a:off x="457200" y="1857375"/>
            <a:ext cx="295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C637F"/>
                </a:solidFill>
                <a:latin typeface="Inter"/>
                <a:ea typeface="Inter"/>
                <a:cs typeface="Inter"/>
              </a:defRPr>
            </a:pPr>
            <a:r>
              <a:rPr sz="2175" b="1">
                <a:solidFill>
                  <a:srgbClr val="2C637F"/>
                </a:solidFill>
                <a:latin typeface="Inter"/>
                <a:ea typeface="Inter"/>
                <a:cs typeface="Inter"/>
              </a:rPr>
              <a:t>Classical</a:t>
            </a:r>
          </a:p>
        </p:txBody>
      </p:sp>
      <p:sp>
        <p:nvSpPr>
          <p:cNvPr id="5" name="">
            <a:extLst xmlns:a="http://schemas.openxmlformats.org/drawingml/2006/main">
              <a:ext uri="{FF2B5EF4-FFF2-40B4-BE49-F238E27FC236}">
                <a16:creationId xmlns:a16="http://schemas.microsoft.com/office/drawing/2014/main" id="{EE4BF1E3-D5A1-4604-AE49-36C6BEB8AE9F}"/>
              </a:ext>
            </a:extLst>
          </p:cNvPr>
          <p:cNvSpPr>
            <a:spLocks xmlns:a="http://schemas.openxmlformats.org/drawingml/2006/main" noGrp="1"/>
          </p:cNvSpPr>
          <p:nvPr/>
        </p:nvSpPr>
        <p:spPr>
          <a:xfrm xmlns:a="http://schemas.openxmlformats.org/drawingml/2006/main">
            <a:off x="3381375" y="1762125"/>
            <a:ext cx="4333875" cy="1047750"/>
          </a:xfrm>
          <a:prstGeom xmlns:a="http://schemas.openxmlformats.org/drawingml/2006/main" prst="rect">
            <a:avLst/>
          </a:prstGeom>
          <a:solidFill xmlns:a="http://schemas.openxmlformats.org/drawingml/2006/main">
            <a:srgbClr val="E2F2FA"/>
          </a:solidFill>
          <a:ln xmlns:a="http://schemas.openxmlformats.org/drawingml/2006/main" w="13335">
            <a:solidFill>
              <a:srgbClr val="2C637F"/>
            </a:solidFill>
          </a:ln>
        </p:spPr>
      </p:sp>
      <p:sp>
        <p:nvSpPr>
          <p:cNvPr id="6" name="">
            <a:extLst xmlns:a="http://schemas.openxmlformats.org/drawingml/2006/main">
              <a:ext uri="{FF2B5EF4-FFF2-40B4-BE49-F238E27FC236}">
                <a16:creationId xmlns:a16="http://schemas.microsoft.com/office/drawing/2014/main" id="{69730DD6-A79C-4DCD-9B38-6F02620BACBB}"/>
              </a:ext>
            </a:extLst>
          </p:cNvPr>
          <p:cNvSpPr>
            <a:spLocks xmlns:a="http://schemas.openxmlformats.org/drawingml/2006/main" noGrp="1"/>
          </p:cNvSpPr>
          <p:nvPr/>
        </p:nvSpPr>
        <p:spPr>
          <a:xfrm xmlns:a="http://schemas.openxmlformats.org/drawingml/2006/main">
            <a:off x="3524250" y="1885950"/>
            <a:ext cx="40481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2C637F"/>
                </a:solidFill>
                <a:latin typeface="Inter"/>
                <a:ea typeface="Inter"/>
                <a:cs typeface="Inter"/>
              </a:defRPr>
            </a:pPr>
            <a:r>
              <a:rPr sz="1800" b="0">
                <a:solidFill>
                  <a:srgbClr val="2C637F"/>
                </a:solidFill>
                <a:latin typeface="Inter"/>
                <a:ea typeface="Inter"/>
                <a:cs typeface="Inter"/>
              </a:rPr>
              <a:t>Words + characters</a:t>
            </a:r>
          </a:p>
          <a:p xmlns:a="http://schemas.openxmlformats.org/drawingml/2006/main">
            <a:pPr>
              <a:defRPr sz="1800" b="0">
                <a:solidFill>
                  <a:srgbClr val="2C637F"/>
                </a:solidFill>
                <a:latin typeface="Inter"/>
                <a:ea typeface="Inter"/>
                <a:cs typeface="Inter"/>
              </a:defRPr>
            </a:pPr>
            <a:r>
              <a:rPr sz="1800" b="0">
                <a:solidFill>
                  <a:srgbClr val="2C637F"/>
                </a:solidFill>
                <a:latin typeface="Inter"/>
                <a:ea typeface="Inter"/>
                <a:cs typeface="Inter"/>
              </a:rPr>
              <a:t>TF-IDF vector</a:t>
            </a:r>
          </a:p>
        </p:txBody>
      </p:sp>
      <p:sp>
        <p:nvSpPr>
          <p:cNvPr id="7" name="">
            <a:extLst xmlns:a="http://schemas.openxmlformats.org/drawingml/2006/main">
              <a:ext uri="{FF2B5EF4-FFF2-40B4-BE49-F238E27FC236}">
                <a16:creationId xmlns:a16="http://schemas.microsoft.com/office/drawing/2014/main" id="{035AA6F3-BF5D-484A-AA9F-168BAE251A7B}"/>
              </a:ext>
            </a:extLst>
          </p:cNvPr>
          <p:cNvSpPr>
            <a:spLocks xmlns:a="http://schemas.openxmlformats.org/drawingml/2006/main" noGrp="1"/>
          </p:cNvSpPr>
          <p:nvPr/>
        </p:nvSpPr>
        <p:spPr>
          <a:xfrm xmlns:a="http://schemas.openxmlformats.org/drawingml/2006/main">
            <a:off x="8591550" y="1762125"/>
            <a:ext cx="3095625" cy="1047750"/>
          </a:xfrm>
          <a:prstGeom xmlns:a="http://schemas.openxmlformats.org/drawingml/2006/main" prst="rect">
            <a:avLst/>
          </a:prstGeom>
          <a:solidFill xmlns:a="http://schemas.openxmlformats.org/drawingml/2006/main">
            <a:srgbClr val="E2F2FA"/>
          </a:solidFill>
          <a:ln xmlns:a="http://schemas.openxmlformats.org/drawingml/2006/main" w="13335">
            <a:solidFill>
              <a:srgbClr val="2C637F"/>
            </a:solidFill>
          </a:ln>
        </p:spPr>
      </p:sp>
      <p:sp>
        <p:nvSpPr>
          <p:cNvPr id="8" name="">
            <a:extLst xmlns:a="http://schemas.openxmlformats.org/drawingml/2006/main">
              <a:ext uri="{FF2B5EF4-FFF2-40B4-BE49-F238E27FC236}">
                <a16:creationId xmlns:a16="http://schemas.microsoft.com/office/drawing/2014/main" id="{255FD766-6528-4371-8E94-601A586B4315}"/>
              </a:ext>
            </a:extLst>
          </p:cNvPr>
          <p:cNvSpPr>
            <a:spLocks xmlns:a="http://schemas.openxmlformats.org/drawingml/2006/main" noGrp="1"/>
          </p:cNvSpPr>
          <p:nvPr/>
        </p:nvSpPr>
        <p:spPr>
          <a:xfrm xmlns:a="http://schemas.openxmlformats.org/drawingml/2006/main">
            <a:off x="8734425" y="1885950"/>
            <a:ext cx="2809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2C637F"/>
                </a:solidFill>
                <a:latin typeface="Inter"/>
                <a:ea typeface="Inter"/>
                <a:cs typeface="Inter"/>
              </a:defRPr>
            </a:pPr>
            <a:r>
              <a:rPr sz="1800" b="0">
                <a:solidFill>
                  <a:srgbClr val="2C637F"/>
                </a:solidFill>
                <a:latin typeface="Inter"/>
                <a:ea typeface="Inter"/>
                <a:cs typeface="Inter"/>
              </a:rPr>
              <a:t>Classifier</a:t>
            </a:r>
          </a:p>
          <a:p xmlns:a="http://schemas.openxmlformats.org/drawingml/2006/main">
            <a:pPr>
              <a:defRPr sz="1800" b="0">
                <a:solidFill>
                  <a:srgbClr val="2C637F"/>
                </a:solidFill>
                <a:latin typeface="Inter"/>
                <a:ea typeface="Inter"/>
                <a:cs typeface="Inter"/>
              </a:defRPr>
            </a:pPr>
            <a:r>
              <a:rPr sz="1800" b="0">
                <a:solidFill>
                  <a:srgbClr val="2C637F"/>
                </a:solidFill>
                <a:latin typeface="Inter"/>
                <a:ea typeface="Inter"/>
                <a:cs typeface="Inter"/>
              </a:rPr>
              <a:t>Class scores</a:t>
            </a:r>
          </a:p>
        </p:txBody>
      </p:sp>
      <p:cxnSp>
        <p:nvCxnSpPr>
          <p:cNvPr id="31" name=""/>
          <p:cNvCxnSpPr>
            <a:stCxn xmlns:a="http://schemas.openxmlformats.org/drawingml/2006/main" id="5" idx="3"/>
            <a:endCxn xmlns:a="http://schemas.openxmlformats.org/drawingml/2006/main" id="7" idx="1"/>
          </p:cNvCxnSpPr>
          <p:nvPr/>
        </p:nvCxnSpPr>
        <p:spPr>
          <a:xfrm xmlns:a="http://schemas.openxmlformats.org/drawingml/2006/main">
            <a:off x="7715250" y="2286000"/>
            <a:ext cx="876300" cy="0"/>
          </a:xfrm>
          <a:prstGeom xmlns:a="http://schemas.openxmlformats.org/drawingml/2006/main" prst="straightConnector1">
            <a:avLst/>
          </a:prstGeom>
          <a:ln xmlns:a="http://schemas.openxmlformats.org/drawingml/2006/main" w="21908">
            <a:solidFill>
              <a:srgbClr val="2C637F"/>
            </a:solidFill>
            <a:headEnd type="none" w="med" len="med"/>
            <a:tailEnd type="triangle" w="med" len="med"/>
          </a:ln>
        </p:spPr>
      </p:cxnSp>
      <p:sp>
        <p:nvSpPr>
          <p:cNvPr id="10" name="">
            <a:extLst xmlns:a="http://schemas.openxmlformats.org/drawingml/2006/main">
              <a:ext uri="{FF2B5EF4-FFF2-40B4-BE49-F238E27FC236}">
                <a16:creationId xmlns:a16="http://schemas.microsoft.com/office/drawing/2014/main" id="{EE172544-B44D-4F3C-A03F-0DB97B38F173}"/>
              </a:ext>
            </a:extLst>
          </p:cNvPr>
          <p:cNvSpPr>
            <a:spLocks xmlns:a="http://schemas.openxmlformats.org/drawingml/2006/main" noGrp="1"/>
          </p:cNvSpPr>
          <p:nvPr/>
        </p:nvSpPr>
        <p:spPr>
          <a:xfrm xmlns:a="http://schemas.openxmlformats.org/drawingml/2006/main">
            <a:off x="457200" y="3400425"/>
            <a:ext cx="295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C637F"/>
                </a:solidFill>
                <a:latin typeface="Inter"/>
                <a:ea typeface="Inter"/>
                <a:cs typeface="Inter"/>
              </a:defRPr>
            </a:pPr>
            <a:r>
              <a:rPr sz="2175" b="1">
                <a:solidFill>
                  <a:srgbClr val="2C637F"/>
                </a:solidFill>
                <a:latin typeface="Inter"/>
                <a:ea typeface="Inter"/>
                <a:cs typeface="Inter"/>
              </a:rPr>
              <a:t>Generative LLMs</a:t>
            </a:r>
          </a:p>
        </p:txBody>
      </p:sp>
      <p:sp>
        <p:nvSpPr>
          <p:cNvPr id="11" name="">
            <a:extLst xmlns:a="http://schemas.openxmlformats.org/drawingml/2006/main">
              <a:ext uri="{FF2B5EF4-FFF2-40B4-BE49-F238E27FC236}">
                <a16:creationId xmlns:a16="http://schemas.microsoft.com/office/drawing/2014/main" id="{F12069A4-CC17-4FCB-9CFC-91B93397D028}"/>
              </a:ext>
            </a:extLst>
          </p:cNvPr>
          <p:cNvSpPr>
            <a:spLocks xmlns:a="http://schemas.openxmlformats.org/drawingml/2006/main" noGrp="1"/>
          </p:cNvSpPr>
          <p:nvPr/>
        </p:nvSpPr>
        <p:spPr>
          <a:xfrm xmlns:a="http://schemas.openxmlformats.org/drawingml/2006/main">
            <a:off x="3381375" y="3305175"/>
            <a:ext cx="4333875" cy="1047750"/>
          </a:xfrm>
          <a:prstGeom xmlns:a="http://schemas.openxmlformats.org/drawingml/2006/main" prst="rect">
            <a:avLst/>
          </a:prstGeom>
          <a:solidFill xmlns:a="http://schemas.openxmlformats.org/drawingml/2006/main">
            <a:srgbClr val="E2F2FA"/>
          </a:solidFill>
          <a:ln xmlns:a="http://schemas.openxmlformats.org/drawingml/2006/main" w="13335">
            <a:solidFill>
              <a:srgbClr val="2C637F"/>
            </a:solidFill>
          </a:ln>
        </p:spPr>
      </p:sp>
      <p:sp>
        <p:nvSpPr>
          <p:cNvPr id="12" name="">
            <a:extLst xmlns:a="http://schemas.openxmlformats.org/drawingml/2006/main">
              <a:ext uri="{FF2B5EF4-FFF2-40B4-BE49-F238E27FC236}">
                <a16:creationId xmlns:a16="http://schemas.microsoft.com/office/drawing/2014/main" id="{E22F9AA1-385B-41BD-85DC-1F3747427906}"/>
              </a:ext>
            </a:extLst>
          </p:cNvPr>
          <p:cNvSpPr>
            <a:spLocks xmlns:a="http://schemas.openxmlformats.org/drawingml/2006/main" noGrp="1"/>
          </p:cNvSpPr>
          <p:nvPr/>
        </p:nvSpPr>
        <p:spPr>
          <a:xfrm xmlns:a="http://schemas.openxmlformats.org/drawingml/2006/main">
            <a:off x="3524250" y="3429000"/>
            <a:ext cx="40481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2C637F"/>
                </a:solidFill>
                <a:latin typeface="Inter"/>
                <a:ea typeface="Inter"/>
                <a:cs typeface="Inter"/>
              </a:defRPr>
            </a:pPr>
            <a:r>
              <a:rPr sz="1800" b="0">
                <a:solidFill>
                  <a:srgbClr val="2C637F"/>
                </a:solidFill>
                <a:latin typeface="Inter"/>
                <a:ea typeface="Inter"/>
                <a:cs typeface="Inter"/>
              </a:rPr>
              <a:t>Instruction + report</a:t>
            </a:r>
          </a:p>
          <a:p xmlns:a="http://schemas.openxmlformats.org/drawingml/2006/main">
            <a:pPr>
              <a:defRPr sz="1800" b="0">
                <a:solidFill>
                  <a:srgbClr val="2C637F"/>
                </a:solidFill>
                <a:latin typeface="Inter"/>
                <a:ea typeface="Inter"/>
                <a:cs typeface="Inter"/>
              </a:defRPr>
            </a:pPr>
            <a:r>
              <a:rPr sz="1800" b="0">
                <a:solidFill>
                  <a:srgbClr val="2C637F"/>
                </a:solidFill>
                <a:latin typeface="Inter"/>
                <a:ea typeface="Inter"/>
                <a:cs typeface="Inter"/>
              </a:rPr>
              <a:t>Prompt / LoRA</a:t>
            </a:r>
          </a:p>
        </p:txBody>
      </p:sp>
      <p:sp>
        <p:nvSpPr>
          <p:cNvPr id="13" name="">
            <a:extLst xmlns:a="http://schemas.openxmlformats.org/drawingml/2006/main">
              <a:ext uri="{FF2B5EF4-FFF2-40B4-BE49-F238E27FC236}">
                <a16:creationId xmlns:a16="http://schemas.microsoft.com/office/drawing/2014/main" id="{4F4CFB6A-40C0-4984-A00E-96F73B3FCB30}"/>
              </a:ext>
            </a:extLst>
          </p:cNvPr>
          <p:cNvSpPr>
            <a:spLocks xmlns:a="http://schemas.openxmlformats.org/drawingml/2006/main" noGrp="1"/>
          </p:cNvSpPr>
          <p:nvPr/>
        </p:nvSpPr>
        <p:spPr>
          <a:xfrm xmlns:a="http://schemas.openxmlformats.org/drawingml/2006/main">
            <a:off x="8591550" y="3305175"/>
            <a:ext cx="3095625" cy="1047750"/>
          </a:xfrm>
          <a:prstGeom xmlns:a="http://schemas.openxmlformats.org/drawingml/2006/main" prst="rect">
            <a:avLst/>
          </a:prstGeom>
          <a:solidFill xmlns:a="http://schemas.openxmlformats.org/drawingml/2006/main">
            <a:srgbClr val="E2F2FA"/>
          </a:solidFill>
          <a:ln xmlns:a="http://schemas.openxmlformats.org/drawingml/2006/main" w="13335">
            <a:solidFill>
              <a:srgbClr val="2C637F"/>
            </a:solidFill>
          </a:ln>
        </p:spPr>
      </p:sp>
      <p:sp>
        <p:nvSpPr>
          <p:cNvPr id="14" name="">
            <a:extLst xmlns:a="http://schemas.openxmlformats.org/drawingml/2006/main">
              <a:ext uri="{FF2B5EF4-FFF2-40B4-BE49-F238E27FC236}">
                <a16:creationId xmlns:a16="http://schemas.microsoft.com/office/drawing/2014/main" id="{D744ECD0-49ED-4CF1-A468-944B92339D76}"/>
              </a:ext>
            </a:extLst>
          </p:cNvPr>
          <p:cNvSpPr>
            <a:spLocks xmlns:a="http://schemas.openxmlformats.org/drawingml/2006/main" noGrp="1"/>
          </p:cNvSpPr>
          <p:nvPr/>
        </p:nvSpPr>
        <p:spPr>
          <a:xfrm xmlns:a="http://schemas.openxmlformats.org/drawingml/2006/main">
            <a:off x="8734425" y="3429000"/>
            <a:ext cx="2809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2C637F"/>
                </a:solidFill>
                <a:latin typeface="Inter"/>
                <a:ea typeface="Inter"/>
                <a:cs typeface="Inter"/>
              </a:defRPr>
            </a:pPr>
            <a:r>
              <a:rPr sz="1800" b="0">
                <a:solidFill>
                  <a:srgbClr val="2C637F"/>
                </a:solidFill>
                <a:latin typeface="Inter"/>
                <a:ea typeface="Inter"/>
                <a:cs typeface="Inter"/>
              </a:rPr>
              <a:t>Generation</a:t>
            </a:r>
          </a:p>
          <a:p xmlns:a="http://schemas.openxmlformats.org/drawingml/2006/main">
            <a:pPr>
              <a:defRPr sz="1800" b="0">
                <a:solidFill>
                  <a:srgbClr val="2C637F"/>
                </a:solidFill>
                <a:latin typeface="Inter"/>
                <a:ea typeface="Inter"/>
                <a:cs typeface="Inter"/>
              </a:defRPr>
            </a:pPr>
            <a:r>
              <a:rPr sz="1800" b="0">
                <a:solidFill>
                  <a:srgbClr val="2C637F"/>
                </a:solidFill>
                <a:latin typeface="Inter"/>
                <a:ea typeface="Inter"/>
                <a:cs typeface="Inter"/>
              </a:rPr>
              <a:t>JSON response</a:t>
            </a:r>
          </a:p>
        </p:txBody>
      </p:sp>
      <p:cxnSp>
        <p:nvCxnSpPr>
          <p:cNvPr id="37" name=""/>
          <p:cNvCxnSpPr>
            <a:stCxn xmlns:a="http://schemas.openxmlformats.org/drawingml/2006/main" id="11" idx="3"/>
            <a:endCxn xmlns:a="http://schemas.openxmlformats.org/drawingml/2006/main" id="13" idx="1"/>
          </p:cNvCxnSpPr>
          <p:nvPr/>
        </p:nvCxnSpPr>
        <p:spPr>
          <a:xfrm xmlns:a="http://schemas.openxmlformats.org/drawingml/2006/main">
            <a:off x="7715250" y="3829050"/>
            <a:ext cx="876300" cy="0"/>
          </a:xfrm>
          <a:prstGeom xmlns:a="http://schemas.openxmlformats.org/drawingml/2006/main" prst="straightConnector1">
            <a:avLst/>
          </a:prstGeom>
          <a:ln xmlns:a="http://schemas.openxmlformats.org/drawingml/2006/main" w="21908">
            <a:solidFill>
              <a:srgbClr val="2C637F"/>
            </a:solidFill>
            <a:headEnd type="none" w="med" len="med"/>
            <a:tailEnd type="triangle" w="med" len="med"/>
          </a:ln>
        </p:spPr>
      </p:cxnSp>
      <p:sp>
        <p:nvSpPr>
          <p:cNvPr id="16" name="">
            <a:extLst xmlns:a="http://schemas.openxmlformats.org/drawingml/2006/main">
              <a:ext uri="{FF2B5EF4-FFF2-40B4-BE49-F238E27FC236}">
                <a16:creationId xmlns:a16="http://schemas.microsoft.com/office/drawing/2014/main" id="{89F67E8B-3A5B-4B88-9587-BC469503A0B1}"/>
              </a:ext>
            </a:extLst>
          </p:cNvPr>
          <p:cNvSpPr>
            <a:spLocks xmlns:a="http://schemas.openxmlformats.org/drawingml/2006/main" noGrp="1"/>
          </p:cNvSpPr>
          <p:nvPr/>
        </p:nvSpPr>
        <p:spPr>
          <a:xfrm xmlns:a="http://schemas.openxmlformats.org/drawingml/2006/main">
            <a:off x="457200" y="4943475"/>
            <a:ext cx="295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C637F"/>
                </a:solidFill>
                <a:latin typeface="Inter"/>
                <a:ea typeface="Inter"/>
                <a:cs typeface="Inter"/>
              </a:defRPr>
            </a:pPr>
            <a:r>
              <a:rPr sz="2175" b="1">
                <a:solidFill>
                  <a:srgbClr val="2C637F"/>
                </a:solidFill>
                <a:latin typeface="Inter"/>
                <a:ea typeface="Inter"/>
                <a:cs typeface="Inter"/>
              </a:rPr>
              <a:t>Transformer encoders</a:t>
            </a:r>
          </a:p>
        </p:txBody>
      </p:sp>
      <p:sp>
        <p:nvSpPr>
          <p:cNvPr id="17" name="">
            <a:extLst xmlns:a="http://schemas.openxmlformats.org/drawingml/2006/main">
              <a:ext uri="{FF2B5EF4-FFF2-40B4-BE49-F238E27FC236}">
                <a16:creationId xmlns:a16="http://schemas.microsoft.com/office/drawing/2014/main" id="{FD5DD57E-6BDF-453C-A3B6-6DD17B5E7938}"/>
              </a:ext>
            </a:extLst>
          </p:cNvPr>
          <p:cNvSpPr>
            <a:spLocks xmlns:a="http://schemas.openxmlformats.org/drawingml/2006/main" noGrp="1"/>
          </p:cNvSpPr>
          <p:nvPr/>
        </p:nvSpPr>
        <p:spPr>
          <a:xfrm xmlns:a="http://schemas.openxmlformats.org/drawingml/2006/main">
            <a:off x="3381375" y="4848225"/>
            <a:ext cx="4333875" cy="1047750"/>
          </a:xfrm>
          <a:prstGeom xmlns:a="http://schemas.openxmlformats.org/drawingml/2006/main" prst="rect">
            <a:avLst/>
          </a:prstGeom>
          <a:solidFill xmlns:a="http://schemas.openxmlformats.org/drawingml/2006/main">
            <a:srgbClr val="E2F2FA"/>
          </a:solidFill>
          <a:ln xmlns:a="http://schemas.openxmlformats.org/drawingml/2006/main" w="13335">
            <a:solidFill>
              <a:srgbClr val="2C637F"/>
            </a:solidFill>
          </a:ln>
        </p:spPr>
      </p:sp>
      <p:sp>
        <p:nvSpPr>
          <p:cNvPr id="18" name="">
            <a:extLst xmlns:a="http://schemas.openxmlformats.org/drawingml/2006/main">
              <a:ext uri="{FF2B5EF4-FFF2-40B4-BE49-F238E27FC236}">
                <a16:creationId xmlns:a16="http://schemas.microsoft.com/office/drawing/2014/main" id="{2523631F-AF2B-4AA7-9F40-4ED1C0AF8184}"/>
              </a:ext>
            </a:extLst>
          </p:cNvPr>
          <p:cNvSpPr>
            <a:spLocks xmlns:a="http://schemas.openxmlformats.org/drawingml/2006/main" noGrp="1"/>
          </p:cNvSpPr>
          <p:nvPr/>
        </p:nvSpPr>
        <p:spPr>
          <a:xfrm xmlns:a="http://schemas.openxmlformats.org/drawingml/2006/main">
            <a:off x="3524250" y="4972050"/>
            <a:ext cx="40481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2C637F"/>
                </a:solidFill>
                <a:latin typeface="Inter"/>
                <a:ea typeface="Inter"/>
                <a:cs typeface="Inter"/>
              </a:defRPr>
            </a:pPr>
            <a:r>
              <a:rPr sz="1800" b="0">
                <a:solidFill>
                  <a:srgbClr val="2C637F"/>
                </a:solidFill>
                <a:latin typeface="Inter"/>
                <a:ea typeface="Inter"/>
                <a:cs typeface="Inter"/>
              </a:rPr>
              <a:t>Tokens + context</a:t>
            </a:r>
          </a:p>
          <a:p xmlns:a="http://schemas.openxmlformats.org/drawingml/2006/main">
            <a:pPr>
              <a:defRPr sz="1800" b="0">
                <a:solidFill>
                  <a:srgbClr val="2C637F"/>
                </a:solidFill>
                <a:latin typeface="Inter"/>
                <a:ea typeface="Inter"/>
                <a:cs typeface="Inter"/>
              </a:defRPr>
            </a:pPr>
            <a:r>
              <a:rPr sz="1800" b="0">
                <a:solidFill>
                  <a:srgbClr val="2C637F"/>
                </a:solidFill>
                <a:latin typeface="Inter"/>
                <a:ea typeface="Inter"/>
                <a:cs typeface="Inter"/>
              </a:rPr>
              <a:t>BETO / Electricidad / BERTin</a:t>
            </a:r>
          </a:p>
        </p:txBody>
      </p:sp>
      <p:sp>
        <p:nvSpPr>
          <p:cNvPr id="19" name="">
            <a:extLst xmlns:a="http://schemas.openxmlformats.org/drawingml/2006/main">
              <a:ext uri="{FF2B5EF4-FFF2-40B4-BE49-F238E27FC236}">
                <a16:creationId xmlns:a16="http://schemas.microsoft.com/office/drawing/2014/main" id="{976B3506-C1CD-45BE-9271-820CF9220345}"/>
              </a:ext>
            </a:extLst>
          </p:cNvPr>
          <p:cNvSpPr>
            <a:spLocks xmlns:a="http://schemas.openxmlformats.org/drawingml/2006/main" noGrp="1"/>
          </p:cNvSpPr>
          <p:nvPr/>
        </p:nvSpPr>
        <p:spPr>
          <a:xfrm xmlns:a="http://schemas.openxmlformats.org/drawingml/2006/main">
            <a:off x="8591550" y="4848225"/>
            <a:ext cx="3095625" cy="1047750"/>
          </a:xfrm>
          <a:prstGeom xmlns:a="http://schemas.openxmlformats.org/drawingml/2006/main" prst="rect">
            <a:avLst/>
          </a:prstGeom>
          <a:solidFill xmlns:a="http://schemas.openxmlformats.org/drawingml/2006/main">
            <a:srgbClr val="E2F2FA"/>
          </a:solidFill>
          <a:ln xmlns:a="http://schemas.openxmlformats.org/drawingml/2006/main" w="13335">
            <a:solidFill>
              <a:srgbClr val="2C637F"/>
            </a:solidFill>
          </a:ln>
        </p:spPr>
      </p:sp>
      <p:sp>
        <p:nvSpPr>
          <p:cNvPr id="20" name="">
            <a:extLst xmlns:a="http://schemas.openxmlformats.org/drawingml/2006/main">
              <a:ext uri="{FF2B5EF4-FFF2-40B4-BE49-F238E27FC236}">
                <a16:creationId xmlns:a16="http://schemas.microsoft.com/office/drawing/2014/main" id="{57633328-CD3E-457D-A9D4-11D8279F4005}"/>
              </a:ext>
            </a:extLst>
          </p:cNvPr>
          <p:cNvSpPr>
            <a:spLocks xmlns:a="http://schemas.openxmlformats.org/drawingml/2006/main" noGrp="1"/>
          </p:cNvSpPr>
          <p:nvPr/>
        </p:nvSpPr>
        <p:spPr>
          <a:xfrm xmlns:a="http://schemas.openxmlformats.org/drawingml/2006/main">
            <a:off x="8734425" y="4972050"/>
            <a:ext cx="2809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2C637F"/>
                </a:solidFill>
                <a:latin typeface="Inter"/>
                <a:ea typeface="Inter"/>
                <a:cs typeface="Inter"/>
              </a:defRPr>
            </a:pPr>
            <a:r>
              <a:rPr sz="1800" b="0">
                <a:solidFill>
                  <a:srgbClr val="2C637F"/>
                </a:solidFill>
                <a:latin typeface="Inter"/>
                <a:ea typeface="Inter"/>
                <a:cs typeface="Inter"/>
              </a:rPr>
              <a:t>Supervised heads</a:t>
            </a:r>
          </a:p>
          <a:p xmlns:a="http://schemas.openxmlformats.org/drawingml/2006/main">
            <a:pPr>
              <a:defRPr sz="1800" b="0">
                <a:solidFill>
                  <a:srgbClr val="2C637F"/>
                </a:solidFill>
                <a:latin typeface="Inter"/>
                <a:ea typeface="Inter"/>
                <a:cs typeface="Inter"/>
              </a:defRPr>
            </a:pPr>
            <a:r>
              <a:rPr sz="1800" b="0">
                <a:solidFill>
                  <a:srgbClr val="2C637F"/>
                </a:solidFill>
                <a:latin typeface="Inter"/>
                <a:ea typeface="Inter"/>
                <a:cs typeface="Inter"/>
              </a:rPr>
              <a:t>Label scores</a:t>
            </a:r>
          </a:p>
        </p:txBody>
      </p:sp>
      <p:cxnSp>
        <p:nvCxnSpPr>
          <p:cNvPr id="43" name=""/>
          <p:cNvCxnSpPr>
            <a:stCxn xmlns:a="http://schemas.openxmlformats.org/drawingml/2006/main" id="17" idx="3"/>
            <a:endCxn xmlns:a="http://schemas.openxmlformats.org/drawingml/2006/main" id="19" idx="1"/>
          </p:cNvCxnSpPr>
          <p:nvPr/>
        </p:nvCxnSpPr>
        <p:spPr>
          <a:xfrm xmlns:a="http://schemas.openxmlformats.org/drawingml/2006/main">
            <a:off x="7715250" y="5372100"/>
            <a:ext cx="876300" cy="0"/>
          </a:xfrm>
          <a:prstGeom xmlns:a="http://schemas.openxmlformats.org/drawingml/2006/main" prst="straightConnector1">
            <a:avLst/>
          </a:prstGeom>
          <a:ln xmlns:a="http://schemas.openxmlformats.org/drawingml/2006/main" w="21908">
            <a:solidFill>
              <a:srgbClr val="2C637F"/>
            </a:solidFill>
            <a:headEnd type="none" w="med" len="med"/>
            <a:tailEnd type="triangle" w="med" len="med"/>
          </a:ln>
        </p:spPr>
      </p:cxnSp>
      <p:sp>
        <p:nvSpPr>
          <p:cNvPr id="22" name="">
            <a:extLst xmlns:a="http://schemas.openxmlformats.org/drawingml/2006/main">
              <a:ext uri="{FF2B5EF4-FFF2-40B4-BE49-F238E27FC236}">
                <a16:creationId xmlns:a16="http://schemas.microsoft.com/office/drawing/2014/main" id="{1A427E08-9D1E-47D2-AAE8-389C2E596F15}"/>
              </a:ext>
            </a:extLst>
          </p:cNvPr>
          <p:cNvSpPr>
            <a:spLocks xmlns:a="http://schemas.openxmlformats.org/drawingml/2006/main" noGrp="1"/>
          </p:cNvSpPr>
          <p:nvPr/>
        </p:nvSpPr>
        <p:spPr>
          <a:xfrm xmlns:a="http://schemas.openxmlformats.org/drawingml/2006/main">
            <a:off x="457200" y="6153150"/>
            <a:ext cx="11239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06674"/>
                </a:solidFill>
                <a:latin typeface="Inter"/>
                <a:ea typeface="Inter"/>
                <a:cs typeface="Inter"/>
              </a:defRPr>
            </a:pPr>
            <a:r>
              <a:rPr sz="1500" b="0">
                <a:solidFill>
                  <a:srgbClr val="506674"/>
                </a:solidFill>
                <a:latin typeface="Inter"/>
                <a:ea typeface="Inter"/>
                <a:cs typeface="Inter"/>
              </a:rPr>
              <a:t>LLMs also use Transformers. Here we distinguish generative and discriminative use.</a:t>
            </a:r>
          </a:p>
        </p:txBody>
      </p:sp>
    </p:spTree>
    <p:extLst>
      <p:ext uri="{BB962C8B-B14F-4D97-AF65-F5344CB8AC3E}">
        <p14:creationId xmlns:p14="http://schemas.microsoft.com/office/powerpoint/2010/main" val="676116957"/>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5A4548A-E4BF-4A2E-8741-B6C621D8EF8F}"/>
              </a:ext>
            </a:extLst>
          </p:cNvPr>
          <p:cNvSpPr>
            <a:spLocks xmlns:a="http://schemas.openxmlformats.org/drawingml/2006/main" noGrp="1"/>
          </p:cNvSpPr>
          <p:nvPr/>
        </p:nvSpPr>
        <p:spPr>
          <a:xfrm xmlns:a="http://schemas.openxmlformats.org/drawingml/2006/main">
            <a:off x="457200" y="304800"/>
            <a:ext cx="11239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75" b="1">
                <a:solidFill>
                  <a:srgbClr val="2C637F"/>
                </a:solidFill>
                <a:latin typeface="Inter"/>
                <a:ea typeface="Inter"/>
                <a:cs typeface="Inter"/>
              </a:defRPr>
            </a:pPr>
            <a:r>
              <a:rPr sz="3075" b="1">
                <a:solidFill>
                  <a:srgbClr val="2C637F"/>
                </a:solidFill>
                <a:latin typeface="Inter"/>
                <a:ea typeface="Inter"/>
                <a:cs typeface="Inter"/>
              </a:rPr>
              <a:t>Evidence guided model selection</a:t>
            </a:r>
          </a:p>
        </p:txBody>
      </p:sp>
      <p:sp>
        <p:nvSpPr>
          <p:cNvPr id="2" name="">
            <a:extLst xmlns:a="http://schemas.openxmlformats.org/drawingml/2006/main">
              <a:ext uri="{FF2B5EF4-FFF2-40B4-BE49-F238E27FC236}">
                <a16:creationId xmlns:a16="http://schemas.microsoft.com/office/drawing/2014/main" id="{2D8670F1-25EA-4C06-9FF4-615C51BF7FA6}"/>
              </a:ext>
            </a:extLst>
          </p:cNvPr>
          <p:cNvSpPr>
            <a:spLocks xmlns:a="http://schemas.openxmlformats.org/drawingml/2006/main" noGrp="1"/>
          </p:cNvSpPr>
          <p:nvPr/>
        </p:nvSpPr>
        <p:spPr>
          <a:xfrm xmlns:a="http://schemas.openxmlformats.org/drawingml/2006/main">
            <a:off x="457200" y="65532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2C637F"/>
                </a:solidFill>
                <a:latin typeface="Inter"/>
                <a:ea typeface="Inter"/>
                <a:cs typeface="Inter"/>
              </a:defRPr>
            </a:pPr>
            <a:r>
              <a:rPr sz="1125" b="0">
                <a:solidFill>
                  <a:srgbClr val="2C637F"/>
                </a:solidFill>
                <a:latin typeface="Inter"/>
                <a:ea typeface="Inter"/>
                <a:cs typeface="Inter"/>
              </a:rPr>
              <a:t>WOMENHELP 2026   /   IBERLEF</a:t>
            </a:r>
          </a:p>
        </p:txBody>
      </p:sp>
      <p:sp>
        <p:nvSpPr>
          <p:cNvPr id="3" name="">
            <a:extLst xmlns:a="http://schemas.openxmlformats.org/drawingml/2006/main">
              <a:ext uri="{FF2B5EF4-FFF2-40B4-BE49-F238E27FC236}">
                <a16:creationId xmlns:a16="http://schemas.microsoft.com/office/drawing/2014/main" id="{A21A15C4-257A-4C10-9830-6CB3E7F7F8E8}"/>
              </a:ext>
            </a:extLst>
          </p:cNvPr>
          <p:cNvSpPr>
            <a:spLocks xmlns:a="http://schemas.openxmlformats.org/drawingml/2006/main" noGrp="1"/>
          </p:cNvSpPr>
          <p:nvPr/>
        </p:nvSpPr>
        <p:spPr>
          <a:xfrm xmlns:a="http://schemas.openxmlformats.org/drawingml/2006/main">
            <a:off x="11334750" y="654367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2C637F"/>
                </a:solidFill>
                <a:latin typeface="Inter"/>
                <a:ea typeface="Inter"/>
                <a:cs typeface="Inter"/>
              </a:defRPr>
            </a:pPr>
            <a:r>
              <a:rPr sz="1200" b="0">
                <a:solidFill>
                  <a:srgbClr val="2C637F"/>
                </a:solidFill>
                <a:latin typeface="Inter"/>
                <a:ea typeface="Inter"/>
                <a:cs typeface="Inter"/>
              </a:rPr>
              <a:t>03</a:t>
            </a:r>
          </a:p>
        </p:txBody>
      </p:sp>
      <p:sp>
        <p:nvSpPr>
          <p:cNvPr id="4" name="">
            <a:extLst xmlns:a="http://schemas.openxmlformats.org/drawingml/2006/main">
              <a:ext uri="{FF2B5EF4-FFF2-40B4-BE49-F238E27FC236}">
                <a16:creationId xmlns:a16="http://schemas.microsoft.com/office/drawing/2014/main" id="{1BD261D6-872E-42B1-BDD8-F290398C04EC}"/>
              </a:ext>
            </a:extLst>
          </p:cNvPr>
          <p:cNvSpPr>
            <a:spLocks xmlns:a="http://schemas.openxmlformats.org/drawingml/2006/main" noGrp="1"/>
          </p:cNvSpPr>
          <p:nvPr/>
        </p:nvSpPr>
        <p:spPr>
          <a:xfrm xmlns:a="http://schemas.openxmlformats.org/drawingml/2006/main">
            <a:off x="457200" y="1476375"/>
            <a:ext cx="6191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2C637F"/>
                </a:solidFill>
                <a:latin typeface="Inter"/>
                <a:ea typeface="Inter"/>
                <a:cs typeface="Inter"/>
              </a:defRPr>
            </a:pPr>
            <a:r>
              <a:rPr sz="2025" b="1">
                <a:solidFill>
                  <a:srgbClr val="2C637F"/>
                </a:solidFill>
                <a:latin typeface="Inter"/>
                <a:ea typeface="Inter"/>
                <a:cs typeface="Inter"/>
              </a:rPr>
              <a:t>Pilots on the same 133 reports</a:t>
            </a:r>
          </a:p>
        </p:txBody>
      </p:sp>
      <p:sp>
        <p:nvSpPr>
          <p:cNvPr id="5" name="">
            <a:extLst xmlns:a="http://schemas.openxmlformats.org/drawingml/2006/main">
              <a:ext uri="{FF2B5EF4-FFF2-40B4-BE49-F238E27FC236}">
                <a16:creationId xmlns:a16="http://schemas.microsoft.com/office/drawing/2014/main" id="{2D32B5F3-0069-4C51-9978-BD2FE73C3DE8}"/>
              </a:ext>
            </a:extLst>
          </p:cNvPr>
          <p:cNvSpPr>
            <a:spLocks xmlns:a="http://schemas.openxmlformats.org/drawingml/2006/main" noGrp="1"/>
          </p:cNvSpPr>
          <p:nvPr/>
        </p:nvSpPr>
        <p:spPr>
          <a:xfrm xmlns:a="http://schemas.openxmlformats.org/drawingml/2006/main">
            <a:off x="457200" y="2143125"/>
            <a:ext cx="5810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06674"/>
                </a:solidFill>
                <a:latin typeface="Inter"/>
                <a:ea typeface="Inter"/>
                <a:cs typeface="Inter"/>
              </a:defRPr>
            </a:pPr>
            <a:r>
              <a:rPr sz="1650" b="0">
                <a:solidFill>
                  <a:srgbClr val="506674"/>
                </a:solidFill>
                <a:latin typeface="Inter"/>
                <a:ea typeface="Inter"/>
                <a:cs typeface="Inter"/>
              </a:rPr>
              <a:t>Joint exact match S1 + S2</a:t>
            </a:r>
          </a:p>
        </p:txBody>
      </p:sp>
      <p:graphicFrame>
        <p:nvGraphicFramePr>
          <p:cNvPr id="17" name="Chart"/>
          <p:cNvGraphicFramePr/>
          <p:nvPr/>
        </p:nvGraphicFramePr>
        <p:xfrm>
          <a:off xmlns:a="http://schemas.openxmlformats.org/drawingml/2006/main" x="333375" y="2609850"/>
          <a:ext xmlns:a="http://schemas.openxmlformats.org/drawingml/2006/main" cx="6143625" cy="2762250"/>
        </p:xfrm>
        <a:graphic xmlns:a="http://schemas.openxmlformats.org/drawingml/2006/main">
          <a:graphicData uri="http://schemas.openxmlformats.org/drawingml/2006/chart">
            <c:chart xmlns:r="http://schemas.openxmlformats.org/officeDocument/2006/relationships" xmlns:c="http://schemas.openxmlformats.org/drawingml/2006/chart" r:id="R9cdefad2adc54059"/>
          </a:graphicData>
        </a:graphic>
      </p:graphicFrame>
      <p:sp>
        <p:nvSpPr>
          <p:cNvPr id="7" name="">
            <a:extLst xmlns:a="http://schemas.openxmlformats.org/drawingml/2006/main">
              <a:ext uri="{FF2B5EF4-FFF2-40B4-BE49-F238E27FC236}">
                <a16:creationId xmlns:a16="http://schemas.microsoft.com/office/drawing/2014/main" id="{7B556A3A-7B4D-45DD-B88E-DE6670D017E1}"/>
              </a:ext>
            </a:extLst>
          </p:cNvPr>
          <p:cNvSpPr>
            <a:spLocks xmlns:a="http://schemas.openxmlformats.org/drawingml/2006/main" noGrp="1"/>
          </p:cNvSpPr>
          <p:nvPr/>
        </p:nvSpPr>
        <p:spPr>
          <a:xfrm xmlns:a="http://schemas.openxmlformats.org/drawingml/2006/main">
            <a:off x="457200" y="5562600"/>
            <a:ext cx="6096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06674"/>
                </a:solidFill>
                <a:latin typeface="Inter"/>
                <a:ea typeface="Inter"/>
                <a:cs typeface="Inter"/>
              </a:defRPr>
            </a:pPr>
            <a:r>
              <a:rPr sz="1725" b="0">
                <a:solidFill>
                  <a:srgbClr val="506674"/>
                </a:solidFill>
                <a:latin typeface="Inter"/>
                <a:ea typeface="Inter"/>
                <a:cs typeface="Inter"/>
              </a:rPr>
              <a:t>LoRA pilot: 625 training examples</a:t>
            </a:r>
          </a:p>
          <a:p xmlns:a="http://schemas.openxmlformats.org/drawingml/2006/main">
            <a:pPr>
              <a:defRPr sz="1725" b="0">
                <a:solidFill>
                  <a:srgbClr val="506674"/>
                </a:solidFill>
                <a:latin typeface="Inter"/>
                <a:ea typeface="Inter"/>
                <a:cs typeface="Inter"/>
              </a:defRPr>
            </a:pPr>
            <a:r>
              <a:rPr sz="1725" b="0">
                <a:solidFill>
                  <a:srgbClr val="506674"/>
                </a:solidFill>
                <a:latin typeface="Inter"/>
                <a:ea typeface="Inter"/>
                <a:cs typeface="Inter"/>
              </a:rPr>
              <a:t>and 80 adaptation steps.</a:t>
            </a:r>
          </a:p>
        </p:txBody>
      </p:sp>
      <p:sp>
        <p:nvSpPr>
          <p:cNvPr id="8" name="">
            <a:extLst xmlns:a="http://schemas.openxmlformats.org/drawingml/2006/main">
              <a:ext uri="{FF2B5EF4-FFF2-40B4-BE49-F238E27FC236}">
                <a16:creationId xmlns:a16="http://schemas.microsoft.com/office/drawing/2014/main" id="{764B65EA-AFCB-458B-B2B9-CA31B0CC1D83}"/>
              </a:ext>
            </a:extLst>
          </p:cNvPr>
          <p:cNvSpPr>
            <a:spLocks xmlns:a="http://schemas.openxmlformats.org/drawingml/2006/main" noGrp="1"/>
          </p:cNvSpPr>
          <p:nvPr/>
        </p:nvSpPr>
        <p:spPr>
          <a:xfrm xmlns:a="http://schemas.openxmlformats.org/drawingml/2006/main">
            <a:off x="7029450" y="1476375"/>
            <a:ext cx="4572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2C637F"/>
                </a:solidFill>
                <a:latin typeface="Inter"/>
                <a:ea typeface="Inter"/>
                <a:cs typeface="Inter"/>
              </a:defRPr>
            </a:pPr>
            <a:r>
              <a:rPr sz="2025" b="1">
                <a:solidFill>
                  <a:srgbClr val="2C637F"/>
                </a:solidFill>
                <a:latin typeface="Inter"/>
                <a:ea typeface="Inter"/>
                <a:cs typeface="Inter"/>
              </a:rPr>
              <a:t>Classical models versus BETO</a:t>
            </a:r>
          </a:p>
        </p:txBody>
      </p:sp>
      <p:sp>
        <p:nvSpPr>
          <p:cNvPr id="9" name="">
            <a:extLst xmlns:a="http://schemas.openxmlformats.org/drawingml/2006/main">
              <a:ext uri="{FF2B5EF4-FFF2-40B4-BE49-F238E27FC236}">
                <a16:creationId xmlns:a16="http://schemas.microsoft.com/office/drawing/2014/main" id="{3488084C-9FE4-488E-B299-A0475577D7C2}"/>
              </a:ext>
            </a:extLst>
          </p:cNvPr>
          <p:cNvSpPr>
            <a:spLocks xmlns:a="http://schemas.openxmlformats.org/drawingml/2006/main" noGrp="1"/>
          </p:cNvSpPr>
          <p:nvPr/>
        </p:nvSpPr>
        <p:spPr>
          <a:xfrm xmlns:a="http://schemas.openxmlformats.org/drawingml/2006/main">
            <a:off x="7029450" y="2266950"/>
            <a:ext cx="4572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06674"/>
                </a:solidFill>
                <a:latin typeface="Inter"/>
                <a:ea typeface="Inter"/>
                <a:cs typeface="Inter"/>
              </a:defRPr>
            </a:pPr>
            <a:r>
              <a:rPr sz="1650" b="0">
                <a:solidFill>
                  <a:srgbClr val="506674"/>
                </a:solidFill>
                <a:latin typeface="Inter"/>
                <a:ea typeface="Inter"/>
                <a:cs typeface="Inter"/>
              </a:rPr>
              <a:t>Full development</a:t>
            </a:r>
          </a:p>
        </p:txBody>
      </p:sp>
      <p:graphicFrame>
        <p:nvGraphicFramePr>
          <p:cNvPr id="21" name=""/>
          <p:cNvGraphicFramePr/>
          <p:nvPr/>
        </p:nvGraphicFramePr>
        <p:xfrm>
          <a:off xmlns:a="http://schemas.openxmlformats.org/drawingml/2006/main" x="6762750" y="2962275"/>
          <a:ext xmlns:a="http://schemas.openxmlformats.org/drawingml/2006/main" cx="4933950" cy="2209800"/>
        </p:xfrm>
        <a:graphic xmlns:a="http://schemas.openxmlformats.org/drawingml/2006/main">
          <a:graphicData uri="http://schemas.openxmlformats.org/drawingml/2006/table">
            <a:tbl>
              <a:tblPr/>
              <a:tblGrid>
                <a:gridCol w="2114550"/>
                <a:gridCol w="1409700"/>
                <a:gridCol w="1409700"/>
              </a:tblGrid>
              <a:tr h="552450">
                <a:tc>
                  <a:txBody>
                    <a:bodyPr/>
                    <a:lstStyle/>
                    <a:p>
                      <a:r>
                        <a:rPr sz="1725" b="1">
                          <a:solidFill>
                            <a:srgbClr val="2C637F"/>
                          </a:solidFill>
                          <a:latin typeface="Inter"/>
                          <a:ea typeface="Inter"/>
                          <a:cs typeface="Inter"/>
                        </a:rPr>
                        <a:t>Metric</a:t>
                      </a:r>
                    </a:p>
                  </a:txBody>
                  <a:tcPr marL="91440" marR="91440" marT="45720" marB="45720">
                    <a:solidFill>
                      <a:srgbClr val="E2F2FA"/>
                    </a:solidFill>
                  </a:tcPr>
                </a:tc>
                <a:tc>
                  <a:txBody>
                    <a:bodyPr/>
                    <a:lstStyle/>
                    <a:p>
                      <a:r>
                        <a:rPr sz="1725" b="1">
                          <a:solidFill>
                            <a:srgbClr val="2C637F"/>
                          </a:solidFill>
                          <a:latin typeface="Inter"/>
                          <a:ea typeface="Inter"/>
                          <a:cs typeface="Inter"/>
                        </a:rPr>
                        <a:t>Classical</a:t>
                      </a:r>
                    </a:p>
                  </a:txBody>
                  <a:tcPr marL="91440" marR="91440" marT="45720" marB="45720">
                    <a:solidFill>
                      <a:srgbClr val="E2F2FA"/>
                    </a:solidFill>
                  </a:tcPr>
                </a:tc>
                <a:tc>
                  <a:txBody>
                    <a:bodyPr/>
                    <a:lstStyle/>
                    <a:p>
                      <a:r>
                        <a:rPr sz="1725" b="1">
                          <a:solidFill>
                            <a:srgbClr val="2C637F"/>
                          </a:solidFill>
                          <a:latin typeface="Inter"/>
                          <a:ea typeface="Inter"/>
                          <a:cs typeface="Inter"/>
                        </a:rPr>
                        <a:t>BETO</a:t>
                      </a:r>
                    </a:p>
                  </a:txBody>
                  <a:tcPr marL="91440" marR="91440" marT="45720" marB="45720">
                    <a:solidFill>
                      <a:srgbClr val="E2F2FA"/>
                    </a:solidFill>
                  </a:tcPr>
                </a:tc>
              </a:tr>
              <a:tr h="552450">
                <a:tc>
                  <a:txBody>
                    <a:bodyPr/>
                    <a:lstStyle/>
                    <a:p>
                      <a:r>
                        <a:rPr sz="1725" b="0">
                          <a:solidFill>
                            <a:srgbClr val="152E3C"/>
                          </a:solidFill>
                          <a:latin typeface="Inter"/>
                          <a:ea typeface="Inter"/>
                          <a:cs typeface="Inter"/>
                        </a:rPr>
                        <a:t>S1 macro-F1</a:t>
                      </a:r>
                    </a:p>
                  </a:txBody>
                  <a:tcPr marL="91440" marR="91440" marT="45720" marB="45720">
                    <a:solidFill>
                      <a:srgbClr val="FFFFFF"/>
                    </a:solidFill>
                  </a:tcPr>
                </a:tc>
                <a:tc>
                  <a:txBody>
                    <a:bodyPr/>
                    <a:lstStyle/>
                    <a:p>
                      <a:r>
                        <a:rPr sz="1725" b="0">
                          <a:solidFill>
                            <a:srgbClr val="152E3C"/>
                          </a:solidFill>
                          <a:latin typeface="Inter"/>
                          <a:ea typeface="Inter"/>
                          <a:cs typeface="Inter"/>
                        </a:rPr>
                        <a:t>0.4974*</a:t>
                      </a:r>
                    </a:p>
                  </a:txBody>
                  <a:tcPr marL="91440" marR="91440" marT="45720" marB="45720">
                    <a:solidFill>
                      <a:srgbClr val="FFFFFF"/>
                    </a:solidFill>
                  </a:tcPr>
                </a:tc>
                <a:tc>
                  <a:txBody>
                    <a:bodyPr/>
                    <a:lstStyle/>
                    <a:p>
                      <a:r>
                        <a:rPr sz="1725" b="0">
                          <a:solidFill>
                            <a:srgbClr val="152E3C"/>
                          </a:solidFill>
                          <a:latin typeface="Inter"/>
                          <a:ea typeface="Inter"/>
                          <a:cs typeface="Inter"/>
                        </a:rPr>
                        <a:t>0.5429</a:t>
                      </a:r>
                    </a:p>
                  </a:txBody>
                  <a:tcPr marL="91440" marR="91440" marT="45720" marB="45720">
                    <a:solidFill>
                      <a:srgbClr val="FFFFFF"/>
                    </a:solidFill>
                  </a:tcPr>
                </a:tc>
              </a:tr>
              <a:tr h="552450">
                <a:tc>
                  <a:txBody>
                    <a:bodyPr/>
                    <a:lstStyle/>
                    <a:p>
                      <a:r>
                        <a:rPr sz="1725" b="0">
                          <a:solidFill>
                            <a:srgbClr val="152E3C"/>
                          </a:solidFill>
                          <a:latin typeface="Inter"/>
                          <a:ea typeface="Inter"/>
                          <a:cs typeface="Inter"/>
                        </a:rPr>
                        <a:t>S2 macro-F1</a:t>
                      </a:r>
                    </a:p>
                  </a:txBody>
                  <a:tcPr marL="91440" marR="91440" marT="45720" marB="45720">
                    <a:solidFill>
                      <a:srgbClr val="FFFFFF"/>
                    </a:solidFill>
                  </a:tcPr>
                </a:tc>
                <a:tc>
                  <a:txBody>
                    <a:bodyPr/>
                    <a:lstStyle/>
                    <a:p>
                      <a:r>
                        <a:rPr sz="1725" b="0">
                          <a:solidFill>
                            <a:srgbClr val="152E3C"/>
                          </a:solidFill>
                          <a:latin typeface="Inter"/>
                          <a:ea typeface="Inter"/>
                          <a:cs typeface="Inter"/>
                        </a:rPr>
                        <a:t>0.7642</a:t>
                      </a:r>
                    </a:p>
                  </a:txBody>
                  <a:tcPr marL="91440" marR="91440" marT="45720" marB="45720">
                    <a:solidFill>
                      <a:srgbClr val="FFFFFF"/>
                    </a:solidFill>
                  </a:tcPr>
                </a:tc>
                <a:tc>
                  <a:txBody>
                    <a:bodyPr/>
                    <a:lstStyle/>
                    <a:p>
                      <a:r>
                        <a:rPr sz="1725" b="0">
                          <a:solidFill>
                            <a:srgbClr val="152E3C"/>
                          </a:solidFill>
                          <a:latin typeface="Inter"/>
                          <a:ea typeface="Inter"/>
                          <a:cs typeface="Inter"/>
                        </a:rPr>
                        <a:t>0.8198</a:t>
                      </a:r>
                    </a:p>
                  </a:txBody>
                  <a:tcPr marL="91440" marR="91440" marT="45720" marB="45720">
                    <a:solidFill>
                      <a:srgbClr val="FFFFFF"/>
                    </a:solidFill>
                  </a:tcPr>
                </a:tc>
              </a:tr>
              <a:tr h="552450">
                <a:tc>
                  <a:txBody>
                    <a:bodyPr/>
                    <a:lstStyle/>
                    <a:p>
                      <a:r>
                        <a:rPr sz="1725" b="0">
                          <a:solidFill>
                            <a:srgbClr val="152E3C"/>
                          </a:solidFill>
                          <a:latin typeface="Inter"/>
                          <a:ea typeface="Inter"/>
                          <a:cs typeface="Inter"/>
                        </a:rPr>
                        <a:t>S2 micro-F1</a:t>
                      </a:r>
                    </a:p>
                  </a:txBody>
                  <a:tcPr marL="91440" marR="91440" marT="45720" marB="45720">
                    <a:solidFill>
                      <a:srgbClr val="FFFFFF"/>
                    </a:solidFill>
                  </a:tcPr>
                </a:tc>
                <a:tc>
                  <a:txBody>
                    <a:bodyPr/>
                    <a:lstStyle/>
                    <a:p>
                      <a:r>
                        <a:rPr sz="1725" b="0">
                          <a:solidFill>
                            <a:srgbClr val="152E3C"/>
                          </a:solidFill>
                          <a:latin typeface="Inter"/>
                          <a:ea typeface="Inter"/>
                          <a:cs typeface="Inter"/>
                        </a:rPr>
                        <a:t>0.8449</a:t>
                      </a:r>
                    </a:p>
                  </a:txBody>
                  <a:tcPr marL="91440" marR="91440" marT="45720" marB="45720">
                    <a:solidFill>
                      <a:srgbClr val="FFFFFF"/>
                    </a:solidFill>
                  </a:tcPr>
                </a:tc>
                <a:tc>
                  <a:txBody>
                    <a:bodyPr/>
                    <a:lstStyle/>
                    <a:p>
                      <a:r>
                        <a:rPr sz="1725" b="0">
                          <a:solidFill>
                            <a:srgbClr val="152E3C"/>
                          </a:solidFill>
                          <a:latin typeface="Inter"/>
                          <a:ea typeface="Inter"/>
                          <a:cs typeface="Inter"/>
                        </a:rPr>
                        <a:t>0.8685</a:t>
                      </a:r>
                    </a:p>
                  </a:txBody>
                  <a:tcPr marL="91440" marR="91440" marT="45720" marB="45720">
                    <a:solidFill>
                      <a:srgbClr val="FFFFFF"/>
                    </a:solidFill>
                  </a:tcPr>
                </a:tc>
              </a:tr>
            </a:tbl>
          </a:graphicData>
        </a:graphic>
      </p:graphicFrame>
      <p:sp>
        <p:nvSpPr>
          <p:cNvPr id="11" name="">
            <a:extLst xmlns:a="http://schemas.openxmlformats.org/drawingml/2006/main">
              <a:ext uri="{FF2B5EF4-FFF2-40B4-BE49-F238E27FC236}">
                <a16:creationId xmlns:a16="http://schemas.microsoft.com/office/drawing/2014/main" id="{A4B38FCF-9158-40BA-BE11-2F4C8EE213E6}"/>
              </a:ext>
            </a:extLst>
          </p:cNvPr>
          <p:cNvSpPr>
            <a:spLocks xmlns:a="http://schemas.openxmlformats.org/drawingml/2006/main" noGrp="1"/>
          </p:cNvSpPr>
          <p:nvPr/>
        </p:nvSpPr>
        <p:spPr>
          <a:xfrm xmlns:a="http://schemas.openxmlformats.org/drawingml/2006/main">
            <a:off x="6762750" y="5448300"/>
            <a:ext cx="49339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06674"/>
                </a:solidFill>
                <a:latin typeface="Inter"/>
                <a:ea typeface="Inter"/>
                <a:cs typeface="Inter"/>
              </a:defRPr>
            </a:pPr>
            <a:r>
              <a:rPr sz="1575" b="0">
                <a:solidFill>
                  <a:srgbClr val="506674"/>
                </a:solidFill>
                <a:latin typeface="Inter"/>
                <a:ea typeface="Inter"/>
                <a:cs typeface="Inter"/>
              </a:rPr>
              <a:t>*S1: early classical reference.</a:t>
            </a:r>
          </a:p>
          <a:p xmlns:a="http://schemas.openxmlformats.org/drawingml/2006/main">
            <a:pPr>
              <a:defRPr sz="1575" b="0">
                <a:solidFill>
                  <a:srgbClr val="506674"/>
                </a:solidFill>
                <a:latin typeface="Inter"/>
                <a:ea typeface="Inter"/>
                <a:cs typeface="Inter"/>
              </a:defRPr>
            </a:pPr>
            <a:r>
              <a:rPr sz="1575" b="0">
                <a:solidFill>
                  <a:srgbClr val="506674"/>
                </a:solidFill>
                <a:latin typeface="Inter"/>
                <a:ea typeface="Inter"/>
                <a:cs typeface="Inter"/>
              </a:rPr>
              <a:t>S2: character SVM / BETO threshold 0.45.</a:t>
            </a:r>
          </a:p>
        </p:txBody>
      </p:sp>
    </p:spTree>
    <p:extLst>
      <p:ext uri="{BB962C8B-B14F-4D97-AF65-F5344CB8AC3E}">
        <p14:creationId xmlns:p14="http://schemas.microsoft.com/office/powerpoint/2010/main" val="329854879"/>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C6848131-6AD1-49D6-B9EF-FEB63B4555F4}"/>
              </a:ext>
            </a:extLst>
          </p:cNvPr>
          <p:cNvSpPr>
            <a:spLocks xmlns:a="http://schemas.openxmlformats.org/drawingml/2006/main" noGrp="1"/>
          </p:cNvSpPr>
          <p:nvPr/>
        </p:nvSpPr>
        <p:spPr>
          <a:xfrm xmlns:a="http://schemas.openxmlformats.org/drawingml/2006/main">
            <a:off x="457200" y="304800"/>
            <a:ext cx="11239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75" b="1">
                <a:solidFill>
                  <a:srgbClr val="2C637F"/>
                </a:solidFill>
                <a:latin typeface="Inter"/>
                <a:ea typeface="Inter"/>
                <a:cs typeface="Inter"/>
              </a:defRPr>
            </a:pPr>
            <a:r>
              <a:rPr sz="3075" b="1">
                <a:solidFill>
                  <a:srgbClr val="2C637F"/>
                </a:solidFill>
                <a:latin typeface="Inter"/>
                <a:ea typeface="Inter"/>
                <a:cs typeface="Inter"/>
              </a:rPr>
              <a:t>The problem determines the outputs</a:t>
            </a:r>
          </a:p>
        </p:txBody>
      </p:sp>
      <p:sp>
        <p:nvSpPr>
          <p:cNvPr id="2" name="">
            <a:extLst xmlns:a="http://schemas.openxmlformats.org/drawingml/2006/main">
              <a:ext uri="{FF2B5EF4-FFF2-40B4-BE49-F238E27FC236}">
                <a16:creationId xmlns:a16="http://schemas.microsoft.com/office/drawing/2014/main" id="{CC139E37-9C4F-41CA-A862-0BBB1BE7E5E2}"/>
              </a:ext>
            </a:extLst>
          </p:cNvPr>
          <p:cNvSpPr>
            <a:spLocks xmlns:a="http://schemas.openxmlformats.org/drawingml/2006/main" noGrp="1"/>
          </p:cNvSpPr>
          <p:nvPr/>
        </p:nvSpPr>
        <p:spPr>
          <a:xfrm xmlns:a="http://schemas.openxmlformats.org/drawingml/2006/main">
            <a:off x="457200" y="65532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2C637F"/>
                </a:solidFill>
                <a:latin typeface="Inter"/>
                <a:ea typeface="Inter"/>
                <a:cs typeface="Inter"/>
              </a:defRPr>
            </a:pPr>
            <a:r>
              <a:rPr sz="1125" b="0">
                <a:solidFill>
                  <a:srgbClr val="2C637F"/>
                </a:solidFill>
                <a:latin typeface="Inter"/>
                <a:ea typeface="Inter"/>
                <a:cs typeface="Inter"/>
              </a:rPr>
              <a:t>WOMENHELP 2026   /   IBERLEF</a:t>
            </a:r>
          </a:p>
        </p:txBody>
      </p:sp>
      <p:sp>
        <p:nvSpPr>
          <p:cNvPr id="3" name="">
            <a:extLst xmlns:a="http://schemas.openxmlformats.org/drawingml/2006/main">
              <a:ext uri="{FF2B5EF4-FFF2-40B4-BE49-F238E27FC236}">
                <a16:creationId xmlns:a16="http://schemas.microsoft.com/office/drawing/2014/main" id="{E84DD960-E323-4D50-8432-27F10334D14A}"/>
              </a:ext>
            </a:extLst>
          </p:cNvPr>
          <p:cNvSpPr>
            <a:spLocks xmlns:a="http://schemas.openxmlformats.org/drawingml/2006/main" noGrp="1"/>
          </p:cNvSpPr>
          <p:nvPr/>
        </p:nvSpPr>
        <p:spPr>
          <a:xfrm xmlns:a="http://schemas.openxmlformats.org/drawingml/2006/main">
            <a:off x="11334750" y="654367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2C637F"/>
                </a:solidFill>
                <a:latin typeface="Inter"/>
                <a:ea typeface="Inter"/>
                <a:cs typeface="Inter"/>
              </a:defRPr>
            </a:pPr>
            <a:r>
              <a:rPr sz="1200" b="0">
                <a:solidFill>
                  <a:srgbClr val="2C637F"/>
                </a:solidFill>
                <a:latin typeface="Inter"/>
                <a:ea typeface="Inter"/>
                <a:cs typeface="Inter"/>
              </a:rPr>
              <a:t>04</a:t>
            </a:r>
          </a:p>
        </p:txBody>
      </p:sp>
      <p:sp>
        <p:nvSpPr>
          <p:cNvPr id="4" name="">
            <a:extLst xmlns:a="http://schemas.openxmlformats.org/drawingml/2006/main">
              <a:ext uri="{FF2B5EF4-FFF2-40B4-BE49-F238E27FC236}">
                <a16:creationId xmlns:a16="http://schemas.microsoft.com/office/drawing/2014/main" id="{B830CB29-CF3E-4669-BEDD-99A5455031DB}"/>
              </a:ext>
            </a:extLst>
          </p:cNvPr>
          <p:cNvSpPr>
            <a:spLocks xmlns:a="http://schemas.openxmlformats.org/drawingml/2006/main" noGrp="1"/>
          </p:cNvSpPr>
          <p:nvPr/>
        </p:nvSpPr>
        <p:spPr>
          <a:xfrm xmlns:a="http://schemas.openxmlformats.org/drawingml/2006/main">
            <a:off x="457200" y="1419225"/>
            <a:ext cx="11239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2C637F"/>
                </a:solidFill>
                <a:latin typeface="Inter"/>
                <a:ea typeface="Inter"/>
                <a:cs typeface="Inter"/>
              </a:defRPr>
            </a:pPr>
            <a:r>
              <a:rPr sz="1875" b="1">
                <a:solidFill>
                  <a:srgbClr val="2C637F"/>
                </a:solidFill>
                <a:latin typeface="Inter"/>
                <a:ea typeface="Inter"/>
                <a:cs typeface="Inter"/>
              </a:rPr>
              <a:t>S1 · Augmented BETO recipe (augrep08)</a:t>
            </a:r>
          </a:p>
        </p:txBody>
      </p:sp>
      <p:sp>
        <p:nvSpPr>
          <p:cNvPr id="5" name="">
            <a:extLst xmlns:a="http://schemas.openxmlformats.org/drawingml/2006/main">
              <a:ext uri="{FF2B5EF4-FFF2-40B4-BE49-F238E27FC236}">
                <a16:creationId xmlns:a16="http://schemas.microsoft.com/office/drawing/2014/main" id="{696E864D-038B-4FAB-8262-B24295284AD1}"/>
              </a:ext>
            </a:extLst>
          </p:cNvPr>
          <p:cNvSpPr>
            <a:spLocks xmlns:a="http://schemas.openxmlformats.org/drawingml/2006/main" noGrp="1"/>
          </p:cNvSpPr>
          <p:nvPr/>
        </p:nvSpPr>
        <p:spPr>
          <a:xfrm xmlns:a="http://schemas.openxmlformats.org/drawingml/2006/main">
            <a:off x="457200" y="2247900"/>
            <a:ext cx="1885950" cy="962025"/>
          </a:xfrm>
          <a:prstGeom xmlns:a="http://schemas.openxmlformats.org/drawingml/2006/main" prst="rect">
            <a:avLst/>
          </a:prstGeom>
          <a:solidFill xmlns:a="http://schemas.openxmlformats.org/drawingml/2006/main">
            <a:srgbClr val="E2F2FA"/>
          </a:solidFill>
          <a:ln xmlns:a="http://schemas.openxmlformats.org/drawingml/2006/main" w="13335">
            <a:solidFill>
              <a:srgbClr val="2C637F"/>
            </a:solidFill>
          </a:ln>
        </p:spPr>
      </p:sp>
      <p:sp>
        <p:nvSpPr>
          <p:cNvPr id="6" name="">
            <a:extLst xmlns:a="http://schemas.openxmlformats.org/drawingml/2006/main">
              <a:ext uri="{FF2B5EF4-FFF2-40B4-BE49-F238E27FC236}">
                <a16:creationId xmlns:a16="http://schemas.microsoft.com/office/drawing/2014/main" id="{C1115EE2-5B0B-4EE3-9391-D5BF9C1306B3}"/>
              </a:ext>
            </a:extLst>
          </p:cNvPr>
          <p:cNvSpPr>
            <a:spLocks xmlns:a="http://schemas.openxmlformats.org/drawingml/2006/main" noGrp="1"/>
          </p:cNvSpPr>
          <p:nvPr/>
        </p:nvSpPr>
        <p:spPr>
          <a:xfrm xmlns:a="http://schemas.openxmlformats.org/drawingml/2006/main">
            <a:off x="600075" y="2371725"/>
            <a:ext cx="16002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2C637F"/>
                </a:solidFill>
                <a:latin typeface="Inter"/>
                <a:ea typeface="Inter"/>
                <a:cs typeface="Inter"/>
              </a:defRPr>
            </a:pPr>
            <a:r>
              <a:rPr sz="1800" b="0">
                <a:solidFill>
                  <a:srgbClr val="2C637F"/>
                </a:solidFill>
                <a:latin typeface="Inter"/>
                <a:ea typeface="Inter"/>
                <a:cs typeface="Inter"/>
              </a:rPr>
              <a:t>Text</a:t>
            </a:r>
          </a:p>
          <a:p xmlns:a="http://schemas.openxmlformats.org/drawingml/2006/main">
            <a:pPr>
              <a:defRPr sz="1800" b="0">
                <a:solidFill>
                  <a:srgbClr val="2C637F"/>
                </a:solidFill>
                <a:latin typeface="Inter"/>
                <a:ea typeface="Inter"/>
                <a:cs typeface="Inter"/>
              </a:defRPr>
            </a:pPr>
            <a:r>
              <a:rPr sz="1800" b="0">
                <a:solidFill>
                  <a:srgbClr val="2C637F"/>
                </a:solidFill>
                <a:latin typeface="Inter"/>
                <a:ea typeface="Inter"/>
                <a:cs typeface="Inter"/>
              </a:rPr>
              <a:t>512 tokens</a:t>
            </a:r>
          </a:p>
        </p:txBody>
      </p:sp>
      <p:sp>
        <p:nvSpPr>
          <p:cNvPr id="7" name="">
            <a:extLst xmlns:a="http://schemas.openxmlformats.org/drawingml/2006/main">
              <a:ext uri="{FF2B5EF4-FFF2-40B4-BE49-F238E27FC236}">
                <a16:creationId xmlns:a16="http://schemas.microsoft.com/office/drawing/2014/main" id="{43CCC59C-27DD-4BC7-B9F8-280959BB722D}"/>
              </a:ext>
            </a:extLst>
          </p:cNvPr>
          <p:cNvSpPr>
            <a:spLocks xmlns:a="http://schemas.openxmlformats.org/drawingml/2006/main" noGrp="1"/>
          </p:cNvSpPr>
          <p:nvPr/>
        </p:nvSpPr>
        <p:spPr>
          <a:xfrm xmlns:a="http://schemas.openxmlformats.org/drawingml/2006/main">
            <a:off x="2809875" y="2343150"/>
            <a:ext cx="1581150" cy="762000"/>
          </a:xfrm>
          <a:prstGeom xmlns:a="http://schemas.openxmlformats.org/drawingml/2006/main" prst="rect">
            <a:avLst/>
          </a:prstGeom>
          <a:solidFill xmlns:a="http://schemas.openxmlformats.org/drawingml/2006/main">
            <a:srgbClr val="E2F2FA"/>
          </a:solidFill>
          <a:ln xmlns:a="http://schemas.openxmlformats.org/drawingml/2006/main" w="13335">
            <a:solidFill>
              <a:srgbClr val="2C637F"/>
            </a:solidFill>
          </a:ln>
        </p:spPr>
      </p:sp>
      <p:sp>
        <p:nvSpPr>
          <p:cNvPr id="8" name="">
            <a:extLst xmlns:a="http://schemas.openxmlformats.org/drawingml/2006/main">
              <a:ext uri="{FF2B5EF4-FFF2-40B4-BE49-F238E27FC236}">
                <a16:creationId xmlns:a16="http://schemas.microsoft.com/office/drawing/2014/main" id="{D5F39A86-7EFE-4918-B02A-BE10458CEBFA}"/>
              </a:ext>
            </a:extLst>
          </p:cNvPr>
          <p:cNvSpPr>
            <a:spLocks xmlns:a="http://schemas.openxmlformats.org/drawingml/2006/main" noGrp="1"/>
          </p:cNvSpPr>
          <p:nvPr/>
        </p:nvSpPr>
        <p:spPr>
          <a:xfrm xmlns:a="http://schemas.openxmlformats.org/drawingml/2006/main">
            <a:off x="2952750" y="2466975"/>
            <a:ext cx="1295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2C637F"/>
                </a:solidFill>
                <a:latin typeface="Inter"/>
                <a:ea typeface="Inter"/>
                <a:cs typeface="Inter"/>
              </a:defRPr>
            </a:pPr>
            <a:r>
              <a:rPr sz="1800" b="0">
                <a:solidFill>
                  <a:srgbClr val="2C637F"/>
                </a:solidFill>
                <a:latin typeface="Inter"/>
                <a:ea typeface="Inter"/>
                <a:cs typeface="Inter"/>
              </a:rPr>
              <a:t>BETO</a:t>
            </a:r>
          </a:p>
        </p:txBody>
      </p:sp>
      <p:sp>
        <p:nvSpPr>
          <p:cNvPr id="9" name="">
            <a:extLst xmlns:a="http://schemas.openxmlformats.org/drawingml/2006/main">
              <a:ext uri="{FF2B5EF4-FFF2-40B4-BE49-F238E27FC236}">
                <a16:creationId xmlns:a16="http://schemas.microsoft.com/office/drawing/2014/main" id="{C8FE867F-86B4-406E-BE33-73B0DC849659}"/>
              </a:ext>
            </a:extLst>
          </p:cNvPr>
          <p:cNvSpPr>
            <a:spLocks xmlns:a="http://schemas.openxmlformats.org/drawingml/2006/main" noGrp="1"/>
          </p:cNvSpPr>
          <p:nvPr/>
        </p:nvSpPr>
        <p:spPr>
          <a:xfrm xmlns:a="http://schemas.openxmlformats.org/drawingml/2006/main">
            <a:off x="5114925" y="1905000"/>
            <a:ext cx="6524625" cy="828675"/>
          </a:xfrm>
          <a:prstGeom xmlns:a="http://schemas.openxmlformats.org/drawingml/2006/main" prst="rect">
            <a:avLst/>
          </a:prstGeom>
          <a:solidFill xmlns:a="http://schemas.openxmlformats.org/drawingml/2006/main">
            <a:srgbClr val="E2F2FA"/>
          </a:solidFill>
          <a:ln xmlns:a="http://schemas.openxmlformats.org/drawingml/2006/main" w="13335">
            <a:solidFill>
              <a:srgbClr val="2C637F"/>
            </a:solidFill>
          </a:ln>
        </p:spPr>
      </p:sp>
      <p:sp>
        <p:nvSpPr>
          <p:cNvPr id="10" name="">
            <a:extLst xmlns:a="http://schemas.openxmlformats.org/drawingml/2006/main">
              <a:ext uri="{FF2B5EF4-FFF2-40B4-BE49-F238E27FC236}">
                <a16:creationId xmlns:a16="http://schemas.microsoft.com/office/drawing/2014/main" id="{7A1ADAF0-2DCA-4356-A771-24781087C62D}"/>
              </a:ext>
            </a:extLst>
          </p:cNvPr>
          <p:cNvSpPr>
            <a:spLocks xmlns:a="http://schemas.openxmlformats.org/drawingml/2006/main" noGrp="1"/>
          </p:cNvSpPr>
          <p:nvPr/>
        </p:nvSpPr>
        <p:spPr>
          <a:xfrm xmlns:a="http://schemas.openxmlformats.org/drawingml/2006/main">
            <a:off x="5257800" y="2028825"/>
            <a:ext cx="623887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2C637F"/>
                </a:solidFill>
                <a:latin typeface="Inter"/>
                <a:ea typeface="Inter"/>
                <a:cs typeface="Inter"/>
              </a:defRPr>
            </a:pPr>
            <a:r>
              <a:rPr sz="1800" b="0">
                <a:solidFill>
                  <a:srgbClr val="2C637F"/>
                </a:solidFill>
                <a:latin typeface="Inter"/>
                <a:ea typeface="Inter"/>
                <a:cs typeface="Inter"/>
              </a:rPr>
              <a:t>Softmax</a:t>
            </a:r>
          </a:p>
          <a:p xmlns:a="http://schemas.openxmlformats.org/drawingml/2006/main">
            <a:pPr>
              <a:defRPr sz="1800" b="0">
                <a:solidFill>
                  <a:srgbClr val="2C637F"/>
                </a:solidFill>
                <a:latin typeface="Inter"/>
                <a:ea typeface="Inter"/>
                <a:cs typeface="Inter"/>
              </a:defRPr>
            </a:pPr>
            <a:r>
              <a:rPr sz="1800" b="0">
                <a:solidFill>
                  <a:srgbClr val="2C637F"/>
                </a:solidFill>
                <a:latin typeface="Inter"/>
                <a:ea typeface="Inter"/>
                <a:cs typeface="Inter"/>
              </a:rPr>
              <a:t>Mild / Medium / High / Severe</a:t>
            </a:r>
          </a:p>
        </p:txBody>
      </p:sp>
      <p:sp>
        <p:nvSpPr>
          <p:cNvPr id="11" name="">
            <a:extLst xmlns:a="http://schemas.openxmlformats.org/drawingml/2006/main">
              <a:ext uri="{FF2B5EF4-FFF2-40B4-BE49-F238E27FC236}">
                <a16:creationId xmlns:a16="http://schemas.microsoft.com/office/drawing/2014/main" id="{271F79B0-FD5A-44D4-9A76-CBDEE03C0813}"/>
              </a:ext>
            </a:extLst>
          </p:cNvPr>
          <p:cNvSpPr>
            <a:spLocks xmlns:a="http://schemas.openxmlformats.org/drawingml/2006/main" noGrp="1"/>
          </p:cNvSpPr>
          <p:nvPr/>
        </p:nvSpPr>
        <p:spPr>
          <a:xfrm xmlns:a="http://schemas.openxmlformats.org/drawingml/2006/main">
            <a:off x="5114925" y="3333750"/>
            <a:ext cx="6524625" cy="819150"/>
          </a:xfrm>
          <a:prstGeom xmlns:a="http://schemas.openxmlformats.org/drawingml/2006/main" prst="rect">
            <a:avLst/>
          </a:prstGeom>
          <a:solidFill xmlns:a="http://schemas.openxmlformats.org/drawingml/2006/main">
            <a:srgbClr val="E2F2FA"/>
          </a:solidFill>
          <a:ln xmlns:a="http://schemas.openxmlformats.org/drawingml/2006/main" w="13335">
            <a:solidFill>
              <a:srgbClr val="2C637F"/>
            </a:solidFill>
          </a:ln>
        </p:spPr>
      </p:sp>
      <p:sp>
        <p:nvSpPr>
          <p:cNvPr id="12" name="">
            <a:extLst xmlns:a="http://schemas.openxmlformats.org/drawingml/2006/main">
              <a:ext uri="{FF2B5EF4-FFF2-40B4-BE49-F238E27FC236}">
                <a16:creationId xmlns:a16="http://schemas.microsoft.com/office/drawing/2014/main" id="{6ED266AA-4FCF-4465-AE6B-570C9F2AAD38}"/>
              </a:ext>
            </a:extLst>
          </p:cNvPr>
          <p:cNvSpPr>
            <a:spLocks xmlns:a="http://schemas.openxmlformats.org/drawingml/2006/main" noGrp="1"/>
          </p:cNvSpPr>
          <p:nvPr/>
        </p:nvSpPr>
        <p:spPr>
          <a:xfrm xmlns:a="http://schemas.openxmlformats.org/drawingml/2006/main">
            <a:off x="5257800" y="3457575"/>
            <a:ext cx="62388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2C637F"/>
                </a:solidFill>
                <a:latin typeface="Inter"/>
                <a:ea typeface="Inter"/>
                <a:cs typeface="Inter"/>
              </a:defRPr>
            </a:pPr>
            <a:r>
              <a:rPr sz="1800" b="0">
                <a:solidFill>
                  <a:srgbClr val="2C637F"/>
                </a:solidFill>
                <a:latin typeface="Inter"/>
                <a:ea typeface="Inter"/>
                <a:cs typeface="Inter"/>
              </a:rPr>
              <a:t>Auxiliary head for 7 type labels</a:t>
            </a:r>
          </a:p>
          <a:p xmlns:a="http://schemas.openxmlformats.org/drawingml/2006/main">
            <a:pPr>
              <a:defRPr sz="1800" b="0">
                <a:solidFill>
                  <a:srgbClr val="2C637F"/>
                </a:solidFill>
                <a:latin typeface="Inter"/>
                <a:ea typeface="Inter"/>
                <a:cs typeface="Inter"/>
              </a:defRPr>
            </a:pPr>
            <a:r>
              <a:rPr sz="1800" b="0">
                <a:solidFill>
                  <a:srgbClr val="2C637F"/>
                </a:solidFill>
                <a:latin typeface="Inter"/>
                <a:ea typeface="Inter"/>
                <a:cs typeface="Inter"/>
              </a:rPr>
              <a:t>Soft labels where available</a:t>
            </a:r>
          </a:p>
        </p:txBody>
      </p:sp>
      <p:cxnSp>
        <p:nvCxnSpPr>
          <p:cNvPr id="38" name=""/>
          <p:cNvCxnSpPr>
            <a:stCxn xmlns:a="http://schemas.openxmlformats.org/drawingml/2006/main" id="5" idx="3"/>
            <a:endCxn xmlns:a="http://schemas.openxmlformats.org/drawingml/2006/main" id="7" idx="1"/>
          </p:cNvCxnSpPr>
          <p:nvPr/>
        </p:nvCxnSpPr>
        <p:spPr>
          <a:xfrm xmlns:a="http://schemas.openxmlformats.org/drawingml/2006/main" flipV="1">
            <a:off x="2343150" y="2724150"/>
            <a:ext cx="466725" cy="4763"/>
          </a:xfrm>
          <a:prstGeom xmlns:a="http://schemas.openxmlformats.org/drawingml/2006/main" prst="bentConnector3">
            <a:avLst>
              <a:gd name="adj1" fmla="val 50000"/>
            </a:avLst>
          </a:prstGeom>
          <a:ln xmlns:a="http://schemas.openxmlformats.org/drawingml/2006/main" w="21908">
            <a:solidFill>
              <a:srgbClr val="2C637F"/>
            </a:solidFill>
            <a:headEnd type="none" w="med" len="med"/>
            <a:tailEnd type="triangle" w="med" len="med"/>
          </a:ln>
        </p:spPr>
      </p:cxnSp>
      <p:cxnSp>
        <p:nvCxnSpPr>
          <p:cNvPr id="39" name=""/>
          <p:cNvCxnSpPr>
            <a:stCxn xmlns:a="http://schemas.openxmlformats.org/drawingml/2006/main" id="7" idx="3"/>
            <a:endCxn xmlns:a="http://schemas.openxmlformats.org/drawingml/2006/main" id="9" idx="1"/>
          </p:cNvCxnSpPr>
          <p:nvPr/>
        </p:nvCxnSpPr>
        <p:spPr>
          <a:xfrm xmlns:a="http://schemas.openxmlformats.org/drawingml/2006/main" flipV="1">
            <a:off x="4391025" y="2319338"/>
            <a:ext cx="723900" cy="404813"/>
          </a:xfrm>
          <a:prstGeom xmlns:a="http://schemas.openxmlformats.org/drawingml/2006/main" prst="bentConnector3">
            <a:avLst>
              <a:gd name="adj1" fmla="val 50000"/>
            </a:avLst>
          </a:prstGeom>
          <a:ln xmlns:a="http://schemas.openxmlformats.org/drawingml/2006/main" w="21908">
            <a:solidFill>
              <a:srgbClr val="2C637F"/>
            </a:solidFill>
            <a:headEnd type="none" w="med" len="med"/>
            <a:tailEnd type="triangle" w="med" len="med"/>
          </a:ln>
        </p:spPr>
      </p:cxnSp>
      <p:cxnSp>
        <p:nvCxnSpPr>
          <p:cNvPr id="40" name=""/>
          <p:cNvCxnSpPr>
            <a:stCxn xmlns:a="http://schemas.openxmlformats.org/drawingml/2006/main" id="7" idx="3"/>
            <a:endCxn xmlns:a="http://schemas.openxmlformats.org/drawingml/2006/main" id="11" idx="1"/>
          </p:cNvCxnSpPr>
          <p:nvPr/>
        </p:nvCxnSpPr>
        <p:spPr>
          <a:xfrm xmlns:a="http://schemas.openxmlformats.org/drawingml/2006/main">
            <a:off x="4391025" y="2724150"/>
            <a:ext cx="723900" cy="1019175"/>
          </a:xfrm>
          <a:prstGeom xmlns:a="http://schemas.openxmlformats.org/drawingml/2006/main" prst="bentConnector3">
            <a:avLst>
              <a:gd name="adj1" fmla="val 50000"/>
            </a:avLst>
          </a:prstGeom>
          <a:ln xmlns:a="http://schemas.openxmlformats.org/drawingml/2006/main" w="21908">
            <a:solidFill>
              <a:srgbClr val="2C637F"/>
            </a:solidFill>
            <a:headEnd type="none" w="med" len="med"/>
            <a:tailEnd type="triangle" w="med" len="med"/>
          </a:ln>
        </p:spPr>
      </p:cxnSp>
      <p:sp>
        <p:nvSpPr>
          <p:cNvPr id="16" name="">
            <a:extLst xmlns:a="http://schemas.openxmlformats.org/drawingml/2006/main">
              <a:ext uri="{FF2B5EF4-FFF2-40B4-BE49-F238E27FC236}">
                <a16:creationId xmlns:a16="http://schemas.microsoft.com/office/drawing/2014/main" id="{569CA29E-EF76-4045-A845-615C7D617472}"/>
              </a:ext>
            </a:extLst>
          </p:cNvPr>
          <p:cNvSpPr>
            <a:spLocks xmlns:a="http://schemas.openxmlformats.org/drawingml/2006/main" noGrp="1"/>
          </p:cNvSpPr>
          <p:nvPr/>
        </p:nvSpPr>
        <p:spPr>
          <a:xfrm xmlns:a="http://schemas.openxmlformats.org/drawingml/2006/main">
            <a:off x="5286375" y="2857500"/>
            <a:ext cx="6334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06674"/>
                </a:solidFill>
                <a:latin typeface="Inter"/>
                <a:ea typeface="Inter"/>
                <a:cs typeface="Inter"/>
              </a:defRPr>
            </a:pPr>
            <a:r>
              <a:rPr sz="1650" b="0">
                <a:solidFill>
                  <a:srgbClr val="506674"/>
                </a:solidFill>
                <a:latin typeface="Inter"/>
                <a:ea typeface="Inter"/>
                <a:cs typeface="Inter"/>
              </a:rPr>
              <a:t>Weighted focal + ordinal distance (0.05)</a:t>
            </a:r>
          </a:p>
        </p:txBody>
      </p:sp>
      <p:sp>
        <p:nvSpPr>
          <p:cNvPr id="17" name="">
            <a:extLst xmlns:a="http://schemas.openxmlformats.org/drawingml/2006/main">
              <a:ext uri="{FF2B5EF4-FFF2-40B4-BE49-F238E27FC236}">
                <a16:creationId xmlns:a16="http://schemas.microsoft.com/office/drawing/2014/main" id="{BEB74BD7-14A2-42D0-8AC2-917627B9841D}"/>
              </a:ext>
            </a:extLst>
          </p:cNvPr>
          <p:cNvSpPr>
            <a:spLocks xmlns:a="http://schemas.openxmlformats.org/drawingml/2006/main" noGrp="1"/>
          </p:cNvSpPr>
          <p:nvPr/>
        </p:nvSpPr>
        <p:spPr>
          <a:xfrm xmlns:a="http://schemas.openxmlformats.org/drawingml/2006/main">
            <a:off x="5286375" y="4257675"/>
            <a:ext cx="6334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06674"/>
                </a:solidFill>
                <a:latin typeface="Inter"/>
                <a:ea typeface="Inter"/>
                <a:cs typeface="Inter"/>
              </a:defRPr>
            </a:pPr>
            <a:r>
              <a:rPr sz="1650" b="0">
                <a:solidFill>
                  <a:srgbClr val="506674"/>
                </a:solidFill>
                <a:latin typeface="Inter"/>
                <a:ea typeface="Inter"/>
                <a:cs typeface="Inter"/>
              </a:rPr>
              <a:t>Masked BCE · Weight 0.3 · Includes N/A</a:t>
            </a:r>
          </a:p>
        </p:txBody>
      </p:sp>
      <p:sp>
        <p:nvSpPr>
          <p:cNvPr id="18" name="">
            <a:extLst xmlns:a="http://schemas.openxmlformats.org/drawingml/2006/main">
              <a:ext uri="{FF2B5EF4-FFF2-40B4-BE49-F238E27FC236}">
                <a16:creationId xmlns:a16="http://schemas.microsoft.com/office/drawing/2014/main" id="{E7F585B5-242E-414F-8ECA-40C19D458C4E}"/>
              </a:ext>
            </a:extLst>
          </p:cNvPr>
          <p:cNvSpPr>
            <a:spLocks xmlns:a="http://schemas.openxmlformats.org/drawingml/2006/main" noGrp="1"/>
          </p:cNvSpPr>
          <p:nvPr/>
        </p:nvSpPr>
        <p:spPr>
          <a:xfrm xmlns:a="http://schemas.openxmlformats.org/drawingml/2006/main">
            <a:off x="457200" y="3476625"/>
            <a:ext cx="3905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06674"/>
                </a:solidFill>
                <a:latin typeface="Inter"/>
                <a:ea typeface="Inter"/>
                <a:cs typeface="Inter"/>
              </a:defRPr>
            </a:pPr>
            <a:r>
              <a:rPr sz="1650" b="0">
                <a:solidFill>
                  <a:srgbClr val="506674"/>
                </a:solidFill>
                <a:latin typeface="Inter"/>
                <a:ea typeface="Inter"/>
                <a:cs typeface="Inter"/>
              </a:rPr>
              <a:t>Whitespace normalization</a:t>
            </a:r>
          </a:p>
          <a:p xmlns:a="http://schemas.openxmlformats.org/drawingml/2006/main">
            <a:pPr>
              <a:defRPr sz="1650" b="0">
                <a:solidFill>
                  <a:srgbClr val="506674"/>
                </a:solidFill>
                <a:latin typeface="Inter"/>
                <a:ea typeface="Inter"/>
                <a:cs typeface="Inter"/>
              </a:defRPr>
            </a:pPr>
            <a:r>
              <a:rPr sz="1650" b="0">
                <a:solidFill>
                  <a:srgbClr val="506674"/>
                </a:solidFill>
                <a:latin typeface="Inter"/>
                <a:ea typeface="Inter"/>
                <a:cs typeface="Inter"/>
              </a:rPr>
              <a:t>Tokenization and truncation</a:t>
            </a:r>
          </a:p>
          <a:p xmlns:a="http://schemas.openxmlformats.org/drawingml/2006/main">
            <a:pPr>
              <a:defRPr sz="1650" b="0">
                <a:solidFill>
                  <a:srgbClr val="506674"/>
                </a:solidFill>
                <a:latin typeface="Inter"/>
                <a:ea typeface="Inter"/>
                <a:cs typeface="Inter"/>
              </a:defRPr>
            </a:pPr>
            <a:r>
              <a:rPr sz="1650" b="0">
                <a:solidFill>
                  <a:srgbClr val="506674"/>
                </a:solidFill>
                <a:latin typeface="Inter"/>
                <a:ea typeface="Inter"/>
                <a:cs typeface="Inter"/>
              </a:rPr>
              <a:t>Padding within each batch</a:t>
            </a:r>
          </a:p>
        </p:txBody>
      </p:sp>
      <p:sp>
        <p:nvSpPr>
          <p:cNvPr id="19" name="">
            <a:extLst xmlns:a="http://schemas.openxmlformats.org/drawingml/2006/main">
              <a:ext uri="{FF2B5EF4-FFF2-40B4-BE49-F238E27FC236}">
                <a16:creationId xmlns:a16="http://schemas.microsoft.com/office/drawing/2014/main" id="{43BA4FD2-3FDB-48CE-B29B-1EF1F8E361D3}"/>
              </a:ext>
            </a:extLst>
          </p:cNvPr>
          <p:cNvSpPr>
            <a:spLocks xmlns:a="http://schemas.openxmlformats.org/drawingml/2006/main" noGrp="1"/>
          </p:cNvSpPr>
          <p:nvPr/>
        </p:nvSpPr>
        <p:spPr>
          <a:xfrm xmlns:a="http://schemas.openxmlformats.org/drawingml/2006/main">
            <a:off x="457200" y="4762500"/>
            <a:ext cx="11239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2C637F"/>
                </a:solidFill>
                <a:latin typeface="Inter"/>
                <a:ea typeface="Inter"/>
                <a:cs typeface="Inter"/>
              </a:defRPr>
            </a:pPr>
            <a:r>
              <a:rPr sz="1875" b="1">
                <a:solidFill>
                  <a:srgbClr val="2C637F"/>
                </a:solidFill>
                <a:latin typeface="Inter"/>
                <a:ea typeface="Inter"/>
                <a:cs typeface="Inter"/>
              </a:rPr>
              <a:t>S2 · Separate final component</a:t>
            </a:r>
          </a:p>
        </p:txBody>
      </p:sp>
      <p:sp>
        <p:nvSpPr>
          <p:cNvPr id="20" name="">
            <a:extLst xmlns:a="http://schemas.openxmlformats.org/drawingml/2006/main">
              <a:ext uri="{FF2B5EF4-FFF2-40B4-BE49-F238E27FC236}">
                <a16:creationId xmlns:a16="http://schemas.microsoft.com/office/drawing/2014/main" id="{0A67B510-7553-4264-8F8C-03548F15EE0D}"/>
              </a:ext>
            </a:extLst>
          </p:cNvPr>
          <p:cNvSpPr>
            <a:spLocks xmlns:a="http://schemas.openxmlformats.org/drawingml/2006/main" noGrp="1"/>
          </p:cNvSpPr>
          <p:nvPr/>
        </p:nvSpPr>
        <p:spPr>
          <a:xfrm xmlns:a="http://schemas.openxmlformats.org/drawingml/2006/main">
            <a:off x="457200" y="5257800"/>
            <a:ext cx="2428875" cy="819150"/>
          </a:xfrm>
          <a:prstGeom xmlns:a="http://schemas.openxmlformats.org/drawingml/2006/main" prst="rect">
            <a:avLst/>
          </a:prstGeom>
          <a:solidFill xmlns:a="http://schemas.openxmlformats.org/drawingml/2006/main">
            <a:srgbClr val="E2F2FA"/>
          </a:solidFill>
          <a:ln xmlns:a="http://schemas.openxmlformats.org/drawingml/2006/main" w="13335">
            <a:solidFill>
              <a:srgbClr val="2C637F"/>
            </a:solidFill>
          </a:ln>
        </p:spPr>
      </p:sp>
      <p:sp>
        <p:nvSpPr>
          <p:cNvPr id="21" name="">
            <a:extLst xmlns:a="http://schemas.openxmlformats.org/drawingml/2006/main">
              <a:ext uri="{FF2B5EF4-FFF2-40B4-BE49-F238E27FC236}">
                <a16:creationId xmlns:a16="http://schemas.microsoft.com/office/drawing/2014/main" id="{FEBA27EB-50B3-46B5-B176-5A1CA1853320}"/>
              </a:ext>
            </a:extLst>
          </p:cNvPr>
          <p:cNvSpPr>
            <a:spLocks xmlns:a="http://schemas.openxmlformats.org/drawingml/2006/main" noGrp="1"/>
          </p:cNvSpPr>
          <p:nvPr/>
        </p:nvSpPr>
        <p:spPr>
          <a:xfrm xmlns:a="http://schemas.openxmlformats.org/drawingml/2006/main">
            <a:off x="600075" y="5381625"/>
            <a:ext cx="2143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2C637F"/>
                </a:solidFill>
                <a:latin typeface="Inter"/>
                <a:ea typeface="Inter"/>
                <a:cs typeface="Inter"/>
              </a:defRPr>
            </a:pPr>
            <a:r>
              <a:rPr sz="1800" b="0">
                <a:solidFill>
                  <a:srgbClr val="2C637F"/>
                </a:solidFill>
                <a:latin typeface="Inter"/>
                <a:ea typeface="Inter"/>
                <a:cs typeface="Inter"/>
              </a:rPr>
              <a:t>BETO</a:t>
            </a:r>
          </a:p>
          <a:p xmlns:a="http://schemas.openxmlformats.org/drawingml/2006/main">
            <a:pPr>
              <a:defRPr sz="1800" b="0">
                <a:solidFill>
                  <a:srgbClr val="2C637F"/>
                </a:solidFill>
                <a:latin typeface="Inter"/>
                <a:ea typeface="Inter"/>
                <a:cs typeface="Inter"/>
              </a:defRPr>
            </a:pPr>
            <a:r>
              <a:rPr sz="1800" b="0">
                <a:solidFill>
                  <a:srgbClr val="2C637F"/>
                </a:solidFill>
                <a:latin typeface="Inter"/>
                <a:ea typeface="Inter"/>
                <a:cs typeface="Inter"/>
              </a:rPr>
              <a:t>384 tokens</a:t>
            </a:r>
          </a:p>
        </p:txBody>
      </p:sp>
      <p:sp>
        <p:nvSpPr>
          <p:cNvPr id="22" name="">
            <a:extLst xmlns:a="http://schemas.openxmlformats.org/drawingml/2006/main">
              <a:ext uri="{FF2B5EF4-FFF2-40B4-BE49-F238E27FC236}">
                <a16:creationId xmlns:a16="http://schemas.microsoft.com/office/drawing/2014/main" id="{917D2A0A-334B-4404-9F77-BCA4963826BF}"/>
              </a:ext>
            </a:extLst>
          </p:cNvPr>
          <p:cNvSpPr>
            <a:spLocks xmlns:a="http://schemas.openxmlformats.org/drawingml/2006/main" noGrp="1"/>
          </p:cNvSpPr>
          <p:nvPr/>
        </p:nvSpPr>
        <p:spPr>
          <a:xfrm xmlns:a="http://schemas.openxmlformats.org/drawingml/2006/main">
            <a:off x="3390900" y="5257800"/>
            <a:ext cx="2476500" cy="819150"/>
          </a:xfrm>
          <a:prstGeom xmlns:a="http://schemas.openxmlformats.org/drawingml/2006/main" prst="rect">
            <a:avLst/>
          </a:prstGeom>
          <a:solidFill xmlns:a="http://schemas.openxmlformats.org/drawingml/2006/main">
            <a:srgbClr val="E2F2FA"/>
          </a:solidFill>
          <a:ln xmlns:a="http://schemas.openxmlformats.org/drawingml/2006/main" w="13335">
            <a:solidFill>
              <a:srgbClr val="2C637F"/>
            </a:solidFill>
          </a:ln>
        </p:spPr>
      </p:sp>
      <p:sp>
        <p:nvSpPr>
          <p:cNvPr id="23" name="">
            <a:extLst xmlns:a="http://schemas.openxmlformats.org/drawingml/2006/main">
              <a:ext uri="{FF2B5EF4-FFF2-40B4-BE49-F238E27FC236}">
                <a16:creationId xmlns:a16="http://schemas.microsoft.com/office/drawing/2014/main" id="{2D3142F2-CF8F-4B43-80F9-F4289555D5FE}"/>
              </a:ext>
            </a:extLst>
          </p:cNvPr>
          <p:cNvSpPr>
            <a:spLocks xmlns:a="http://schemas.openxmlformats.org/drawingml/2006/main" noGrp="1"/>
          </p:cNvSpPr>
          <p:nvPr/>
        </p:nvSpPr>
        <p:spPr>
          <a:xfrm xmlns:a="http://schemas.openxmlformats.org/drawingml/2006/main">
            <a:off x="3533775" y="5381625"/>
            <a:ext cx="2190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2C637F"/>
                </a:solidFill>
                <a:latin typeface="Inter"/>
                <a:ea typeface="Inter"/>
                <a:cs typeface="Inter"/>
              </a:defRPr>
            </a:pPr>
            <a:r>
              <a:rPr sz="1800" b="0">
                <a:solidFill>
                  <a:srgbClr val="2C637F"/>
                </a:solidFill>
                <a:latin typeface="Inter"/>
                <a:ea typeface="Inter"/>
                <a:cs typeface="Inter"/>
              </a:rPr>
              <a:t>6 sigmoid</a:t>
            </a:r>
          </a:p>
          <a:p xmlns:a="http://schemas.openxmlformats.org/drawingml/2006/main">
            <a:pPr>
              <a:defRPr sz="1800" b="0">
                <a:solidFill>
                  <a:srgbClr val="2C637F"/>
                </a:solidFill>
                <a:latin typeface="Inter"/>
                <a:ea typeface="Inter"/>
                <a:cs typeface="Inter"/>
              </a:defRPr>
            </a:pPr>
            <a:r>
              <a:rPr sz="1800" b="0">
                <a:solidFill>
                  <a:srgbClr val="2C637F"/>
                </a:solidFill>
                <a:latin typeface="Inter"/>
                <a:ea typeface="Inter"/>
                <a:cs typeface="Inter"/>
              </a:rPr>
              <a:t>Threshold ≥ 0.45</a:t>
            </a:r>
          </a:p>
        </p:txBody>
      </p:sp>
      <p:cxnSp>
        <p:nvCxnSpPr>
          <p:cNvPr id="49" name=""/>
          <p:cNvCxnSpPr>
            <a:stCxn xmlns:a="http://schemas.openxmlformats.org/drawingml/2006/main" id="20" idx="3"/>
            <a:endCxn xmlns:a="http://schemas.openxmlformats.org/drawingml/2006/main" id="22" idx="1"/>
          </p:cNvCxnSpPr>
          <p:nvPr/>
        </p:nvCxnSpPr>
        <p:spPr>
          <a:xfrm xmlns:a="http://schemas.openxmlformats.org/drawingml/2006/main">
            <a:off x="2886075" y="5667375"/>
            <a:ext cx="504825" cy="0"/>
          </a:xfrm>
          <a:prstGeom xmlns:a="http://schemas.openxmlformats.org/drawingml/2006/main" prst="straightConnector1">
            <a:avLst/>
          </a:prstGeom>
          <a:ln xmlns:a="http://schemas.openxmlformats.org/drawingml/2006/main" w="21908">
            <a:solidFill>
              <a:srgbClr val="2C637F"/>
            </a:solidFill>
            <a:headEnd type="none" w="med" len="med"/>
            <a:tailEnd type="triangle" w="med" len="med"/>
          </a:ln>
        </p:spPr>
      </p:cxnSp>
      <p:sp>
        <p:nvSpPr>
          <p:cNvPr id="25" name="">
            <a:extLst xmlns:a="http://schemas.openxmlformats.org/drawingml/2006/main">
              <a:ext uri="{FF2B5EF4-FFF2-40B4-BE49-F238E27FC236}">
                <a16:creationId xmlns:a16="http://schemas.microsoft.com/office/drawing/2014/main" id="{2DFD4DD4-F4C5-469C-823D-F63388DFB550}"/>
              </a:ext>
            </a:extLst>
          </p:cNvPr>
          <p:cNvSpPr>
            <a:spLocks xmlns:a="http://schemas.openxmlformats.org/drawingml/2006/main" noGrp="1"/>
          </p:cNvSpPr>
          <p:nvPr/>
        </p:nvSpPr>
        <p:spPr>
          <a:xfrm xmlns:a="http://schemas.openxmlformats.org/drawingml/2006/main">
            <a:off x="6324600" y="5219700"/>
            <a:ext cx="54102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52E3C"/>
                </a:solidFill>
                <a:latin typeface="Inter"/>
                <a:ea typeface="Inter"/>
                <a:cs typeface="Inter"/>
              </a:defRPr>
            </a:pPr>
            <a:r>
              <a:rPr sz="1800" b="0">
                <a:solidFill>
                  <a:srgbClr val="152E3C"/>
                </a:solidFill>
                <a:latin typeface="Inter"/>
                <a:ea typeface="Inter"/>
                <a:cs typeface="Inter"/>
              </a:rPr>
              <a:t>Economic, Physical, Property-related,</a:t>
            </a:r>
          </a:p>
          <a:p xmlns:a="http://schemas.openxmlformats.org/drawingml/2006/main">
            <a:pPr>
              <a:defRPr sz="1800" b="0">
                <a:solidFill>
                  <a:srgbClr val="152E3C"/>
                </a:solidFill>
                <a:latin typeface="Inter"/>
                <a:ea typeface="Inter"/>
                <a:cs typeface="Inter"/>
              </a:defRPr>
            </a:pPr>
            <a:r>
              <a:rPr sz="1800" b="0">
                <a:solidFill>
                  <a:srgbClr val="152E3C"/>
                </a:solidFill>
                <a:latin typeface="Inter"/>
                <a:ea typeface="Inter"/>
                <a:cs typeface="Inter"/>
              </a:rPr>
              <a:t>Psychological, Sexual, Vicarious</a:t>
            </a:r>
          </a:p>
          <a:p xmlns:a="http://schemas.openxmlformats.org/drawingml/2006/main">
            <a:pPr>
              <a:defRPr sz="1800" b="0">
                <a:solidFill>
                  <a:srgbClr val="152E3C"/>
                </a:solidFill>
                <a:latin typeface="Inter"/>
                <a:ea typeface="Inter"/>
                <a:cs typeface="Inter"/>
              </a:defRPr>
            </a:pPr>
            <a:r>
              <a:rPr sz="1800" b="0">
                <a:solidFill>
                  <a:srgbClr val="152E3C"/>
                </a:solidFill>
                <a:latin typeface="Inter"/>
                <a:ea typeface="Inter"/>
                <a:cs typeface="Inter"/>
              </a:rPr>
              <a:t>N/A when none is active</a:t>
            </a:r>
          </a:p>
        </p:txBody>
      </p:sp>
    </p:spTree>
    <p:extLst>
      <p:ext uri="{BB962C8B-B14F-4D97-AF65-F5344CB8AC3E}">
        <p14:creationId xmlns:p14="http://schemas.microsoft.com/office/powerpoint/2010/main" val="360145486"/>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2684869F-7964-4E78-80A1-4DC1B3A833D1}"/>
              </a:ext>
            </a:extLst>
          </p:cNvPr>
          <p:cNvSpPr>
            <a:spLocks xmlns:a="http://schemas.openxmlformats.org/drawingml/2006/main" noGrp="1"/>
          </p:cNvSpPr>
          <p:nvPr/>
        </p:nvSpPr>
        <p:spPr>
          <a:xfrm xmlns:a="http://schemas.openxmlformats.org/drawingml/2006/main">
            <a:off x="457200" y="304800"/>
            <a:ext cx="11239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75" b="1">
                <a:solidFill>
                  <a:srgbClr val="2C637F"/>
                </a:solidFill>
                <a:latin typeface="Inter"/>
                <a:ea typeface="Inter"/>
                <a:cs typeface="Inter"/>
              </a:defRPr>
            </a:pPr>
            <a:r>
              <a:rPr sz="3075" b="1">
                <a:solidFill>
                  <a:srgbClr val="2C637F"/>
                </a:solidFill>
                <a:latin typeface="Inter"/>
                <a:ea typeface="Inter"/>
                <a:cs typeface="Inter"/>
              </a:rPr>
              <a:t>Targeted Severe augmentation</a:t>
            </a:r>
          </a:p>
        </p:txBody>
      </p:sp>
      <p:sp>
        <p:nvSpPr>
          <p:cNvPr id="2" name="">
            <a:extLst xmlns:a="http://schemas.openxmlformats.org/drawingml/2006/main">
              <a:ext uri="{FF2B5EF4-FFF2-40B4-BE49-F238E27FC236}">
                <a16:creationId xmlns:a16="http://schemas.microsoft.com/office/drawing/2014/main" id="{1ED9B695-370F-4007-B148-233E127CAFBB}"/>
              </a:ext>
            </a:extLst>
          </p:cNvPr>
          <p:cNvSpPr>
            <a:spLocks xmlns:a="http://schemas.openxmlformats.org/drawingml/2006/main" noGrp="1"/>
          </p:cNvSpPr>
          <p:nvPr/>
        </p:nvSpPr>
        <p:spPr>
          <a:xfrm xmlns:a="http://schemas.openxmlformats.org/drawingml/2006/main">
            <a:off x="457200" y="65532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2C637F"/>
                </a:solidFill>
                <a:latin typeface="Inter"/>
                <a:ea typeface="Inter"/>
                <a:cs typeface="Inter"/>
              </a:defRPr>
            </a:pPr>
            <a:r>
              <a:rPr sz="1125" b="0">
                <a:solidFill>
                  <a:srgbClr val="2C637F"/>
                </a:solidFill>
                <a:latin typeface="Inter"/>
                <a:ea typeface="Inter"/>
                <a:cs typeface="Inter"/>
              </a:rPr>
              <a:t>WOMENHELP 2026   /   IBERLEF</a:t>
            </a:r>
          </a:p>
        </p:txBody>
      </p:sp>
      <p:sp>
        <p:nvSpPr>
          <p:cNvPr id="3" name="">
            <a:extLst xmlns:a="http://schemas.openxmlformats.org/drawingml/2006/main">
              <a:ext uri="{FF2B5EF4-FFF2-40B4-BE49-F238E27FC236}">
                <a16:creationId xmlns:a16="http://schemas.microsoft.com/office/drawing/2014/main" id="{778E4BC1-5C1D-4CB8-9228-8FD1D501270E}"/>
              </a:ext>
            </a:extLst>
          </p:cNvPr>
          <p:cNvSpPr>
            <a:spLocks xmlns:a="http://schemas.openxmlformats.org/drawingml/2006/main" noGrp="1"/>
          </p:cNvSpPr>
          <p:nvPr/>
        </p:nvSpPr>
        <p:spPr>
          <a:xfrm xmlns:a="http://schemas.openxmlformats.org/drawingml/2006/main">
            <a:off x="11334750" y="654367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2C637F"/>
                </a:solidFill>
                <a:latin typeface="Inter"/>
                <a:ea typeface="Inter"/>
                <a:cs typeface="Inter"/>
              </a:defRPr>
            </a:pPr>
            <a:r>
              <a:rPr sz="1200" b="0">
                <a:solidFill>
                  <a:srgbClr val="2C637F"/>
                </a:solidFill>
                <a:latin typeface="Inter"/>
                <a:ea typeface="Inter"/>
                <a:cs typeface="Inter"/>
              </a:rPr>
              <a:t>05</a:t>
            </a:r>
          </a:p>
        </p:txBody>
      </p:sp>
      <p:sp>
        <p:nvSpPr>
          <p:cNvPr id="4" name="">
            <a:extLst xmlns:a="http://schemas.openxmlformats.org/drawingml/2006/main">
              <a:ext uri="{FF2B5EF4-FFF2-40B4-BE49-F238E27FC236}">
                <a16:creationId xmlns:a16="http://schemas.microsoft.com/office/drawing/2014/main" id="{3FA71FB3-2747-4D0B-A660-A44EF757FC51}"/>
              </a:ext>
            </a:extLst>
          </p:cNvPr>
          <p:cNvSpPr>
            <a:spLocks xmlns:a="http://schemas.openxmlformats.org/drawingml/2006/main" noGrp="1"/>
          </p:cNvSpPr>
          <p:nvPr/>
        </p:nvSpPr>
        <p:spPr>
          <a:xfrm xmlns:a="http://schemas.openxmlformats.org/drawingml/2006/main">
            <a:off x="457200" y="1362075"/>
            <a:ext cx="11239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2C637F"/>
                </a:solidFill>
                <a:latin typeface="Inter"/>
                <a:ea typeface="Inter"/>
                <a:cs typeface="Inter"/>
              </a:defRPr>
            </a:pPr>
            <a:r>
              <a:rPr sz="1800" b="0">
                <a:solidFill>
                  <a:srgbClr val="2C637F"/>
                </a:solidFill>
                <a:latin typeface="Inter"/>
                <a:ea typeface="Inter"/>
                <a:cs typeface="Inter"/>
              </a:rPr>
              <a:t>Training only · Originals retained · Labels inherited</a:t>
            </a:r>
          </a:p>
        </p:txBody>
      </p:sp>
      <p:sp>
        <p:nvSpPr>
          <p:cNvPr id="5" name="">
            <a:extLst xmlns:a="http://schemas.openxmlformats.org/drawingml/2006/main">
              <a:ext uri="{FF2B5EF4-FFF2-40B4-BE49-F238E27FC236}">
                <a16:creationId xmlns:a16="http://schemas.microsoft.com/office/drawing/2014/main" id="{C78C47B4-DF98-42DB-9DDB-0C02BD61A5D3}"/>
              </a:ext>
            </a:extLst>
          </p:cNvPr>
          <p:cNvSpPr>
            <a:spLocks xmlns:a="http://schemas.openxmlformats.org/drawingml/2006/main" noGrp="1"/>
          </p:cNvSpPr>
          <p:nvPr/>
        </p:nvSpPr>
        <p:spPr>
          <a:xfrm xmlns:a="http://schemas.openxmlformats.org/drawingml/2006/main">
            <a:off x="457200" y="2019300"/>
            <a:ext cx="2447925" cy="1000125"/>
          </a:xfrm>
          <a:prstGeom xmlns:a="http://schemas.openxmlformats.org/drawingml/2006/main" prst="rect">
            <a:avLst/>
          </a:prstGeom>
          <a:solidFill xmlns:a="http://schemas.openxmlformats.org/drawingml/2006/main">
            <a:srgbClr val="E2F2FA"/>
          </a:solidFill>
          <a:ln xmlns:a="http://schemas.openxmlformats.org/drawingml/2006/main" w="13335">
            <a:solidFill>
              <a:srgbClr val="2C637F"/>
            </a:solidFill>
          </a:ln>
        </p:spPr>
      </p:sp>
      <p:sp>
        <p:nvSpPr>
          <p:cNvPr id="6" name="">
            <a:extLst xmlns:a="http://schemas.openxmlformats.org/drawingml/2006/main">
              <a:ext uri="{FF2B5EF4-FFF2-40B4-BE49-F238E27FC236}">
                <a16:creationId xmlns:a16="http://schemas.microsoft.com/office/drawing/2014/main" id="{8C9CD948-FAE1-475C-8EA1-CF1F2574854C}"/>
              </a:ext>
            </a:extLst>
          </p:cNvPr>
          <p:cNvSpPr>
            <a:spLocks xmlns:a="http://schemas.openxmlformats.org/drawingml/2006/main" noGrp="1"/>
          </p:cNvSpPr>
          <p:nvPr/>
        </p:nvSpPr>
        <p:spPr>
          <a:xfrm xmlns:a="http://schemas.openxmlformats.org/drawingml/2006/main">
            <a:off x="600075" y="2143125"/>
            <a:ext cx="21621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2C637F"/>
                </a:solidFill>
                <a:latin typeface="Inter"/>
                <a:ea typeface="Inter"/>
                <a:cs typeface="Inter"/>
              </a:defRPr>
            </a:pPr>
            <a:r>
              <a:rPr sz="1800" b="0">
                <a:solidFill>
                  <a:srgbClr val="2C637F"/>
                </a:solidFill>
                <a:latin typeface="Inter"/>
                <a:ea typeface="Inter"/>
                <a:cs typeface="Inter"/>
              </a:rPr>
              <a:t>616 Severe</a:t>
            </a:r>
          </a:p>
          <a:p xmlns:a="http://schemas.openxmlformats.org/drawingml/2006/main">
            <a:pPr>
              <a:defRPr sz="1800" b="0">
                <a:solidFill>
                  <a:srgbClr val="2C637F"/>
                </a:solidFill>
                <a:latin typeface="Inter"/>
                <a:ea typeface="Inter"/>
                <a:cs typeface="Inter"/>
              </a:defRPr>
            </a:pPr>
            <a:r>
              <a:rPr sz="1800" b="0">
                <a:solidFill>
                  <a:srgbClr val="2C637F"/>
                </a:solidFill>
                <a:latin typeface="Inter"/>
                <a:ea typeface="Inter"/>
                <a:cs typeface="Inter"/>
              </a:rPr>
              <a:t>13,630 reports</a:t>
            </a:r>
          </a:p>
        </p:txBody>
      </p:sp>
      <p:sp>
        <p:nvSpPr>
          <p:cNvPr id="7" name="">
            <a:extLst xmlns:a="http://schemas.openxmlformats.org/drawingml/2006/main">
              <a:ext uri="{FF2B5EF4-FFF2-40B4-BE49-F238E27FC236}">
                <a16:creationId xmlns:a16="http://schemas.microsoft.com/office/drawing/2014/main" id="{8C6717C6-1D15-4778-92BD-9B824F07F447}"/>
              </a:ext>
            </a:extLst>
          </p:cNvPr>
          <p:cNvSpPr>
            <a:spLocks xmlns:a="http://schemas.openxmlformats.org/drawingml/2006/main" noGrp="1"/>
          </p:cNvSpPr>
          <p:nvPr/>
        </p:nvSpPr>
        <p:spPr>
          <a:xfrm xmlns:a="http://schemas.openxmlformats.org/drawingml/2006/main">
            <a:off x="3562350" y="2019300"/>
            <a:ext cx="4210050" cy="1000125"/>
          </a:xfrm>
          <a:prstGeom xmlns:a="http://schemas.openxmlformats.org/drawingml/2006/main" prst="rect">
            <a:avLst/>
          </a:prstGeom>
          <a:solidFill xmlns:a="http://schemas.openxmlformats.org/drawingml/2006/main">
            <a:srgbClr val="E2F2FA"/>
          </a:solidFill>
          <a:ln xmlns:a="http://schemas.openxmlformats.org/drawingml/2006/main" w="13335">
            <a:solidFill>
              <a:srgbClr val="2C637F"/>
            </a:solidFill>
          </a:ln>
        </p:spPr>
      </p:sp>
      <p:sp>
        <p:nvSpPr>
          <p:cNvPr id="8" name="">
            <a:extLst xmlns:a="http://schemas.openxmlformats.org/drawingml/2006/main">
              <a:ext uri="{FF2B5EF4-FFF2-40B4-BE49-F238E27FC236}">
                <a16:creationId xmlns:a16="http://schemas.microsoft.com/office/drawing/2014/main" id="{C8BBFA1B-5DA7-4761-BA12-88BE5E96ADF8}"/>
              </a:ext>
            </a:extLst>
          </p:cNvPr>
          <p:cNvSpPr>
            <a:spLocks xmlns:a="http://schemas.openxmlformats.org/drawingml/2006/main" noGrp="1"/>
          </p:cNvSpPr>
          <p:nvPr/>
        </p:nvSpPr>
        <p:spPr>
          <a:xfrm xmlns:a="http://schemas.openxmlformats.org/drawingml/2006/main">
            <a:off x="3705225" y="2143125"/>
            <a:ext cx="39243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2C637F"/>
                </a:solidFill>
                <a:latin typeface="Inter"/>
                <a:ea typeface="Inter"/>
                <a:cs typeface="Inter"/>
              </a:defRPr>
            </a:pPr>
            <a:r>
              <a:rPr sz="1800" b="0">
                <a:solidFill>
                  <a:srgbClr val="2C637F"/>
                </a:solidFill>
                <a:latin typeface="Inter"/>
                <a:ea typeface="Inter"/>
                <a:cs typeface="Inter"/>
              </a:rPr>
              <a:t>Cues from the original</a:t>
            </a:r>
          </a:p>
          <a:p xmlns:a="http://schemas.openxmlformats.org/drawingml/2006/main">
            <a:pPr>
              <a:defRPr sz="1800" b="0">
                <a:solidFill>
                  <a:srgbClr val="2C637F"/>
                </a:solidFill>
                <a:latin typeface="Inter"/>
                <a:ea typeface="Inter"/>
                <a:cs typeface="Inter"/>
              </a:defRPr>
            </a:pPr>
            <a:r>
              <a:rPr sz="1800" b="0">
                <a:solidFill>
                  <a:srgbClr val="2C637F"/>
                </a:solidFill>
                <a:latin typeface="Inter"/>
                <a:ea typeface="Inter"/>
                <a:cs typeface="Inter"/>
              </a:rPr>
              <a:t>Relationship, time, actions</a:t>
            </a:r>
          </a:p>
        </p:txBody>
      </p:sp>
      <p:sp>
        <p:nvSpPr>
          <p:cNvPr id="9" name="">
            <a:extLst xmlns:a="http://schemas.openxmlformats.org/drawingml/2006/main">
              <a:ext uri="{FF2B5EF4-FFF2-40B4-BE49-F238E27FC236}">
                <a16:creationId xmlns:a16="http://schemas.microsoft.com/office/drawing/2014/main" id="{2075467A-7C7A-4BF4-8F3B-8A341C76830B}"/>
              </a:ext>
            </a:extLst>
          </p:cNvPr>
          <p:cNvSpPr>
            <a:spLocks xmlns:a="http://schemas.openxmlformats.org/drawingml/2006/main" noGrp="1"/>
          </p:cNvSpPr>
          <p:nvPr/>
        </p:nvSpPr>
        <p:spPr>
          <a:xfrm xmlns:a="http://schemas.openxmlformats.org/drawingml/2006/main">
            <a:off x="8439150" y="2019300"/>
            <a:ext cx="3238500" cy="1000125"/>
          </a:xfrm>
          <a:prstGeom xmlns:a="http://schemas.openxmlformats.org/drawingml/2006/main" prst="rect">
            <a:avLst/>
          </a:prstGeom>
          <a:solidFill xmlns:a="http://schemas.openxmlformats.org/drawingml/2006/main">
            <a:srgbClr val="E2F2FA"/>
          </a:solidFill>
          <a:ln xmlns:a="http://schemas.openxmlformats.org/drawingml/2006/main" w="13335">
            <a:solidFill>
              <a:srgbClr val="2C637F"/>
            </a:solidFill>
          </a:ln>
        </p:spPr>
      </p:sp>
      <p:sp>
        <p:nvSpPr>
          <p:cNvPr id="10" name="">
            <a:extLst xmlns:a="http://schemas.openxmlformats.org/drawingml/2006/main">
              <a:ext uri="{FF2B5EF4-FFF2-40B4-BE49-F238E27FC236}">
                <a16:creationId xmlns:a16="http://schemas.microsoft.com/office/drawing/2014/main" id="{ACBA01AA-2CAA-4833-8A62-D8E44960CE18}"/>
              </a:ext>
            </a:extLst>
          </p:cNvPr>
          <p:cNvSpPr>
            <a:spLocks xmlns:a="http://schemas.openxmlformats.org/drawingml/2006/main" noGrp="1"/>
          </p:cNvSpPr>
          <p:nvPr/>
        </p:nvSpPr>
        <p:spPr>
          <a:xfrm xmlns:a="http://schemas.openxmlformats.org/drawingml/2006/main">
            <a:off x="8582025" y="2143125"/>
            <a:ext cx="295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2C637F"/>
                </a:solidFill>
                <a:latin typeface="Inter"/>
                <a:ea typeface="Inter"/>
                <a:cs typeface="Inter"/>
              </a:defRPr>
            </a:pPr>
            <a:r>
              <a:rPr sz="1800" b="0">
                <a:solidFill>
                  <a:srgbClr val="2C637F"/>
                </a:solidFill>
                <a:latin typeface="Inter"/>
                <a:ea typeface="Inter"/>
                <a:cs typeface="Inter"/>
              </a:rPr>
              <a:t>+516 texts</a:t>
            </a:r>
          </a:p>
          <a:p xmlns:a="http://schemas.openxmlformats.org/drawingml/2006/main">
            <a:pPr>
              <a:defRPr sz="1800" b="0">
                <a:solidFill>
                  <a:srgbClr val="2C637F"/>
                </a:solidFill>
                <a:latin typeface="Inter"/>
                <a:ea typeface="Inter"/>
                <a:cs typeface="Inter"/>
              </a:defRPr>
            </a:pPr>
            <a:r>
              <a:rPr sz="1800" b="0">
                <a:solidFill>
                  <a:srgbClr val="2C637F"/>
                </a:solidFill>
                <a:latin typeface="Inter"/>
                <a:ea typeface="Inter"/>
                <a:cs typeface="Inter"/>
              </a:rPr>
              <a:t>At most 2 per source</a:t>
            </a:r>
          </a:p>
        </p:txBody>
      </p:sp>
      <p:cxnSp>
        <p:nvCxnSpPr>
          <p:cNvPr id="36" name=""/>
          <p:cNvCxnSpPr>
            <a:stCxn xmlns:a="http://schemas.openxmlformats.org/drawingml/2006/main" id="5" idx="3"/>
            <a:endCxn xmlns:a="http://schemas.openxmlformats.org/drawingml/2006/main" id="7" idx="1"/>
          </p:cNvCxnSpPr>
          <p:nvPr/>
        </p:nvCxnSpPr>
        <p:spPr>
          <a:xfrm xmlns:a="http://schemas.openxmlformats.org/drawingml/2006/main">
            <a:off x="2905125" y="2519363"/>
            <a:ext cx="657225" cy="0"/>
          </a:xfrm>
          <a:prstGeom xmlns:a="http://schemas.openxmlformats.org/drawingml/2006/main" prst="straightConnector1">
            <a:avLst/>
          </a:prstGeom>
          <a:ln xmlns:a="http://schemas.openxmlformats.org/drawingml/2006/main" w="21908">
            <a:solidFill>
              <a:srgbClr val="2C637F"/>
            </a:solidFill>
            <a:headEnd type="none" w="med" len="med"/>
            <a:tailEnd type="triangle" w="med" len="med"/>
          </a:ln>
        </p:spPr>
      </p:cxnSp>
      <p:cxnSp>
        <p:nvCxnSpPr>
          <p:cNvPr id="37" name=""/>
          <p:cNvCxnSpPr>
            <a:stCxn xmlns:a="http://schemas.openxmlformats.org/drawingml/2006/main" id="7" idx="3"/>
            <a:endCxn xmlns:a="http://schemas.openxmlformats.org/drawingml/2006/main" id="9" idx="1"/>
          </p:cNvCxnSpPr>
          <p:nvPr/>
        </p:nvCxnSpPr>
        <p:spPr>
          <a:xfrm xmlns:a="http://schemas.openxmlformats.org/drawingml/2006/main">
            <a:off x="7772400" y="2519363"/>
            <a:ext cx="666750" cy="0"/>
          </a:xfrm>
          <a:prstGeom xmlns:a="http://schemas.openxmlformats.org/drawingml/2006/main" prst="straightConnector1">
            <a:avLst/>
          </a:prstGeom>
          <a:ln xmlns:a="http://schemas.openxmlformats.org/drawingml/2006/main" w="21908">
            <a:solidFill>
              <a:srgbClr val="2C637F"/>
            </a:solidFill>
            <a:headEnd type="none" w="med" len="med"/>
            <a:tailEnd type="triangle" w="med" len="med"/>
          </a:ln>
        </p:spPr>
      </p:cxnSp>
      <p:sp>
        <p:nvSpPr>
          <p:cNvPr id="13" name="">
            <a:extLst xmlns:a="http://schemas.openxmlformats.org/drawingml/2006/main">
              <a:ext uri="{FF2B5EF4-FFF2-40B4-BE49-F238E27FC236}">
                <a16:creationId xmlns:a16="http://schemas.microsoft.com/office/drawing/2014/main" id="{12388745-FE9C-4D09-A0AB-8B54973F88CB}"/>
              </a:ext>
            </a:extLst>
          </p:cNvPr>
          <p:cNvSpPr>
            <a:spLocks xmlns:a="http://schemas.openxmlformats.org/drawingml/2006/main" noGrp="1"/>
          </p:cNvSpPr>
          <p:nvPr/>
        </p:nvSpPr>
        <p:spPr>
          <a:xfrm xmlns:a="http://schemas.openxmlformats.org/drawingml/2006/main">
            <a:off x="457200" y="3429000"/>
            <a:ext cx="7096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C637F"/>
                </a:solidFill>
                <a:latin typeface="Inter"/>
                <a:ea typeface="Inter"/>
                <a:cs typeface="Inter"/>
              </a:defRPr>
            </a:pPr>
            <a:r>
              <a:rPr sz="1950" b="1">
                <a:solidFill>
                  <a:srgbClr val="2C637F"/>
                </a:solidFill>
                <a:latin typeface="Inter"/>
                <a:ea typeface="Inter"/>
                <a:cs typeface="Inter"/>
              </a:rPr>
              <a:t>Composition using report templates</a:t>
            </a:r>
          </a:p>
        </p:txBody>
      </p:sp>
      <p:sp>
        <p:nvSpPr>
          <p:cNvPr id="14" name="">
            <a:extLst xmlns:a="http://schemas.openxmlformats.org/drawingml/2006/main">
              <a:ext uri="{FF2B5EF4-FFF2-40B4-BE49-F238E27FC236}">
                <a16:creationId xmlns:a16="http://schemas.microsoft.com/office/drawing/2014/main" id="{8120775B-0BE5-4825-9E16-D620D9F37288}"/>
              </a:ext>
            </a:extLst>
          </p:cNvPr>
          <p:cNvSpPr>
            <a:spLocks xmlns:a="http://schemas.openxmlformats.org/drawingml/2006/main" noGrp="1"/>
          </p:cNvSpPr>
          <p:nvPr/>
        </p:nvSpPr>
        <p:spPr>
          <a:xfrm xmlns:a="http://schemas.openxmlformats.org/drawingml/2006/main">
            <a:off x="457200" y="3924300"/>
            <a:ext cx="1647825" cy="571500"/>
          </a:xfrm>
          <a:prstGeom xmlns:a="http://schemas.openxmlformats.org/drawingml/2006/main" prst="rect">
            <a:avLst/>
          </a:prstGeom>
          <a:solidFill xmlns:a="http://schemas.openxmlformats.org/drawingml/2006/main">
            <a:srgbClr val="E2F2FA"/>
          </a:solidFill>
          <a:ln xmlns:a="http://schemas.openxmlformats.org/drawingml/2006/main" w="13335">
            <a:solidFill>
              <a:srgbClr val="2C637F"/>
            </a:solidFill>
          </a:ln>
        </p:spPr>
      </p:sp>
      <p:sp>
        <p:nvSpPr>
          <p:cNvPr id="15" name="">
            <a:extLst xmlns:a="http://schemas.openxmlformats.org/drawingml/2006/main">
              <a:ext uri="{FF2B5EF4-FFF2-40B4-BE49-F238E27FC236}">
                <a16:creationId xmlns:a16="http://schemas.microsoft.com/office/drawing/2014/main" id="{9CAE5875-7B04-479D-A981-4E8C2F8FADA9}"/>
              </a:ext>
            </a:extLst>
          </p:cNvPr>
          <p:cNvSpPr>
            <a:spLocks xmlns:a="http://schemas.openxmlformats.org/drawingml/2006/main" noGrp="1"/>
          </p:cNvSpPr>
          <p:nvPr/>
        </p:nvSpPr>
        <p:spPr>
          <a:xfrm xmlns:a="http://schemas.openxmlformats.org/drawingml/2006/main">
            <a:off x="600075" y="4048125"/>
            <a:ext cx="13620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2C637F"/>
                </a:solidFill>
                <a:latin typeface="Inter"/>
                <a:ea typeface="Inter"/>
                <a:cs typeface="Inter"/>
              </a:defRPr>
            </a:pPr>
            <a:r>
              <a:rPr sz="1650" b="0">
                <a:solidFill>
                  <a:srgbClr val="2C637F"/>
                </a:solidFill>
                <a:latin typeface="Inter"/>
                <a:ea typeface="Inter"/>
                <a:cs typeface="Inter"/>
              </a:rPr>
              <a:t>Opening</a:t>
            </a:r>
          </a:p>
        </p:txBody>
      </p:sp>
      <p:sp>
        <p:nvSpPr>
          <p:cNvPr id="16" name="">
            <a:extLst xmlns:a="http://schemas.openxmlformats.org/drawingml/2006/main">
              <a:ext uri="{FF2B5EF4-FFF2-40B4-BE49-F238E27FC236}">
                <a16:creationId xmlns:a16="http://schemas.microsoft.com/office/drawing/2014/main" id="{776FBC8D-9D20-497C-B4ED-CD6F1C5833B5}"/>
              </a:ext>
            </a:extLst>
          </p:cNvPr>
          <p:cNvSpPr>
            <a:spLocks xmlns:a="http://schemas.openxmlformats.org/drawingml/2006/main" noGrp="1"/>
          </p:cNvSpPr>
          <p:nvPr/>
        </p:nvSpPr>
        <p:spPr>
          <a:xfrm xmlns:a="http://schemas.openxmlformats.org/drawingml/2006/main">
            <a:off x="2286000" y="3924300"/>
            <a:ext cx="1647825" cy="571500"/>
          </a:xfrm>
          <a:prstGeom xmlns:a="http://schemas.openxmlformats.org/drawingml/2006/main" prst="rect">
            <a:avLst/>
          </a:prstGeom>
          <a:solidFill xmlns:a="http://schemas.openxmlformats.org/drawingml/2006/main">
            <a:srgbClr val="E2F2FA"/>
          </a:solidFill>
          <a:ln xmlns:a="http://schemas.openxmlformats.org/drawingml/2006/main" w="13335">
            <a:solidFill>
              <a:srgbClr val="2C637F"/>
            </a:solidFill>
          </a:ln>
        </p:spPr>
      </p:sp>
      <p:sp>
        <p:nvSpPr>
          <p:cNvPr id="17" name="">
            <a:extLst xmlns:a="http://schemas.openxmlformats.org/drawingml/2006/main">
              <a:ext uri="{FF2B5EF4-FFF2-40B4-BE49-F238E27FC236}">
                <a16:creationId xmlns:a16="http://schemas.microsoft.com/office/drawing/2014/main" id="{C1DA5467-7249-41B6-95FF-706610BD7A21}"/>
              </a:ext>
            </a:extLst>
          </p:cNvPr>
          <p:cNvSpPr>
            <a:spLocks xmlns:a="http://schemas.openxmlformats.org/drawingml/2006/main" noGrp="1"/>
          </p:cNvSpPr>
          <p:nvPr/>
        </p:nvSpPr>
        <p:spPr>
          <a:xfrm xmlns:a="http://schemas.openxmlformats.org/drawingml/2006/main">
            <a:off x="2428875" y="4048125"/>
            <a:ext cx="13620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2C637F"/>
                </a:solidFill>
                <a:latin typeface="Inter"/>
                <a:ea typeface="Inter"/>
                <a:cs typeface="Inter"/>
              </a:defRPr>
            </a:pPr>
            <a:r>
              <a:rPr sz="1650" b="0">
                <a:solidFill>
                  <a:srgbClr val="2C637F"/>
                </a:solidFill>
                <a:latin typeface="Inter"/>
                <a:ea typeface="Inter"/>
                <a:cs typeface="Inter"/>
              </a:rPr>
              <a:t>Actions</a:t>
            </a:r>
          </a:p>
        </p:txBody>
      </p:sp>
      <p:sp>
        <p:nvSpPr>
          <p:cNvPr id="18" name="">
            <a:extLst xmlns:a="http://schemas.openxmlformats.org/drawingml/2006/main">
              <a:ext uri="{FF2B5EF4-FFF2-40B4-BE49-F238E27FC236}">
                <a16:creationId xmlns:a16="http://schemas.microsoft.com/office/drawing/2014/main" id="{B1AACA55-51A4-402F-85B3-6B23D776C839}"/>
              </a:ext>
            </a:extLst>
          </p:cNvPr>
          <p:cNvSpPr>
            <a:spLocks xmlns:a="http://schemas.openxmlformats.org/drawingml/2006/main" noGrp="1"/>
          </p:cNvSpPr>
          <p:nvPr/>
        </p:nvSpPr>
        <p:spPr>
          <a:xfrm xmlns:a="http://schemas.openxmlformats.org/drawingml/2006/main">
            <a:off x="4114800" y="3924300"/>
            <a:ext cx="1647825" cy="571500"/>
          </a:xfrm>
          <a:prstGeom xmlns:a="http://schemas.openxmlformats.org/drawingml/2006/main" prst="rect">
            <a:avLst/>
          </a:prstGeom>
          <a:solidFill xmlns:a="http://schemas.openxmlformats.org/drawingml/2006/main">
            <a:srgbClr val="E2F2FA"/>
          </a:solidFill>
          <a:ln xmlns:a="http://schemas.openxmlformats.org/drawingml/2006/main" w="13335">
            <a:solidFill>
              <a:srgbClr val="2C637F"/>
            </a:solidFill>
          </a:ln>
        </p:spPr>
      </p:sp>
      <p:sp>
        <p:nvSpPr>
          <p:cNvPr id="19" name="">
            <a:extLst xmlns:a="http://schemas.openxmlformats.org/drawingml/2006/main">
              <a:ext uri="{FF2B5EF4-FFF2-40B4-BE49-F238E27FC236}">
                <a16:creationId xmlns:a16="http://schemas.microsoft.com/office/drawing/2014/main" id="{8F40D2B9-7A40-4E9F-9910-83893EFBABDB}"/>
              </a:ext>
            </a:extLst>
          </p:cNvPr>
          <p:cNvSpPr>
            <a:spLocks xmlns:a="http://schemas.openxmlformats.org/drawingml/2006/main" noGrp="1"/>
          </p:cNvSpPr>
          <p:nvPr/>
        </p:nvSpPr>
        <p:spPr>
          <a:xfrm xmlns:a="http://schemas.openxmlformats.org/drawingml/2006/main">
            <a:off x="4257675" y="4048125"/>
            <a:ext cx="13620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2C637F"/>
                </a:solidFill>
                <a:latin typeface="Inter"/>
                <a:ea typeface="Inter"/>
                <a:cs typeface="Inter"/>
              </a:defRPr>
            </a:pPr>
            <a:r>
              <a:rPr sz="1650" b="0">
                <a:solidFill>
                  <a:srgbClr val="2C637F"/>
                </a:solidFill>
                <a:latin typeface="Inter"/>
                <a:ea typeface="Inter"/>
                <a:cs typeface="Inter"/>
              </a:rPr>
              <a:t>Context</a:t>
            </a:r>
          </a:p>
        </p:txBody>
      </p:sp>
      <p:sp>
        <p:nvSpPr>
          <p:cNvPr id="20" name="">
            <a:extLst xmlns:a="http://schemas.openxmlformats.org/drawingml/2006/main">
              <a:ext uri="{FF2B5EF4-FFF2-40B4-BE49-F238E27FC236}">
                <a16:creationId xmlns:a16="http://schemas.microsoft.com/office/drawing/2014/main" id="{BFDA4986-3852-4E1F-8D98-60B7CE6E83CE}"/>
              </a:ext>
            </a:extLst>
          </p:cNvPr>
          <p:cNvSpPr>
            <a:spLocks xmlns:a="http://schemas.openxmlformats.org/drawingml/2006/main" noGrp="1"/>
          </p:cNvSpPr>
          <p:nvPr/>
        </p:nvSpPr>
        <p:spPr>
          <a:xfrm xmlns:a="http://schemas.openxmlformats.org/drawingml/2006/main">
            <a:off x="5943600" y="3924300"/>
            <a:ext cx="1647825" cy="571500"/>
          </a:xfrm>
          <a:prstGeom xmlns:a="http://schemas.openxmlformats.org/drawingml/2006/main" prst="rect">
            <a:avLst/>
          </a:prstGeom>
          <a:solidFill xmlns:a="http://schemas.openxmlformats.org/drawingml/2006/main">
            <a:srgbClr val="E2F2FA"/>
          </a:solidFill>
          <a:ln xmlns:a="http://schemas.openxmlformats.org/drawingml/2006/main" w="13335">
            <a:solidFill>
              <a:srgbClr val="2C637F"/>
            </a:solidFill>
          </a:ln>
        </p:spPr>
      </p:sp>
      <p:sp>
        <p:nvSpPr>
          <p:cNvPr id="21" name="">
            <a:extLst xmlns:a="http://schemas.openxmlformats.org/drawingml/2006/main">
              <a:ext uri="{FF2B5EF4-FFF2-40B4-BE49-F238E27FC236}">
                <a16:creationId xmlns:a16="http://schemas.microsoft.com/office/drawing/2014/main" id="{F63D65D0-9D8A-42E4-9958-A91B0A6C6734}"/>
              </a:ext>
            </a:extLst>
          </p:cNvPr>
          <p:cNvSpPr>
            <a:spLocks xmlns:a="http://schemas.openxmlformats.org/drawingml/2006/main" noGrp="1"/>
          </p:cNvSpPr>
          <p:nvPr/>
        </p:nvSpPr>
        <p:spPr>
          <a:xfrm xmlns:a="http://schemas.openxmlformats.org/drawingml/2006/main">
            <a:off x="6086475" y="4048125"/>
            <a:ext cx="13620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2C637F"/>
                </a:solidFill>
                <a:latin typeface="Inter"/>
                <a:ea typeface="Inter"/>
                <a:cs typeface="Inter"/>
              </a:defRPr>
            </a:pPr>
            <a:r>
              <a:rPr sz="1650" b="0">
                <a:solidFill>
                  <a:srgbClr val="2C637F"/>
                </a:solidFill>
                <a:latin typeface="Inter"/>
                <a:ea typeface="Inter"/>
                <a:cs typeface="Inter"/>
              </a:rPr>
              <a:t>Closure</a:t>
            </a:r>
          </a:p>
        </p:txBody>
      </p:sp>
      <p:sp>
        <p:nvSpPr>
          <p:cNvPr id="22" name="">
            <a:extLst xmlns:a="http://schemas.openxmlformats.org/drawingml/2006/main">
              <a:ext uri="{FF2B5EF4-FFF2-40B4-BE49-F238E27FC236}">
                <a16:creationId xmlns:a16="http://schemas.microsoft.com/office/drawing/2014/main" id="{BD0BA2E9-8EE8-4764-9BE3-E281EB6378E4}"/>
              </a:ext>
            </a:extLst>
          </p:cNvPr>
          <p:cNvSpPr>
            <a:spLocks xmlns:a="http://schemas.openxmlformats.org/drawingml/2006/main" noGrp="1"/>
          </p:cNvSpPr>
          <p:nvPr/>
        </p:nvSpPr>
        <p:spPr>
          <a:xfrm xmlns:a="http://schemas.openxmlformats.org/drawingml/2006/main">
            <a:off x="457200" y="4714875"/>
            <a:ext cx="7000875"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52E3C"/>
                </a:solidFill>
                <a:latin typeface="Inter"/>
                <a:ea typeface="Inter"/>
                <a:cs typeface="Inter"/>
              </a:defRPr>
            </a:pPr>
            <a:r>
              <a:rPr sz="1800" b="0">
                <a:solidFill>
                  <a:srgbClr val="152E3C"/>
                </a:solidFill>
                <a:latin typeface="Inter"/>
                <a:ea typeface="Inter"/>
                <a:cs typeface="Inter"/>
              </a:rPr>
              <a:t>Stable seed per record</a:t>
            </a:r>
          </a:p>
          <a:p xmlns:a="http://schemas.openxmlformats.org/drawingml/2006/main">
            <a:pPr>
              <a:defRPr sz="1800" b="0">
                <a:solidFill>
                  <a:srgbClr val="152E3C"/>
                </a:solidFill>
                <a:latin typeface="Inter"/>
                <a:ea typeface="Inter"/>
                <a:cs typeface="Inter"/>
              </a:defRPr>
            </a:pPr>
            <a:r>
              <a:rPr sz="1800" b="0">
                <a:solidFill>
                  <a:srgbClr val="152E3C"/>
                </a:solidFill>
                <a:latin typeface="Inter"/>
                <a:ea typeface="Inter"/>
                <a:cs typeface="Inter"/>
              </a:rPr>
              <a:t>Cue-conditioned composition</a:t>
            </a:r>
          </a:p>
          <a:p xmlns:a="http://schemas.openxmlformats.org/drawingml/2006/main">
            <a:pPr>
              <a:defRPr sz="1800" b="0">
                <a:solidFill>
                  <a:srgbClr val="152E3C"/>
                </a:solidFill>
                <a:latin typeface="Inter"/>
                <a:ea typeface="Inter"/>
                <a:cs typeface="Inter"/>
              </a:defRPr>
            </a:pPr>
            <a:r>
              <a:rPr sz="1800" b="0">
                <a:solidFill>
                  <a:srgbClr val="152E3C"/>
                </a:solidFill>
                <a:latin typeface="Inter"/>
                <a:ea typeface="Inter"/>
                <a:cs typeface="Inter"/>
              </a:rPr>
              <a:t>Template-based generation</a:t>
            </a:r>
          </a:p>
        </p:txBody>
      </p:sp>
      <p:sp>
        <p:nvSpPr>
          <p:cNvPr id="23" name="">
            <a:extLst xmlns:a="http://schemas.openxmlformats.org/drawingml/2006/main">
              <a:ext uri="{FF2B5EF4-FFF2-40B4-BE49-F238E27FC236}">
                <a16:creationId xmlns:a16="http://schemas.microsoft.com/office/drawing/2014/main" id="{D8153007-157E-4A2A-8EB0-E0904A28489D}"/>
              </a:ext>
            </a:extLst>
          </p:cNvPr>
          <p:cNvSpPr>
            <a:spLocks xmlns:a="http://schemas.openxmlformats.org/drawingml/2006/main" noGrp="1"/>
          </p:cNvSpPr>
          <p:nvPr/>
        </p:nvSpPr>
        <p:spPr>
          <a:xfrm xmlns:a="http://schemas.openxmlformats.org/drawingml/2006/main">
            <a:off x="8134350" y="3419475"/>
            <a:ext cx="35623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C637F"/>
                </a:solidFill>
                <a:latin typeface="Inter"/>
                <a:ea typeface="Inter"/>
                <a:cs typeface="Inter"/>
              </a:defRPr>
            </a:pPr>
            <a:r>
              <a:rPr sz="1800" b="1">
                <a:solidFill>
                  <a:srgbClr val="2C637F"/>
                </a:solidFill>
                <a:latin typeface="Inter"/>
                <a:ea typeface="Inter"/>
                <a:cs typeface="Inter"/>
              </a:rPr>
              <a:t>Severe share (%)</a:t>
            </a:r>
          </a:p>
        </p:txBody>
      </p:sp>
      <p:graphicFrame>
        <p:nvGraphicFramePr>
          <p:cNvPr id="49" name="Chart"/>
          <p:cNvGraphicFramePr/>
          <p:nvPr/>
        </p:nvGraphicFramePr>
        <p:xfrm>
          <a:off xmlns:a="http://schemas.openxmlformats.org/drawingml/2006/main" x="8115300" y="3876675"/>
          <a:ext xmlns:a="http://schemas.openxmlformats.org/drawingml/2006/main" cx="3619500" cy="1971675"/>
        </p:xfrm>
        <a:graphic xmlns:a="http://schemas.openxmlformats.org/drawingml/2006/main">
          <a:graphicData uri="http://schemas.openxmlformats.org/drawingml/2006/chart">
            <c:chart xmlns:r="http://schemas.openxmlformats.org/officeDocument/2006/relationships" xmlns:c="http://schemas.openxmlformats.org/drawingml/2006/chart" r:id="Ra282fe9f6dac4a48"/>
          </a:graphicData>
        </a:graphic>
      </p:graphicFrame>
      <p:sp>
        <p:nvSpPr>
          <p:cNvPr id="25" name="">
            <a:extLst xmlns:a="http://schemas.openxmlformats.org/drawingml/2006/main">
              <a:ext uri="{FF2B5EF4-FFF2-40B4-BE49-F238E27FC236}">
                <a16:creationId xmlns:a16="http://schemas.microsoft.com/office/drawing/2014/main" id="{91422B2B-C74E-4AFD-AF97-BF80C29B4B48}"/>
              </a:ext>
            </a:extLst>
          </p:cNvPr>
          <p:cNvSpPr>
            <a:spLocks xmlns:a="http://schemas.openxmlformats.org/drawingml/2006/main" noGrp="1"/>
          </p:cNvSpPr>
          <p:nvPr/>
        </p:nvSpPr>
        <p:spPr>
          <a:xfrm xmlns:a="http://schemas.openxmlformats.org/drawingml/2006/main">
            <a:off x="8134350" y="6010275"/>
            <a:ext cx="3562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06674"/>
                </a:solidFill>
                <a:latin typeface="Inter"/>
                <a:ea typeface="Inter"/>
                <a:cs typeface="Inter"/>
              </a:defRPr>
            </a:pPr>
            <a:r>
              <a:rPr sz="1500" b="0">
                <a:solidFill>
                  <a:srgbClr val="506674"/>
                </a:solidFill>
                <a:latin typeface="Inter"/>
                <a:ea typeface="Inter"/>
                <a:cs typeface="Inter"/>
              </a:rPr>
              <a:t>1,132 / 14,146 · Partial rebalancing</a:t>
            </a:r>
          </a:p>
        </p:txBody>
      </p:sp>
    </p:spTree>
    <p:extLst>
      <p:ext uri="{BB962C8B-B14F-4D97-AF65-F5344CB8AC3E}">
        <p14:creationId xmlns:p14="http://schemas.microsoft.com/office/powerpoint/2010/main" val="1678413312"/>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F71C94DD-3F36-4920-9054-D33498302C6F}"/>
              </a:ext>
            </a:extLst>
          </p:cNvPr>
          <p:cNvSpPr>
            <a:spLocks xmlns:a="http://schemas.openxmlformats.org/drawingml/2006/main" noGrp="1"/>
          </p:cNvSpPr>
          <p:nvPr/>
        </p:nvSpPr>
        <p:spPr>
          <a:xfrm xmlns:a="http://schemas.openxmlformats.org/drawingml/2006/main">
            <a:off x="457200" y="304800"/>
            <a:ext cx="11239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75" b="1">
                <a:solidFill>
                  <a:srgbClr val="2C637F"/>
                </a:solidFill>
                <a:latin typeface="Inter"/>
                <a:ea typeface="Inter"/>
                <a:cs typeface="Inter"/>
              </a:defRPr>
            </a:pPr>
            <a:r>
              <a:rPr sz="3075" b="1">
                <a:solidFill>
                  <a:srgbClr val="2C637F"/>
                </a:solidFill>
                <a:latin typeface="Inter"/>
                <a:ea typeface="Inter"/>
                <a:cs typeface="Inter"/>
              </a:rPr>
              <a:t>The improvement includes an error trade-off</a:t>
            </a:r>
          </a:p>
        </p:txBody>
      </p:sp>
      <p:sp>
        <p:nvSpPr>
          <p:cNvPr id="2" name="">
            <a:extLst xmlns:a="http://schemas.openxmlformats.org/drawingml/2006/main">
              <a:ext uri="{FF2B5EF4-FFF2-40B4-BE49-F238E27FC236}">
                <a16:creationId xmlns:a16="http://schemas.microsoft.com/office/drawing/2014/main" id="{67820B2E-57CD-43DB-9A4A-A5EFB4F87BAF}"/>
              </a:ext>
            </a:extLst>
          </p:cNvPr>
          <p:cNvSpPr>
            <a:spLocks xmlns:a="http://schemas.openxmlformats.org/drawingml/2006/main" noGrp="1"/>
          </p:cNvSpPr>
          <p:nvPr/>
        </p:nvSpPr>
        <p:spPr>
          <a:xfrm xmlns:a="http://schemas.openxmlformats.org/drawingml/2006/main">
            <a:off x="457200" y="65532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2C637F"/>
                </a:solidFill>
                <a:latin typeface="Inter"/>
                <a:ea typeface="Inter"/>
                <a:cs typeface="Inter"/>
              </a:defRPr>
            </a:pPr>
            <a:r>
              <a:rPr sz="1125" b="0">
                <a:solidFill>
                  <a:srgbClr val="2C637F"/>
                </a:solidFill>
                <a:latin typeface="Inter"/>
                <a:ea typeface="Inter"/>
                <a:cs typeface="Inter"/>
              </a:rPr>
              <a:t>WOMENHELP 2026   /   IBERLEF</a:t>
            </a:r>
          </a:p>
        </p:txBody>
      </p:sp>
      <p:sp>
        <p:nvSpPr>
          <p:cNvPr id="3" name="">
            <a:extLst xmlns:a="http://schemas.openxmlformats.org/drawingml/2006/main">
              <a:ext uri="{FF2B5EF4-FFF2-40B4-BE49-F238E27FC236}">
                <a16:creationId xmlns:a16="http://schemas.microsoft.com/office/drawing/2014/main" id="{AC5D1C74-3BAA-4995-ADC3-D6E0D04D4847}"/>
              </a:ext>
            </a:extLst>
          </p:cNvPr>
          <p:cNvSpPr>
            <a:spLocks xmlns:a="http://schemas.openxmlformats.org/drawingml/2006/main" noGrp="1"/>
          </p:cNvSpPr>
          <p:nvPr/>
        </p:nvSpPr>
        <p:spPr>
          <a:xfrm xmlns:a="http://schemas.openxmlformats.org/drawingml/2006/main">
            <a:off x="11334750" y="654367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2C637F"/>
                </a:solidFill>
                <a:latin typeface="Inter"/>
                <a:ea typeface="Inter"/>
                <a:cs typeface="Inter"/>
              </a:defRPr>
            </a:pPr>
            <a:r>
              <a:rPr sz="1200" b="0">
                <a:solidFill>
                  <a:srgbClr val="2C637F"/>
                </a:solidFill>
                <a:latin typeface="Inter"/>
                <a:ea typeface="Inter"/>
                <a:cs typeface="Inter"/>
              </a:rPr>
              <a:t>06</a:t>
            </a:r>
          </a:p>
        </p:txBody>
      </p:sp>
      <p:sp>
        <p:nvSpPr>
          <p:cNvPr id="4" name="">
            <a:extLst xmlns:a="http://schemas.openxmlformats.org/drawingml/2006/main">
              <a:ext uri="{FF2B5EF4-FFF2-40B4-BE49-F238E27FC236}">
                <a16:creationId xmlns:a16="http://schemas.microsoft.com/office/drawing/2014/main" id="{933B3B1D-DC4F-4DF2-8B86-C6882F219924}"/>
              </a:ext>
            </a:extLst>
          </p:cNvPr>
          <p:cNvSpPr>
            <a:spLocks xmlns:a="http://schemas.openxmlformats.org/drawingml/2006/main" noGrp="1"/>
          </p:cNvSpPr>
          <p:nvPr/>
        </p:nvSpPr>
        <p:spPr>
          <a:xfrm xmlns:a="http://schemas.openxmlformats.org/drawingml/2006/main">
            <a:off x="457200" y="1428750"/>
            <a:ext cx="676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C637F"/>
                </a:solidFill>
                <a:latin typeface="Inter"/>
                <a:ea typeface="Inter"/>
                <a:cs typeface="Inter"/>
              </a:defRPr>
            </a:pPr>
            <a:r>
              <a:rPr sz="1950" b="1">
                <a:solidFill>
                  <a:srgbClr val="2C637F"/>
                </a:solidFill>
                <a:latin typeface="Inter"/>
                <a:ea typeface="Inter"/>
                <a:cs typeface="Inter"/>
              </a:rPr>
              <a:t>Absolute change × 100 · Zero = no change</a:t>
            </a:r>
          </a:p>
        </p:txBody>
      </p:sp>
      <p:graphicFrame>
        <p:nvGraphicFramePr>
          <p:cNvPr id="17" name="Chart"/>
          <p:cNvGraphicFramePr/>
          <p:nvPr/>
        </p:nvGraphicFramePr>
        <p:xfrm>
          <a:off xmlns:a="http://schemas.openxmlformats.org/drawingml/2006/main" x="428625" y="2066925"/>
          <a:ext xmlns:a="http://schemas.openxmlformats.org/drawingml/2006/main" cx="6762750" cy="3514725"/>
        </p:xfrm>
        <a:graphic xmlns:a="http://schemas.openxmlformats.org/drawingml/2006/main">
          <a:graphicData uri="http://schemas.openxmlformats.org/drawingml/2006/chart">
            <c:chart xmlns:r="http://schemas.openxmlformats.org/officeDocument/2006/relationships" xmlns:c="http://schemas.openxmlformats.org/drawingml/2006/chart" r:id="Rebcda4bfa5ff416b"/>
          </a:graphicData>
        </a:graphic>
      </p:graphicFrame>
      <p:sp>
        <p:nvSpPr>
          <p:cNvPr id="6" name="">
            <a:extLst xmlns:a="http://schemas.openxmlformats.org/drawingml/2006/main">
              <a:ext uri="{FF2B5EF4-FFF2-40B4-BE49-F238E27FC236}">
                <a16:creationId xmlns:a16="http://schemas.microsoft.com/office/drawing/2014/main" id="{7FBD75A9-C9E8-4B07-BE3C-05A7401F936E}"/>
              </a:ext>
            </a:extLst>
          </p:cNvPr>
          <p:cNvSpPr>
            <a:spLocks xmlns:a="http://schemas.openxmlformats.org/drawingml/2006/main" noGrp="1"/>
          </p:cNvSpPr>
          <p:nvPr/>
        </p:nvSpPr>
        <p:spPr>
          <a:xfrm xmlns:a="http://schemas.openxmlformats.org/drawingml/2006/main">
            <a:off x="714375" y="5467350"/>
            <a:ext cx="15811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2C637F"/>
                </a:solidFill>
                <a:latin typeface="Inter"/>
                <a:ea typeface="Inter"/>
                <a:cs typeface="Inter"/>
              </a:defRPr>
            </a:pPr>
            <a:r>
              <a:rPr sz="1650" b="1">
                <a:solidFill>
                  <a:srgbClr val="2C637F"/>
                </a:solidFill>
                <a:latin typeface="Inter"/>
                <a:ea typeface="Inter"/>
                <a:cs typeface="Inter"/>
              </a:rPr>
              <a:t>Macro-F1</a:t>
            </a:r>
          </a:p>
        </p:txBody>
      </p:sp>
      <p:sp>
        <p:nvSpPr>
          <p:cNvPr id="7" name="">
            <a:extLst xmlns:a="http://schemas.openxmlformats.org/drawingml/2006/main">
              <a:ext uri="{FF2B5EF4-FFF2-40B4-BE49-F238E27FC236}">
                <a16:creationId xmlns:a16="http://schemas.microsoft.com/office/drawing/2014/main" id="{E4870D25-162C-4374-AD98-E99DB19B79DB}"/>
              </a:ext>
            </a:extLst>
          </p:cNvPr>
          <p:cNvSpPr>
            <a:spLocks xmlns:a="http://schemas.openxmlformats.org/drawingml/2006/main" noGrp="1"/>
          </p:cNvSpPr>
          <p:nvPr/>
        </p:nvSpPr>
        <p:spPr>
          <a:xfrm xmlns:a="http://schemas.openxmlformats.org/drawingml/2006/main">
            <a:off x="2428875" y="5467350"/>
            <a:ext cx="1714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6766E"/>
                </a:solidFill>
                <a:latin typeface="Inter"/>
                <a:ea typeface="Inter"/>
                <a:cs typeface="Inter"/>
              </a:defRPr>
            </a:pPr>
            <a:r>
              <a:rPr sz="1650" b="1">
                <a:solidFill>
                  <a:srgbClr val="16766E"/>
                </a:solidFill>
                <a:latin typeface="Inter"/>
                <a:ea typeface="Inter"/>
                <a:cs typeface="Inter"/>
              </a:rPr>
              <a:t>Severe F1</a:t>
            </a:r>
          </a:p>
        </p:txBody>
      </p:sp>
      <p:sp>
        <p:nvSpPr>
          <p:cNvPr id="8" name="">
            <a:extLst xmlns:a="http://schemas.openxmlformats.org/drawingml/2006/main">
              <a:ext uri="{FF2B5EF4-FFF2-40B4-BE49-F238E27FC236}">
                <a16:creationId xmlns:a16="http://schemas.microsoft.com/office/drawing/2014/main" id="{5F7CD2C5-7D7D-48A6-BCDB-ABB7102E279A}"/>
              </a:ext>
            </a:extLst>
          </p:cNvPr>
          <p:cNvSpPr>
            <a:spLocks xmlns:a="http://schemas.openxmlformats.org/drawingml/2006/main" noGrp="1"/>
          </p:cNvSpPr>
          <p:nvPr/>
        </p:nvSpPr>
        <p:spPr>
          <a:xfrm xmlns:a="http://schemas.openxmlformats.org/drawingml/2006/main">
            <a:off x="4333875" y="5467350"/>
            <a:ext cx="24288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A86524"/>
                </a:solidFill>
                <a:latin typeface="Inter"/>
                <a:ea typeface="Inter"/>
                <a:cs typeface="Inter"/>
              </a:defRPr>
            </a:pPr>
            <a:r>
              <a:rPr sz="1650" b="1">
                <a:solidFill>
                  <a:srgbClr val="A86524"/>
                </a:solidFill>
                <a:latin typeface="Inter"/>
                <a:ea typeface="Inter"/>
                <a:cs typeface="Inter"/>
              </a:rPr>
              <a:t>Severe recall</a:t>
            </a:r>
          </a:p>
        </p:txBody>
      </p:sp>
      <p:sp>
        <p:nvSpPr>
          <p:cNvPr id="9" name="">
            <a:extLst xmlns:a="http://schemas.openxmlformats.org/drawingml/2006/main">
              <a:ext uri="{FF2B5EF4-FFF2-40B4-BE49-F238E27FC236}">
                <a16:creationId xmlns:a16="http://schemas.microsoft.com/office/drawing/2014/main" id="{75C26496-47D6-4048-AD5B-04750F228906}"/>
              </a:ext>
            </a:extLst>
          </p:cNvPr>
          <p:cNvSpPr>
            <a:spLocks xmlns:a="http://schemas.openxmlformats.org/drawingml/2006/main" noGrp="1"/>
          </p:cNvSpPr>
          <p:nvPr/>
        </p:nvSpPr>
        <p:spPr>
          <a:xfrm xmlns:a="http://schemas.openxmlformats.org/drawingml/2006/main">
            <a:off x="457200" y="5810250"/>
            <a:ext cx="666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06674"/>
                </a:solidFill>
                <a:latin typeface="Inter"/>
                <a:ea typeface="Inter"/>
                <a:cs typeface="Inter"/>
              </a:defRPr>
            </a:pPr>
            <a:r>
              <a:rPr sz="1650" b="0">
                <a:solidFill>
                  <a:srgbClr val="506674"/>
                </a:solidFill>
                <a:latin typeface="Inter"/>
                <a:ea typeface="Inter"/>
                <a:cs typeface="Inter"/>
              </a:rPr>
              <a:t>Same 3,405 development reports.</a:t>
            </a:r>
          </a:p>
          <a:p xmlns:a="http://schemas.openxmlformats.org/drawingml/2006/main">
            <a:pPr>
              <a:defRPr sz="1650" b="0">
                <a:solidFill>
                  <a:srgbClr val="506674"/>
                </a:solidFill>
                <a:latin typeface="Inter"/>
                <a:ea typeface="Inter"/>
                <a:cs typeface="Inter"/>
              </a:defRPr>
            </a:pPr>
            <a:r>
              <a:rPr sz="1650" b="0">
                <a:solidFill>
                  <a:srgbClr val="506674"/>
                </a:solidFill>
                <a:latin typeface="Inter"/>
                <a:ea typeface="Inter"/>
                <a:cs typeface="Inter"/>
              </a:rPr>
              <a:t>No augmentation at evaluation.</a:t>
            </a:r>
          </a:p>
        </p:txBody>
      </p:sp>
      <p:graphicFrame>
        <p:nvGraphicFramePr>
          <p:cNvPr id="22" name=""/>
          <p:cNvGraphicFramePr/>
          <p:nvPr/>
        </p:nvGraphicFramePr>
        <p:xfrm>
          <a:off xmlns:a="http://schemas.openxmlformats.org/drawingml/2006/main" x="7591425" y="1628775"/>
          <a:ext xmlns:a="http://schemas.openxmlformats.org/drawingml/2006/main" cx="4105275" cy="2381250"/>
        </p:xfrm>
        <a:graphic xmlns:a="http://schemas.openxmlformats.org/drawingml/2006/main">
          <a:graphicData uri="http://schemas.openxmlformats.org/drawingml/2006/table">
            <a:tbl>
              <a:tblPr/>
              <a:tblGrid>
                <a:gridCol w="1781175"/>
                <a:gridCol w="1162050"/>
                <a:gridCol w="1162050"/>
              </a:tblGrid>
              <a:tr h="595313">
                <a:tc>
                  <a:txBody>
                    <a:bodyPr/>
                    <a:lstStyle/>
                    <a:p>
                      <a:r>
                        <a:rPr sz="1725" b="1">
                          <a:solidFill>
                            <a:srgbClr val="2C637F"/>
                          </a:solidFill>
                          <a:latin typeface="Inter"/>
                          <a:ea typeface="Inter"/>
                          <a:cs typeface="Inter"/>
                        </a:rPr>
                        <a:t>Metric</a:t>
                      </a:r>
                    </a:p>
                  </a:txBody>
                  <a:tcPr marL="91440" marR="91440" marT="45720" marB="45720">
                    <a:solidFill>
                      <a:srgbClr val="E2F2FA"/>
                    </a:solidFill>
                  </a:tcPr>
                </a:tc>
                <a:tc>
                  <a:txBody>
                    <a:bodyPr/>
                    <a:lstStyle/>
                    <a:p>
                      <a:r>
                        <a:rPr sz="1725" b="1">
                          <a:solidFill>
                            <a:srgbClr val="2C637F"/>
                          </a:solidFill>
                          <a:latin typeface="Inter"/>
                          <a:ea typeface="Inter"/>
                          <a:cs typeface="Inter"/>
                        </a:rPr>
                        <a:t>Base</a:t>
                      </a:r>
                    </a:p>
                  </a:txBody>
                  <a:tcPr marL="91440" marR="91440" marT="45720" marB="45720">
                    <a:solidFill>
                      <a:srgbClr val="E2F2FA"/>
                    </a:solidFill>
                  </a:tcPr>
                </a:tc>
                <a:tc>
                  <a:txBody>
                    <a:bodyPr/>
                    <a:lstStyle/>
                    <a:p>
                      <a:r>
                        <a:rPr sz="1725" b="1">
                          <a:solidFill>
                            <a:srgbClr val="2C637F"/>
                          </a:solidFill>
                          <a:latin typeface="Inter"/>
                          <a:ea typeface="Inter"/>
                          <a:cs typeface="Inter"/>
                        </a:rPr>
                        <a:t>Aug.</a:t>
                      </a:r>
                    </a:p>
                  </a:txBody>
                  <a:tcPr marL="91440" marR="91440" marT="45720" marB="45720">
                    <a:solidFill>
                      <a:srgbClr val="E2F2FA"/>
                    </a:solidFill>
                  </a:tcPr>
                </a:tc>
              </a:tr>
              <a:tr h="595313">
                <a:tc>
                  <a:txBody>
                    <a:bodyPr/>
                    <a:lstStyle/>
                    <a:p>
                      <a:r>
                        <a:rPr sz="1725" b="0">
                          <a:solidFill>
                            <a:srgbClr val="152E3C"/>
                          </a:solidFill>
                          <a:latin typeface="Inter"/>
                          <a:ea typeface="Inter"/>
                          <a:cs typeface="Inter"/>
                        </a:rPr>
                        <a:t>Macro-F1</a:t>
                      </a:r>
                    </a:p>
                  </a:txBody>
                  <a:tcPr marL="91440" marR="91440" marT="45720" marB="45720">
                    <a:solidFill>
                      <a:srgbClr val="FFFFFF"/>
                    </a:solidFill>
                  </a:tcPr>
                </a:tc>
                <a:tc>
                  <a:txBody>
                    <a:bodyPr/>
                    <a:lstStyle/>
                    <a:p>
                      <a:r>
                        <a:rPr sz="1725" b="0">
                          <a:solidFill>
                            <a:srgbClr val="152E3C"/>
                          </a:solidFill>
                          <a:latin typeface="Inter"/>
                          <a:ea typeface="Inter"/>
                          <a:cs typeface="Inter"/>
                        </a:rPr>
                        <a:t>0.5481</a:t>
                      </a:r>
                    </a:p>
                  </a:txBody>
                  <a:tcPr marL="91440" marR="91440" marT="45720" marB="45720">
                    <a:solidFill>
                      <a:srgbClr val="FFFFFF"/>
                    </a:solidFill>
                  </a:tcPr>
                </a:tc>
                <a:tc>
                  <a:txBody>
                    <a:bodyPr/>
                    <a:lstStyle/>
                    <a:p>
                      <a:r>
                        <a:rPr sz="1725" b="0">
                          <a:solidFill>
                            <a:srgbClr val="152E3C"/>
                          </a:solidFill>
                          <a:latin typeface="Inter"/>
                          <a:ea typeface="Inter"/>
                          <a:cs typeface="Inter"/>
                        </a:rPr>
                        <a:t>0.5552</a:t>
                      </a:r>
                    </a:p>
                  </a:txBody>
                  <a:tcPr marL="91440" marR="91440" marT="45720" marB="45720">
                    <a:solidFill>
                      <a:srgbClr val="FFFFFF"/>
                    </a:solidFill>
                  </a:tcPr>
                </a:tc>
              </a:tr>
              <a:tr h="595313">
                <a:tc>
                  <a:txBody>
                    <a:bodyPr/>
                    <a:lstStyle/>
                    <a:p>
                      <a:r>
                        <a:rPr sz="1725" b="0">
                          <a:solidFill>
                            <a:srgbClr val="152E3C"/>
                          </a:solidFill>
                          <a:latin typeface="Inter"/>
                          <a:ea typeface="Inter"/>
                          <a:cs typeface="Inter"/>
                        </a:rPr>
                        <a:t>Severe F1</a:t>
                      </a:r>
                    </a:p>
                  </a:txBody>
                  <a:tcPr marL="91440" marR="91440" marT="45720" marB="45720">
                    <a:solidFill>
                      <a:srgbClr val="FFFFFF"/>
                    </a:solidFill>
                  </a:tcPr>
                </a:tc>
                <a:tc>
                  <a:txBody>
                    <a:bodyPr/>
                    <a:lstStyle/>
                    <a:p>
                      <a:r>
                        <a:rPr sz="1725" b="0">
                          <a:solidFill>
                            <a:srgbClr val="152E3C"/>
                          </a:solidFill>
                          <a:latin typeface="Inter"/>
                          <a:ea typeface="Inter"/>
                          <a:cs typeface="Inter"/>
                        </a:rPr>
                        <a:t>0.4178</a:t>
                      </a:r>
                    </a:p>
                  </a:txBody>
                  <a:tcPr marL="91440" marR="91440" marT="45720" marB="45720">
                    <a:solidFill>
                      <a:srgbClr val="FFFFFF"/>
                    </a:solidFill>
                  </a:tcPr>
                </a:tc>
                <a:tc>
                  <a:txBody>
                    <a:bodyPr/>
                    <a:lstStyle/>
                    <a:p>
                      <a:r>
                        <a:rPr sz="1725" b="0">
                          <a:solidFill>
                            <a:srgbClr val="152E3C"/>
                          </a:solidFill>
                          <a:latin typeface="Inter"/>
                          <a:ea typeface="Inter"/>
                          <a:cs typeface="Inter"/>
                        </a:rPr>
                        <a:t>0.4335</a:t>
                      </a:r>
                    </a:p>
                  </a:txBody>
                  <a:tcPr marL="91440" marR="91440" marT="45720" marB="45720">
                    <a:solidFill>
                      <a:srgbClr val="FFFFFF"/>
                    </a:solidFill>
                  </a:tcPr>
                </a:tc>
              </a:tr>
              <a:tr h="595313">
                <a:tc>
                  <a:txBody>
                    <a:bodyPr/>
                    <a:lstStyle/>
                    <a:p>
                      <a:r>
                        <a:rPr sz="1725" b="0">
                          <a:solidFill>
                            <a:srgbClr val="152E3C"/>
                          </a:solidFill>
                          <a:latin typeface="Inter"/>
                          <a:ea typeface="Inter"/>
                          <a:cs typeface="Inter"/>
                        </a:rPr>
                        <a:t>Recall</a:t>
                      </a:r>
                    </a:p>
                  </a:txBody>
                  <a:tcPr marL="91440" marR="91440" marT="45720" marB="45720">
                    <a:solidFill>
                      <a:srgbClr val="FFFFFF"/>
                    </a:solidFill>
                  </a:tcPr>
                </a:tc>
                <a:tc>
                  <a:txBody>
                    <a:bodyPr/>
                    <a:lstStyle/>
                    <a:p>
                      <a:r>
                        <a:rPr sz="1725" b="0">
                          <a:solidFill>
                            <a:srgbClr val="152E3C"/>
                          </a:solidFill>
                          <a:latin typeface="Inter"/>
                          <a:ea typeface="Inter"/>
                          <a:cs typeface="Inter"/>
                        </a:rPr>
                        <a:t>0.3961</a:t>
                      </a:r>
                    </a:p>
                  </a:txBody>
                  <a:tcPr marL="91440" marR="91440" marT="45720" marB="45720">
                    <a:solidFill>
                      <a:srgbClr val="FFFFFF"/>
                    </a:solidFill>
                  </a:tcPr>
                </a:tc>
                <a:tc>
                  <a:txBody>
                    <a:bodyPr/>
                    <a:lstStyle/>
                    <a:p>
                      <a:r>
                        <a:rPr sz="1725" b="0">
                          <a:solidFill>
                            <a:srgbClr val="152E3C"/>
                          </a:solidFill>
                          <a:latin typeface="Inter"/>
                          <a:ea typeface="Inter"/>
                          <a:cs typeface="Inter"/>
                        </a:rPr>
                        <a:t>0.3701</a:t>
                      </a:r>
                    </a:p>
                  </a:txBody>
                  <a:tcPr marL="91440" marR="91440" marT="45720" marB="45720">
                    <a:solidFill>
                      <a:srgbClr val="FFFFFF"/>
                    </a:solidFill>
                  </a:tcPr>
                </a:tc>
              </a:tr>
            </a:tbl>
          </a:graphicData>
        </a:graphic>
      </p:graphicFrame>
      <p:sp>
        <p:nvSpPr>
          <p:cNvPr id="11" name="">
            <a:extLst xmlns:a="http://schemas.openxmlformats.org/drawingml/2006/main">
              <a:ext uri="{FF2B5EF4-FFF2-40B4-BE49-F238E27FC236}">
                <a16:creationId xmlns:a16="http://schemas.microsoft.com/office/drawing/2014/main" id="{394FB2A7-819B-423B-A9A4-8F2CCD1313B0}"/>
              </a:ext>
            </a:extLst>
          </p:cNvPr>
          <p:cNvSpPr>
            <a:spLocks xmlns:a="http://schemas.openxmlformats.org/drawingml/2006/main" noGrp="1"/>
          </p:cNvSpPr>
          <p:nvPr/>
        </p:nvSpPr>
        <p:spPr>
          <a:xfrm xmlns:a="http://schemas.openxmlformats.org/drawingml/2006/main">
            <a:off x="7591425" y="4381500"/>
            <a:ext cx="41052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A86524"/>
                </a:solidFill>
                <a:latin typeface="Inter"/>
                <a:ea typeface="Inter"/>
                <a:cs typeface="Inter"/>
              </a:defRPr>
            </a:pPr>
            <a:r>
              <a:rPr sz="2175" b="1">
                <a:solidFill>
                  <a:srgbClr val="A86524"/>
                </a:solidFill>
                <a:latin typeface="Inter"/>
                <a:ea typeface="Inter"/>
                <a:cs typeface="Inter"/>
              </a:rPr>
              <a:t>F1 rises; recall falls</a:t>
            </a:r>
          </a:p>
        </p:txBody>
      </p:sp>
      <p:sp>
        <p:nvSpPr>
          <p:cNvPr id="12" name="">
            <a:extLst xmlns:a="http://schemas.openxmlformats.org/drawingml/2006/main">
              <a:ext uri="{FF2B5EF4-FFF2-40B4-BE49-F238E27FC236}">
                <a16:creationId xmlns:a16="http://schemas.microsoft.com/office/drawing/2014/main" id="{BFC9414C-8DA6-41A2-8AD7-DE14921CFFF5}"/>
              </a:ext>
            </a:extLst>
          </p:cNvPr>
          <p:cNvSpPr>
            <a:spLocks xmlns:a="http://schemas.openxmlformats.org/drawingml/2006/main" noGrp="1"/>
          </p:cNvSpPr>
          <p:nvPr/>
        </p:nvSpPr>
        <p:spPr>
          <a:xfrm xmlns:a="http://schemas.openxmlformats.org/drawingml/2006/main">
            <a:off x="7591425" y="5229225"/>
            <a:ext cx="41052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52E3C"/>
                </a:solidFill>
                <a:latin typeface="Inter"/>
                <a:ea typeface="Inter"/>
                <a:cs typeface="Inter"/>
              </a:defRPr>
            </a:pPr>
            <a:r>
              <a:rPr sz="1800" b="0">
                <a:solidFill>
                  <a:srgbClr val="152E3C"/>
                </a:solidFill>
                <a:latin typeface="Inter"/>
                <a:ea typeface="Inter"/>
                <a:cs typeface="Inter"/>
              </a:rPr>
              <a:t>Class weights are recomputed</a:t>
            </a:r>
          </a:p>
          <a:p xmlns:a="http://schemas.openxmlformats.org/drawingml/2006/main">
            <a:pPr>
              <a:defRPr sz="1800" b="0">
                <a:solidFill>
                  <a:srgbClr val="152E3C"/>
                </a:solidFill>
                <a:latin typeface="Inter"/>
                <a:ea typeface="Inter"/>
                <a:cs typeface="Inter"/>
              </a:defRPr>
            </a:pPr>
            <a:r>
              <a:rPr sz="1800" b="0">
                <a:solidFill>
                  <a:srgbClr val="152E3C"/>
                </a:solidFill>
                <a:latin typeface="Inter"/>
                <a:ea typeface="Inter"/>
                <a:cs typeface="Inter"/>
              </a:rPr>
              <a:t>on the augmented training set.</a:t>
            </a:r>
          </a:p>
        </p:txBody>
      </p:sp>
    </p:spTree>
    <p:extLst>
      <p:ext uri="{BB962C8B-B14F-4D97-AF65-F5344CB8AC3E}">
        <p14:creationId xmlns:p14="http://schemas.microsoft.com/office/powerpoint/2010/main" val="3145975295"/>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C27992D3-8447-4A53-9FE4-081FD246F941}"/>
              </a:ext>
            </a:extLst>
          </p:cNvPr>
          <p:cNvSpPr>
            <a:spLocks xmlns:a="http://schemas.openxmlformats.org/drawingml/2006/main" noGrp="1"/>
          </p:cNvSpPr>
          <p:nvPr/>
        </p:nvSpPr>
        <p:spPr>
          <a:xfrm xmlns:a="http://schemas.openxmlformats.org/drawingml/2006/main">
            <a:off x="457200" y="304800"/>
            <a:ext cx="11239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75" b="1">
                <a:solidFill>
                  <a:srgbClr val="2C637F"/>
                </a:solidFill>
                <a:latin typeface="Inter"/>
                <a:ea typeface="Inter"/>
                <a:cs typeface="Inter"/>
              </a:defRPr>
            </a:pPr>
            <a:r>
              <a:rPr sz="3075" b="1">
                <a:solidFill>
                  <a:srgbClr val="2C637F"/>
                </a:solidFill>
                <a:latin typeface="Inter"/>
                <a:ea typeface="Inter"/>
                <a:cs typeface="Inter"/>
              </a:rPr>
              <a:t>Disagreement remains in the labels</a:t>
            </a:r>
          </a:p>
        </p:txBody>
      </p:sp>
      <p:sp>
        <p:nvSpPr>
          <p:cNvPr id="2" name="">
            <a:extLst xmlns:a="http://schemas.openxmlformats.org/drawingml/2006/main">
              <a:ext uri="{FF2B5EF4-FFF2-40B4-BE49-F238E27FC236}">
                <a16:creationId xmlns:a16="http://schemas.microsoft.com/office/drawing/2014/main" id="{DB4B41F2-4EE6-48AF-B73B-F30AA384FB49}"/>
              </a:ext>
            </a:extLst>
          </p:cNvPr>
          <p:cNvSpPr>
            <a:spLocks xmlns:a="http://schemas.openxmlformats.org/drawingml/2006/main" noGrp="1"/>
          </p:cNvSpPr>
          <p:nvPr/>
        </p:nvSpPr>
        <p:spPr>
          <a:xfrm xmlns:a="http://schemas.openxmlformats.org/drawingml/2006/main">
            <a:off x="457200" y="65532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2C637F"/>
                </a:solidFill>
                <a:latin typeface="Inter"/>
                <a:ea typeface="Inter"/>
                <a:cs typeface="Inter"/>
              </a:defRPr>
            </a:pPr>
            <a:r>
              <a:rPr sz="1125" b="0">
                <a:solidFill>
                  <a:srgbClr val="2C637F"/>
                </a:solidFill>
                <a:latin typeface="Inter"/>
                <a:ea typeface="Inter"/>
                <a:cs typeface="Inter"/>
              </a:rPr>
              <a:t>WOMENHELP 2026   /   IBERLEF</a:t>
            </a:r>
          </a:p>
        </p:txBody>
      </p:sp>
      <p:sp>
        <p:nvSpPr>
          <p:cNvPr id="3" name="">
            <a:extLst xmlns:a="http://schemas.openxmlformats.org/drawingml/2006/main">
              <a:ext uri="{FF2B5EF4-FFF2-40B4-BE49-F238E27FC236}">
                <a16:creationId xmlns:a16="http://schemas.microsoft.com/office/drawing/2014/main" id="{2D984F09-A914-433D-BBAC-C8E9BEACB4FE}"/>
              </a:ext>
            </a:extLst>
          </p:cNvPr>
          <p:cNvSpPr>
            <a:spLocks xmlns:a="http://schemas.openxmlformats.org/drawingml/2006/main" noGrp="1"/>
          </p:cNvSpPr>
          <p:nvPr/>
        </p:nvSpPr>
        <p:spPr>
          <a:xfrm xmlns:a="http://schemas.openxmlformats.org/drawingml/2006/main">
            <a:off x="11334750" y="654367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2C637F"/>
                </a:solidFill>
                <a:latin typeface="Inter"/>
                <a:ea typeface="Inter"/>
                <a:cs typeface="Inter"/>
              </a:defRPr>
            </a:pPr>
            <a:r>
              <a:rPr sz="1200" b="0">
                <a:solidFill>
                  <a:srgbClr val="2C637F"/>
                </a:solidFill>
                <a:latin typeface="Inter"/>
                <a:ea typeface="Inter"/>
                <a:cs typeface="Inter"/>
              </a:rPr>
              <a:t>07</a:t>
            </a:r>
          </a:p>
        </p:txBody>
      </p:sp>
      <p:sp>
        <p:nvSpPr>
          <p:cNvPr id="4" name="">
            <a:extLst xmlns:a="http://schemas.openxmlformats.org/drawingml/2006/main">
              <a:ext uri="{FF2B5EF4-FFF2-40B4-BE49-F238E27FC236}">
                <a16:creationId xmlns:a16="http://schemas.microsoft.com/office/drawing/2014/main" id="{3F2B3FBC-576A-4375-8FF1-76ABFDC886E7}"/>
              </a:ext>
            </a:extLst>
          </p:cNvPr>
          <p:cNvSpPr>
            <a:spLocks xmlns:a="http://schemas.openxmlformats.org/drawingml/2006/main" noGrp="1"/>
          </p:cNvSpPr>
          <p:nvPr/>
        </p:nvSpPr>
        <p:spPr>
          <a:xfrm xmlns:a="http://schemas.openxmlformats.org/drawingml/2006/main">
            <a:off x="457200" y="1419225"/>
            <a:ext cx="11239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2C637F"/>
                </a:solidFill>
                <a:latin typeface="Inter"/>
                <a:ea typeface="Inter"/>
                <a:cs typeface="Inter"/>
              </a:defRPr>
            </a:pPr>
            <a:r>
              <a:rPr sz="1725" b="0">
                <a:solidFill>
                  <a:srgbClr val="2C637F"/>
                </a:solidFill>
                <a:latin typeface="Inter"/>
                <a:ea typeface="Inter"/>
                <a:cs typeface="Inter"/>
              </a:rPr>
              <a:t>New analysis of S2 soft labels · Development: 1,212 reports</a:t>
            </a:r>
          </a:p>
        </p:txBody>
      </p:sp>
      <p:graphicFrame>
        <p:nvGraphicFramePr>
          <p:cNvPr id="20" name="Chart"/>
          <p:cNvGraphicFramePr/>
          <p:nvPr/>
        </p:nvGraphicFramePr>
        <p:xfrm>
          <a:off xmlns:a="http://schemas.openxmlformats.org/drawingml/2006/main" x="285750" y="2286000"/>
          <a:ext xmlns:a="http://schemas.openxmlformats.org/drawingml/2006/main" cx="6772275" cy="3667125"/>
        </p:xfrm>
        <a:graphic xmlns:a="http://schemas.openxmlformats.org/drawingml/2006/main">
          <a:graphicData uri="http://schemas.openxmlformats.org/drawingml/2006/chart">
            <c:chart xmlns:r="http://schemas.openxmlformats.org/officeDocument/2006/relationships" xmlns:c="http://schemas.openxmlformats.org/drawingml/2006/chart" r:id="Rdb2b612d81174081"/>
          </a:graphicData>
        </a:graphic>
      </p:graphicFrame>
      <p:sp>
        <p:nvSpPr>
          <p:cNvPr id="6" name="">
            <a:extLst xmlns:a="http://schemas.openxmlformats.org/drawingml/2006/main">
              <a:ext uri="{FF2B5EF4-FFF2-40B4-BE49-F238E27FC236}">
                <a16:creationId xmlns:a16="http://schemas.microsoft.com/office/drawing/2014/main" id="{C762078F-E5D0-4B31-B221-6E8F4C53764E}"/>
              </a:ext>
            </a:extLst>
          </p:cNvPr>
          <p:cNvSpPr>
            <a:spLocks xmlns:a="http://schemas.openxmlformats.org/drawingml/2006/main" noGrp="1"/>
          </p:cNvSpPr>
          <p:nvPr/>
        </p:nvSpPr>
        <p:spPr>
          <a:xfrm xmlns:a="http://schemas.openxmlformats.org/drawingml/2006/main">
            <a:off x="457200" y="1924050"/>
            <a:ext cx="6905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06674"/>
                </a:solidFill>
                <a:latin typeface="Inter"/>
                <a:ea typeface="Inter"/>
                <a:cs typeface="Inter"/>
              </a:defRPr>
            </a:pPr>
            <a:r>
              <a:rPr sz="1425" b="0">
                <a:solidFill>
                  <a:srgbClr val="506674"/>
                </a:solidFill>
                <a:latin typeface="Inter"/>
                <a:ea typeface="Inter"/>
                <a:cs typeface="Inter"/>
              </a:rPr>
              <a:t>Split-vote decisions (%) · Denominator: all reports</a:t>
            </a:r>
          </a:p>
        </p:txBody>
      </p:sp>
      <p:sp>
        <p:nvSpPr>
          <p:cNvPr id="7" name="">
            <a:extLst xmlns:a="http://schemas.openxmlformats.org/drawingml/2006/main">
              <a:ext uri="{FF2B5EF4-FFF2-40B4-BE49-F238E27FC236}">
                <a16:creationId xmlns:a16="http://schemas.microsoft.com/office/drawing/2014/main" id="{49BD8C5F-FD46-476B-BE92-E439BF7386B4}"/>
              </a:ext>
            </a:extLst>
          </p:cNvPr>
          <p:cNvSpPr>
            <a:spLocks xmlns:a="http://schemas.openxmlformats.org/drawingml/2006/main" noGrp="1"/>
          </p:cNvSpPr>
          <p:nvPr/>
        </p:nvSpPr>
        <p:spPr>
          <a:xfrm xmlns:a="http://schemas.openxmlformats.org/drawingml/2006/main">
            <a:off x="7753350" y="2028825"/>
            <a:ext cx="3762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425" b="1">
                <a:solidFill>
                  <a:srgbClr val="2C637F"/>
                </a:solidFill>
                <a:latin typeface="Inter"/>
                <a:ea typeface="Inter"/>
                <a:cs typeface="Inter"/>
              </a:defRPr>
            </a:pPr>
            <a:r>
              <a:rPr sz="4425" b="1">
                <a:solidFill>
                  <a:srgbClr val="2C637F"/>
                </a:solidFill>
                <a:latin typeface="Inter"/>
                <a:ea typeface="Inter"/>
                <a:cs typeface="Inter"/>
              </a:rPr>
              <a:t>72.36%</a:t>
            </a:r>
          </a:p>
        </p:txBody>
      </p:sp>
      <p:sp>
        <p:nvSpPr>
          <p:cNvPr id="8" name="">
            <a:extLst xmlns:a="http://schemas.openxmlformats.org/drawingml/2006/main">
              <a:ext uri="{FF2B5EF4-FFF2-40B4-BE49-F238E27FC236}">
                <a16:creationId xmlns:a16="http://schemas.microsoft.com/office/drawing/2014/main" id="{B2B1DE91-2044-49F6-893F-6BCDCF5367A9}"/>
              </a:ext>
            </a:extLst>
          </p:cNvPr>
          <p:cNvSpPr>
            <a:spLocks xmlns:a="http://schemas.openxmlformats.org/drawingml/2006/main" noGrp="1"/>
          </p:cNvSpPr>
          <p:nvPr/>
        </p:nvSpPr>
        <p:spPr>
          <a:xfrm xmlns:a="http://schemas.openxmlformats.org/drawingml/2006/main">
            <a:off x="7753350" y="2952750"/>
            <a:ext cx="3810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2E3C"/>
                </a:solidFill>
                <a:latin typeface="Inter"/>
                <a:ea typeface="Inter"/>
                <a:cs typeface="Inter"/>
              </a:defRPr>
            </a:pPr>
            <a:r>
              <a:rPr sz="1875" b="0">
                <a:solidFill>
                  <a:srgbClr val="152E3C"/>
                </a:solidFill>
                <a:latin typeface="Inter"/>
                <a:ea typeface="Inter"/>
                <a:cs typeface="Inter"/>
              </a:rPr>
              <a:t>with at least one split type</a:t>
            </a:r>
          </a:p>
          <a:p xmlns:a="http://schemas.openxmlformats.org/drawingml/2006/main">
            <a:pPr>
              <a:defRPr sz="1875" b="0">
                <a:solidFill>
                  <a:srgbClr val="152E3C"/>
                </a:solidFill>
                <a:latin typeface="Inter"/>
                <a:ea typeface="Inter"/>
                <a:cs typeface="Inter"/>
              </a:defRPr>
            </a:pPr>
            <a:r>
              <a:rPr sz="1875" b="0">
                <a:solidFill>
                  <a:srgbClr val="152E3C"/>
                </a:solidFill>
                <a:latin typeface="Inter"/>
                <a:ea typeface="Inter"/>
                <a:cs typeface="Inter"/>
              </a:rPr>
              <a:t>877 of 1,212 reports</a:t>
            </a:r>
          </a:p>
        </p:txBody>
      </p:sp>
      <p:sp>
        <p:nvSpPr>
          <p:cNvPr id="9" name="">
            <a:extLst xmlns:a="http://schemas.openxmlformats.org/drawingml/2006/main">
              <a:ext uri="{FF2B5EF4-FFF2-40B4-BE49-F238E27FC236}">
                <a16:creationId xmlns:a16="http://schemas.microsoft.com/office/drawing/2014/main" id="{CD316C0D-B7E3-4B70-A359-D5057F24ED02}"/>
              </a:ext>
            </a:extLst>
          </p:cNvPr>
          <p:cNvSpPr>
            <a:spLocks xmlns:a="http://schemas.openxmlformats.org/drawingml/2006/main" noGrp="1"/>
          </p:cNvSpPr>
          <p:nvPr/>
        </p:nvSpPr>
        <p:spPr>
          <a:xfrm xmlns:a="http://schemas.openxmlformats.org/drawingml/2006/main">
            <a:off x="7772400" y="4038600"/>
            <a:ext cx="1990725" cy="542925"/>
          </a:xfrm>
          <a:prstGeom xmlns:a="http://schemas.openxmlformats.org/drawingml/2006/main" prst="rect">
            <a:avLst/>
          </a:prstGeom>
          <a:solidFill xmlns:a="http://schemas.openxmlformats.org/drawingml/2006/main">
            <a:srgbClr val="E2F2FA"/>
          </a:solidFill>
          <a:ln xmlns:a="http://schemas.openxmlformats.org/drawingml/2006/main" w="13335">
            <a:solidFill>
              <a:srgbClr val="2C637F"/>
            </a:solidFill>
          </a:ln>
        </p:spPr>
      </p:sp>
      <p:sp>
        <p:nvSpPr>
          <p:cNvPr id="10" name="">
            <a:extLst xmlns:a="http://schemas.openxmlformats.org/drawingml/2006/main">
              <a:ext uri="{FF2B5EF4-FFF2-40B4-BE49-F238E27FC236}">
                <a16:creationId xmlns:a16="http://schemas.microsoft.com/office/drawing/2014/main" id="{21912EFB-8071-4CBD-BB30-6B3659A49140}"/>
              </a:ext>
            </a:extLst>
          </p:cNvPr>
          <p:cNvSpPr>
            <a:spLocks xmlns:a="http://schemas.openxmlformats.org/drawingml/2006/main" noGrp="1"/>
          </p:cNvSpPr>
          <p:nvPr/>
        </p:nvSpPr>
        <p:spPr>
          <a:xfrm xmlns:a="http://schemas.openxmlformats.org/drawingml/2006/main">
            <a:off x="7915275" y="4162425"/>
            <a:ext cx="17049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C637F"/>
                </a:solidFill>
                <a:latin typeface="Inter"/>
                <a:ea typeface="Inter"/>
                <a:cs typeface="Inter"/>
              </a:defRPr>
            </a:pPr>
            <a:r>
              <a:rPr sz="1950" b="0">
                <a:solidFill>
                  <a:srgbClr val="2C637F"/>
                </a:solidFill>
                <a:latin typeface="Inter"/>
                <a:ea typeface="Inter"/>
                <a:cs typeface="Inter"/>
              </a:rPr>
              <a:t>1     1     0</a:t>
            </a:r>
          </a:p>
        </p:txBody>
      </p:sp>
      <p:sp>
        <p:nvSpPr>
          <p:cNvPr id="11" name="">
            <a:extLst xmlns:a="http://schemas.openxmlformats.org/drawingml/2006/main">
              <a:ext uri="{FF2B5EF4-FFF2-40B4-BE49-F238E27FC236}">
                <a16:creationId xmlns:a16="http://schemas.microsoft.com/office/drawing/2014/main" id="{CFACC68A-E2FC-41AB-B7B5-892B25D69A00}"/>
              </a:ext>
            </a:extLst>
          </p:cNvPr>
          <p:cNvSpPr>
            <a:spLocks xmlns:a="http://schemas.openxmlformats.org/drawingml/2006/main" noGrp="1"/>
          </p:cNvSpPr>
          <p:nvPr/>
        </p:nvSpPr>
        <p:spPr>
          <a:xfrm xmlns:a="http://schemas.openxmlformats.org/drawingml/2006/main">
            <a:off x="10287000" y="4038600"/>
            <a:ext cx="1400175" cy="542925"/>
          </a:xfrm>
          <a:prstGeom xmlns:a="http://schemas.openxmlformats.org/drawingml/2006/main" prst="rect">
            <a:avLst/>
          </a:prstGeom>
          <a:solidFill xmlns:a="http://schemas.openxmlformats.org/drawingml/2006/main">
            <a:srgbClr val="E2F2FA"/>
          </a:solidFill>
          <a:ln xmlns:a="http://schemas.openxmlformats.org/drawingml/2006/main" w="13335">
            <a:solidFill>
              <a:srgbClr val="2C637F"/>
            </a:solidFill>
          </a:ln>
        </p:spPr>
      </p:sp>
      <p:sp>
        <p:nvSpPr>
          <p:cNvPr id="12" name="">
            <a:extLst xmlns:a="http://schemas.openxmlformats.org/drawingml/2006/main">
              <a:ext uri="{FF2B5EF4-FFF2-40B4-BE49-F238E27FC236}">
                <a16:creationId xmlns:a16="http://schemas.microsoft.com/office/drawing/2014/main" id="{348677A1-0F26-4685-B8F7-1C3FEF1673B3}"/>
              </a:ext>
            </a:extLst>
          </p:cNvPr>
          <p:cNvSpPr>
            <a:spLocks xmlns:a="http://schemas.openxmlformats.org/drawingml/2006/main" noGrp="1"/>
          </p:cNvSpPr>
          <p:nvPr/>
        </p:nvSpPr>
        <p:spPr>
          <a:xfrm xmlns:a="http://schemas.openxmlformats.org/drawingml/2006/main">
            <a:off x="10429875" y="4162425"/>
            <a:ext cx="11144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2C637F"/>
                </a:solidFill>
                <a:latin typeface="Inter"/>
                <a:ea typeface="Inter"/>
                <a:cs typeface="Inter"/>
              </a:defRPr>
            </a:pPr>
            <a:r>
              <a:rPr sz="1800" b="0">
                <a:solidFill>
                  <a:srgbClr val="2C637F"/>
                </a:solidFill>
                <a:latin typeface="Inter"/>
                <a:ea typeface="Inter"/>
                <a:cs typeface="Inter"/>
              </a:rPr>
              <a:t>p = 2/3</a:t>
            </a:r>
          </a:p>
        </p:txBody>
      </p:sp>
      <p:cxnSp>
        <p:nvCxnSpPr>
          <p:cNvPr id="28" name=""/>
          <p:cNvCxnSpPr>
            <a:stCxn xmlns:a="http://schemas.openxmlformats.org/drawingml/2006/main" id="9" idx="3"/>
            <a:endCxn xmlns:a="http://schemas.openxmlformats.org/drawingml/2006/main" id="11" idx="1"/>
          </p:cNvCxnSpPr>
          <p:nvPr/>
        </p:nvCxnSpPr>
        <p:spPr>
          <a:xfrm xmlns:a="http://schemas.openxmlformats.org/drawingml/2006/main">
            <a:off x="9763125" y="4310063"/>
            <a:ext cx="523875" cy="0"/>
          </a:xfrm>
          <a:prstGeom xmlns:a="http://schemas.openxmlformats.org/drawingml/2006/main" prst="straightConnector1">
            <a:avLst/>
          </a:prstGeom>
          <a:ln xmlns:a="http://schemas.openxmlformats.org/drawingml/2006/main" w="21908">
            <a:solidFill>
              <a:srgbClr val="2C637F"/>
            </a:solidFill>
            <a:headEnd type="none" w="med" len="med"/>
            <a:tailEnd type="triangle" w="med" len="med"/>
          </a:ln>
        </p:spPr>
      </p:cxnSp>
      <p:sp>
        <p:nvSpPr>
          <p:cNvPr id="14" name="">
            <a:extLst xmlns:a="http://schemas.openxmlformats.org/drawingml/2006/main">
              <a:ext uri="{FF2B5EF4-FFF2-40B4-BE49-F238E27FC236}">
                <a16:creationId xmlns:a16="http://schemas.microsoft.com/office/drawing/2014/main" id="{9947A3F6-590C-4E0B-9F83-CD18033A0A0A}"/>
              </a:ext>
            </a:extLst>
          </p:cNvPr>
          <p:cNvSpPr>
            <a:spLocks xmlns:a="http://schemas.openxmlformats.org/drawingml/2006/main" noGrp="1"/>
          </p:cNvSpPr>
          <p:nvPr/>
        </p:nvSpPr>
        <p:spPr>
          <a:xfrm xmlns:a="http://schemas.openxmlformats.org/drawingml/2006/main">
            <a:off x="7753350" y="4810125"/>
            <a:ext cx="39433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52E3C"/>
                </a:solidFill>
                <a:latin typeface="Inter"/>
                <a:ea typeface="Inter"/>
                <a:cs typeface="Inter"/>
              </a:defRPr>
            </a:pPr>
            <a:r>
              <a:rPr sz="1725" b="0">
                <a:solidFill>
                  <a:srgbClr val="152E3C"/>
                </a:solidFill>
                <a:latin typeface="Inter"/>
                <a:ea typeface="Inter"/>
                <a:cs typeface="Inter"/>
              </a:rPr>
              <a:t>Example of 3 votes.</a:t>
            </a:r>
          </a:p>
          <a:p xmlns:a="http://schemas.openxmlformats.org/drawingml/2006/main">
            <a:pPr>
              <a:defRPr sz="1725" b="0">
                <a:solidFill>
                  <a:srgbClr val="152E3C"/>
                </a:solidFill>
                <a:latin typeface="Inter"/>
                <a:ea typeface="Inter"/>
                <a:cs typeface="Inter"/>
              </a:defRPr>
            </a:pPr>
            <a:r>
              <a:rPr sz="1725" b="0">
                <a:solidFill>
                  <a:srgbClr val="152E3C"/>
                </a:solidFill>
                <a:latin typeface="Inter"/>
                <a:ea typeface="Inter"/>
                <a:cs typeface="Inter"/>
              </a:rPr>
              <a:t>Within-item variance: p(1−p) = 2/9.</a:t>
            </a:r>
          </a:p>
        </p:txBody>
      </p:sp>
      <p:sp>
        <p:nvSpPr>
          <p:cNvPr id="15" name="">
            <a:extLst xmlns:a="http://schemas.openxmlformats.org/drawingml/2006/main">
              <a:ext uri="{FF2B5EF4-FFF2-40B4-BE49-F238E27FC236}">
                <a16:creationId xmlns:a16="http://schemas.microsoft.com/office/drawing/2014/main" id="{6FCC2512-41DF-4483-BEF3-74C6FDDD469F}"/>
              </a:ext>
            </a:extLst>
          </p:cNvPr>
          <p:cNvSpPr>
            <a:spLocks xmlns:a="http://schemas.openxmlformats.org/drawingml/2006/main" noGrp="1"/>
          </p:cNvSpPr>
          <p:nvPr/>
        </p:nvSpPr>
        <p:spPr>
          <a:xfrm xmlns:a="http://schemas.openxmlformats.org/drawingml/2006/main">
            <a:off x="457200" y="6086475"/>
            <a:ext cx="11239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06674"/>
                </a:solidFill>
                <a:latin typeface="Inter"/>
                <a:ea typeface="Inter"/>
                <a:cs typeface="Inter"/>
              </a:defRPr>
            </a:pPr>
            <a:r>
              <a:rPr sz="1425" b="0">
                <a:solidFill>
                  <a:srgbClr val="506674"/>
                </a:solidFill>
                <a:latin typeface="Inter"/>
                <a:ea typeface="Inter"/>
                <a:cs typeface="Inter"/>
              </a:rPr>
              <a:t>Three votes per type decision; soft labels retain their proportion.</a:t>
            </a:r>
          </a:p>
        </p:txBody>
      </p:sp>
    </p:spTree>
    <p:extLst>
      <p:ext uri="{BB962C8B-B14F-4D97-AF65-F5344CB8AC3E}">
        <p14:creationId xmlns:p14="http://schemas.microsoft.com/office/powerpoint/2010/main" val="3462458655"/>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910BB6D2-EADB-4946-A431-7E8804057502}"/>
              </a:ext>
            </a:extLst>
          </p:cNvPr>
          <p:cNvSpPr>
            <a:spLocks xmlns:a="http://schemas.openxmlformats.org/drawingml/2006/main" noGrp="1"/>
          </p:cNvSpPr>
          <p:nvPr/>
        </p:nvSpPr>
        <p:spPr>
          <a:xfrm xmlns:a="http://schemas.openxmlformats.org/drawingml/2006/main">
            <a:off x="457200" y="304800"/>
            <a:ext cx="11239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75" b="1">
                <a:solidFill>
                  <a:srgbClr val="2C637F"/>
                </a:solidFill>
                <a:latin typeface="Inter"/>
                <a:ea typeface="Inter"/>
                <a:cs typeface="Inter"/>
              </a:defRPr>
            </a:pPr>
            <a:r>
              <a:rPr sz="3075" b="1">
                <a:solidFill>
                  <a:srgbClr val="2C637F"/>
                </a:solidFill>
                <a:latin typeface="Inter"/>
                <a:ea typeface="Inter"/>
                <a:cs typeface="Inter"/>
              </a:rPr>
              <a:t>The anchor limits final changes</a:t>
            </a:r>
          </a:p>
        </p:txBody>
      </p:sp>
      <p:sp>
        <p:nvSpPr>
          <p:cNvPr id="2" name="">
            <a:extLst xmlns:a="http://schemas.openxmlformats.org/drawingml/2006/main">
              <a:ext uri="{FF2B5EF4-FFF2-40B4-BE49-F238E27FC236}">
                <a16:creationId xmlns:a16="http://schemas.microsoft.com/office/drawing/2014/main" id="{F23A0F33-0A17-4333-9D76-34CF2A7B921F}"/>
              </a:ext>
            </a:extLst>
          </p:cNvPr>
          <p:cNvSpPr>
            <a:spLocks xmlns:a="http://schemas.openxmlformats.org/drawingml/2006/main" noGrp="1"/>
          </p:cNvSpPr>
          <p:nvPr/>
        </p:nvSpPr>
        <p:spPr>
          <a:xfrm xmlns:a="http://schemas.openxmlformats.org/drawingml/2006/main">
            <a:off x="457200" y="65532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2C637F"/>
                </a:solidFill>
                <a:latin typeface="Inter"/>
                <a:ea typeface="Inter"/>
                <a:cs typeface="Inter"/>
              </a:defRPr>
            </a:pPr>
            <a:r>
              <a:rPr sz="1125" b="0">
                <a:solidFill>
                  <a:srgbClr val="2C637F"/>
                </a:solidFill>
                <a:latin typeface="Inter"/>
                <a:ea typeface="Inter"/>
                <a:cs typeface="Inter"/>
              </a:rPr>
              <a:t>WOMENHELP 2026   /   IBERLEF</a:t>
            </a:r>
          </a:p>
        </p:txBody>
      </p:sp>
      <p:sp>
        <p:nvSpPr>
          <p:cNvPr id="3" name="">
            <a:extLst xmlns:a="http://schemas.openxmlformats.org/drawingml/2006/main">
              <a:ext uri="{FF2B5EF4-FFF2-40B4-BE49-F238E27FC236}">
                <a16:creationId xmlns:a16="http://schemas.microsoft.com/office/drawing/2014/main" id="{F20EBA96-37C2-4CC3-95CD-B9BEE2B95BBA}"/>
              </a:ext>
            </a:extLst>
          </p:cNvPr>
          <p:cNvSpPr>
            <a:spLocks xmlns:a="http://schemas.openxmlformats.org/drawingml/2006/main" noGrp="1"/>
          </p:cNvSpPr>
          <p:nvPr/>
        </p:nvSpPr>
        <p:spPr>
          <a:xfrm xmlns:a="http://schemas.openxmlformats.org/drawingml/2006/main">
            <a:off x="11334750" y="654367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2C637F"/>
                </a:solidFill>
                <a:latin typeface="Inter"/>
                <a:ea typeface="Inter"/>
                <a:cs typeface="Inter"/>
              </a:defRPr>
            </a:pPr>
            <a:r>
              <a:rPr sz="1200" b="0">
                <a:solidFill>
                  <a:srgbClr val="2C637F"/>
                </a:solidFill>
                <a:latin typeface="Inter"/>
                <a:ea typeface="Inter"/>
                <a:cs typeface="Inter"/>
              </a:rPr>
              <a:t>08</a:t>
            </a:r>
          </a:p>
        </p:txBody>
      </p:sp>
      <p:sp>
        <p:nvSpPr>
          <p:cNvPr id="4" name="">
            <a:extLst xmlns:a="http://schemas.openxmlformats.org/drawingml/2006/main">
              <a:ext uri="{FF2B5EF4-FFF2-40B4-BE49-F238E27FC236}">
                <a16:creationId xmlns:a16="http://schemas.microsoft.com/office/drawing/2014/main" id="{4F3BF590-46C2-4791-8C28-578D28443CB6}"/>
              </a:ext>
            </a:extLst>
          </p:cNvPr>
          <p:cNvSpPr>
            <a:spLocks xmlns:a="http://schemas.openxmlformats.org/drawingml/2006/main" noGrp="1"/>
          </p:cNvSpPr>
          <p:nvPr/>
        </p:nvSpPr>
        <p:spPr>
          <a:xfrm xmlns:a="http://schemas.openxmlformats.org/drawingml/2006/main">
            <a:off x="457200" y="1752600"/>
            <a:ext cx="3086100" cy="1095375"/>
          </a:xfrm>
          <a:prstGeom xmlns:a="http://schemas.openxmlformats.org/drawingml/2006/main" prst="rect">
            <a:avLst/>
          </a:prstGeom>
          <a:solidFill xmlns:a="http://schemas.openxmlformats.org/drawingml/2006/main">
            <a:srgbClr val="E2F2FA"/>
          </a:solidFill>
          <a:ln xmlns:a="http://schemas.openxmlformats.org/drawingml/2006/main" w="13335">
            <a:solidFill>
              <a:srgbClr val="2C637F"/>
            </a:solidFill>
          </a:ln>
        </p:spPr>
      </p:sp>
      <p:sp>
        <p:nvSpPr>
          <p:cNvPr id="5" name="">
            <a:extLst xmlns:a="http://schemas.openxmlformats.org/drawingml/2006/main">
              <a:ext uri="{FF2B5EF4-FFF2-40B4-BE49-F238E27FC236}">
                <a16:creationId xmlns:a16="http://schemas.microsoft.com/office/drawing/2014/main" id="{8C5C85EC-9CE3-4381-94BD-635F6C33F0BC}"/>
              </a:ext>
            </a:extLst>
          </p:cNvPr>
          <p:cNvSpPr>
            <a:spLocks xmlns:a="http://schemas.openxmlformats.org/drawingml/2006/main" noGrp="1"/>
          </p:cNvSpPr>
          <p:nvPr/>
        </p:nvSpPr>
        <p:spPr>
          <a:xfrm xmlns:a="http://schemas.openxmlformats.org/drawingml/2006/main">
            <a:off x="600075" y="1876425"/>
            <a:ext cx="28003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2C637F"/>
                </a:solidFill>
                <a:latin typeface="Inter"/>
                <a:ea typeface="Inter"/>
                <a:cs typeface="Inter"/>
              </a:defRPr>
            </a:pPr>
            <a:r>
              <a:rPr sz="1800" b="0">
                <a:solidFill>
                  <a:srgbClr val="2C637F"/>
                </a:solidFill>
                <a:latin typeface="Inter"/>
                <a:ea typeface="Inter"/>
                <a:cs typeface="Inter"/>
              </a:rPr>
              <a:t>Top10 anchor</a:t>
            </a:r>
          </a:p>
          <a:p xmlns:a="http://schemas.openxmlformats.org/drawingml/2006/main">
            <a:pPr>
              <a:defRPr sz="1800" b="0">
                <a:solidFill>
                  <a:srgbClr val="2C637F"/>
                </a:solidFill>
                <a:latin typeface="Inter"/>
                <a:ea typeface="Inter"/>
                <a:cs typeface="Inter"/>
              </a:defRPr>
            </a:pPr>
            <a:r>
              <a:rPr sz="1800" b="0">
                <a:solidFill>
                  <a:srgbClr val="2C637F"/>
                </a:solidFill>
                <a:latin typeface="Inter"/>
                <a:ea typeface="Inter"/>
                <a:cs typeface="Inter"/>
              </a:rPr>
              <a:t>Best previous submission</a:t>
            </a:r>
          </a:p>
        </p:txBody>
      </p:sp>
      <p:sp>
        <p:nvSpPr>
          <p:cNvPr id="6" name="">
            <a:extLst xmlns:a="http://schemas.openxmlformats.org/drawingml/2006/main">
              <a:ext uri="{FF2B5EF4-FFF2-40B4-BE49-F238E27FC236}">
                <a16:creationId xmlns:a16="http://schemas.microsoft.com/office/drawing/2014/main" id="{B30FB2B2-B3EB-4B05-950A-8FD30A5B7318}"/>
              </a:ext>
            </a:extLst>
          </p:cNvPr>
          <p:cNvSpPr>
            <a:spLocks xmlns:a="http://schemas.openxmlformats.org/drawingml/2006/main" noGrp="1"/>
          </p:cNvSpPr>
          <p:nvPr/>
        </p:nvSpPr>
        <p:spPr>
          <a:xfrm xmlns:a="http://schemas.openxmlformats.org/drawingml/2006/main">
            <a:off x="457200" y="3752850"/>
            <a:ext cx="3086100" cy="1143000"/>
          </a:xfrm>
          <a:prstGeom xmlns:a="http://schemas.openxmlformats.org/drawingml/2006/main" prst="rect">
            <a:avLst/>
          </a:prstGeom>
          <a:solidFill xmlns:a="http://schemas.openxmlformats.org/drawingml/2006/main">
            <a:srgbClr val="E2F2FA"/>
          </a:solidFill>
          <a:ln xmlns:a="http://schemas.openxmlformats.org/drawingml/2006/main" w="13335">
            <a:solidFill>
              <a:srgbClr val="2C637F"/>
            </a:solidFill>
          </a:ln>
        </p:spPr>
      </p:sp>
      <p:sp>
        <p:nvSpPr>
          <p:cNvPr id="7" name="">
            <a:extLst xmlns:a="http://schemas.openxmlformats.org/drawingml/2006/main">
              <a:ext uri="{FF2B5EF4-FFF2-40B4-BE49-F238E27FC236}">
                <a16:creationId xmlns:a16="http://schemas.microsoft.com/office/drawing/2014/main" id="{F34413BB-EABC-4857-A2B7-32940CF14283}"/>
              </a:ext>
            </a:extLst>
          </p:cNvPr>
          <p:cNvSpPr>
            <a:spLocks xmlns:a="http://schemas.openxmlformats.org/drawingml/2006/main" noGrp="1"/>
          </p:cNvSpPr>
          <p:nvPr/>
        </p:nvSpPr>
        <p:spPr>
          <a:xfrm xmlns:a="http://schemas.openxmlformats.org/drawingml/2006/main">
            <a:off x="600075" y="3876675"/>
            <a:ext cx="28003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2C637F"/>
                </a:solidFill>
                <a:latin typeface="Inter"/>
                <a:ea typeface="Inter"/>
                <a:cs typeface="Inter"/>
              </a:defRPr>
            </a:pPr>
            <a:r>
              <a:rPr sz="1800" b="0">
                <a:solidFill>
                  <a:srgbClr val="2C637F"/>
                </a:solidFill>
                <a:latin typeface="Inter"/>
                <a:ea typeface="Inter"/>
                <a:cs typeface="Inter"/>
              </a:rPr>
              <a:t>Foldbag candidate</a:t>
            </a:r>
          </a:p>
          <a:p xmlns:a="http://schemas.openxmlformats.org/drawingml/2006/main">
            <a:pPr>
              <a:defRPr sz="1800" b="0">
                <a:solidFill>
                  <a:srgbClr val="2C637F"/>
                </a:solidFill>
                <a:latin typeface="Inter"/>
                <a:ea typeface="Inter"/>
                <a:cs typeface="Inter"/>
              </a:defRPr>
            </a:pPr>
            <a:r>
              <a:rPr sz="1800" b="0">
                <a:solidFill>
                  <a:srgbClr val="2C637F"/>
                </a:solidFill>
                <a:latin typeface="Inter"/>
                <a:ea typeface="Inter"/>
                <a:cs typeface="Inter"/>
              </a:rPr>
              <a:t>5 BETO aug. + 5 Electricidad</a:t>
            </a:r>
          </a:p>
        </p:txBody>
      </p:sp>
      <p:sp>
        <p:nvSpPr>
          <p:cNvPr id="8" name="">
            <a:extLst xmlns:a="http://schemas.openxmlformats.org/drawingml/2006/main">
              <a:ext uri="{FF2B5EF4-FFF2-40B4-BE49-F238E27FC236}">
                <a16:creationId xmlns:a16="http://schemas.microsoft.com/office/drawing/2014/main" id="{2D79A103-D484-41A9-B8CB-0A7F9622D61D}"/>
              </a:ext>
            </a:extLst>
          </p:cNvPr>
          <p:cNvSpPr>
            <a:spLocks xmlns:a="http://schemas.openxmlformats.org/drawingml/2006/main" noGrp="1"/>
          </p:cNvSpPr>
          <p:nvPr/>
        </p:nvSpPr>
        <p:spPr>
          <a:xfrm xmlns:a="http://schemas.openxmlformats.org/drawingml/2006/main">
            <a:off x="4429125" y="2724150"/>
            <a:ext cx="3181350" cy="1133475"/>
          </a:xfrm>
          <a:prstGeom xmlns:a="http://schemas.openxmlformats.org/drawingml/2006/main" prst="rect">
            <a:avLst/>
          </a:prstGeom>
          <a:solidFill xmlns:a="http://schemas.openxmlformats.org/drawingml/2006/main">
            <a:srgbClr val="E2F2FA"/>
          </a:solidFill>
          <a:ln xmlns:a="http://schemas.openxmlformats.org/drawingml/2006/main" w="13335">
            <a:solidFill>
              <a:srgbClr val="2C637F"/>
            </a:solidFill>
          </a:ln>
        </p:spPr>
      </p:sp>
      <p:sp>
        <p:nvSpPr>
          <p:cNvPr id="9" name="">
            <a:extLst xmlns:a="http://schemas.openxmlformats.org/drawingml/2006/main">
              <a:ext uri="{FF2B5EF4-FFF2-40B4-BE49-F238E27FC236}">
                <a16:creationId xmlns:a16="http://schemas.microsoft.com/office/drawing/2014/main" id="{0DDC5019-FA0A-4208-A5C7-5240624ACF3F}"/>
              </a:ext>
            </a:extLst>
          </p:cNvPr>
          <p:cNvSpPr>
            <a:spLocks xmlns:a="http://schemas.openxmlformats.org/drawingml/2006/main" noGrp="1"/>
          </p:cNvSpPr>
          <p:nvPr/>
        </p:nvSpPr>
        <p:spPr>
          <a:xfrm xmlns:a="http://schemas.openxmlformats.org/drawingml/2006/main">
            <a:off x="4572000" y="2847975"/>
            <a:ext cx="28956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2C637F"/>
                </a:solidFill>
                <a:latin typeface="Inter"/>
                <a:ea typeface="Inter"/>
                <a:cs typeface="Inter"/>
              </a:defRPr>
            </a:pPr>
            <a:r>
              <a:rPr sz="1800" b="0">
                <a:solidFill>
                  <a:srgbClr val="2C637F"/>
                </a:solidFill>
                <a:latin typeface="Inter"/>
                <a:ea typeface="Inter"/>
                <a:cs typeface="Inter"/>
              </a:rPr>
              <a:t>Router</a:t>
            </a:r>
          </a:p>
          <a:p xmlns:a="http://schemas.openxmlformats.org/drawingml/2006/main">
            <a:pPr>
              <a:defRPr sz="1800" b="0">
                <a:solidFill>
                  <a:srgbClr val="2C637F"/>
                </a:solidFill>
                <a:latin typeface="Inter"/>
                <a:ea typeface="Inter"/>
                <a:cs typeface="Inter"/>
              </a:defRPr>
            </a:pPr>
            <a:r>
              <a:rPr sz="1800" b="0">
                <a:solidFill>
                  <a:srgbClr val="2C637F"/>
                </a:solidFill>
                <a:latin typeface="Inter"/>
                <a:ea typeface="Inter"/>
                <a:cs typeface="Inter"/>
              </a:rPr>
              <a:t>Allowed transitions only</a:t>
            </a:r>
          </a:p>
        </p:txBody>
      </p:sp>
      <p:sp>
        <p:nvSpPr>
          <p:cNvPr id="10" name="">
            <a:extLst xmlns:a="http://schemas.openxmlformats.org/drawingml/2006/main">
              <a:ext uri="{FF2B5EF4-FFF2-40B4-BE49-F238E27FC236}">
                <a16:creationId xmlns:a16="http://schemas.microsoft.com/office/drawing/2014/main" id="{3B055B8A-EDF1-4FF2-9CFE-61EBD528D22A}"/>
              </a:ext>
            </a:extLst>
          </p:cNvPr>
          <p:cNvSpPr>
            <a:spLocks xmlns:a="http://schemas.openxmlformats.org/drawingml/2006/main" noGrp="1"/>
          </p:cNvSpPr>
          <p:nvPr/>
        </p:nvSpPr>
        <p:spPr>
          <a:xfrm xmlns:a="http://schemas.openxmlformats.org/drawingml/2006/main">
            <a:off x="8448675" y="1752600"/>
            <a:ext cx="3238500" cy="1057275"/>
          </a:xfrm>
          <a:prstGeom xmlns:a="http://schemas.openxmlformats.org/drawingml/2006/main" prst="rect">
            <a:avLst/>
          </a:prstGeom>
          <a:solidFill xmlns:a="http://schemas.openxmlformats.org/drawingml/2006/main">
            <a:srgbClr val="E2F2FA"/>
          </a:solidFill>
          <a:ln xmlns:a="http://schemas.openxmlformats.org/drawingml/2006/main" w="13335">
            <a:solidFill>
              <a:srgbClr val="2C637F"/>
            </a:solidFill>
          </a:ln>
        </p:spPr>
      </p:sp>
      <p:sp>
        <p:nvSpPr>
          <p:cNvPr id="11" name="">
            <a:extLst xmlns:a="http://schemas.openxmlformats.org/drawingml/2006/main">
              <a:ext uri="{FF2B5EF4-FFF2-40B4-BE49-F238E27FC236}">
                <a16:creationId xmlns:a16="http://schemas.microsoft.com/office/drawing/2014/main" id="{ED0714AE-7849-4712-A6F8-A01149B0F459}"/>
              </a:ext>
            </a:extLst>
          </p:cNvPr>
          <p:cNvSpPr>
            <a:spLocks xmlns:a="http://schemas.openxmlformats.org/drawingml/2006/main" noGrp="1"/>
          </p:cNvSpPr>
          <p:nvPr/>
        </p:nvSpPr>
        <p:spPr>
          <a:xfrm xmlns:a="http://schemas.openxmlformats.org/drawingml/2006/main">
            <a:off x="8591550" y="1876425"/>
            <a:ext cx="29527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2C637F"/>
                </a:solidFill>
                <a:latin typeface="Inter"/>
                <a:ea typeface="Inter"/>
                <a:cs typeface="Inter"/>
              </a:defRPr>
            </a:pPr>
            <a:r>
              <a:rPr sz="1800" b="0">
                <a:solidFill>
                  <a:srgbClr val="2C637F"/>
                </a:solidFill>
                <a:latin typeface="Inter"/>
                <a:ea typeface="Inter"/>
                <a:cs typeface="Inter"/>
              </a:rPr>
              <a:t>Keep anchor</a:t>
            </a:r>
          </a:p>
          <a:p xmlns:a="http://schemas.openxmlformats.org/drawingml/2006/main">
            <a:pPr>
              <a:defRPr sz="1800" b="0">
                <a:solidFill>
                  <a:srgbClr val="2C637F"/>
                </a:solidFill>
                <a:latin typeface="Inter"/>
                <a:ea typeface="Inter"/>
                <a:cs typeface="Inter"/>
              </a:defRPr>
            </a:pPr>
            <a:r>
              <a:rPr sz="1800" b="0">
                <a:solidFill>
                  <a:srgbClr val="2C637F"/>
                </a:solidFill>
                <a:latin typeface="Inter"/>
                <a:ea typeface="Inter"/>
                <a:cs typeface="Inter"/>
              </a:rPr>
              <a:t>3,929 / 4,219 (93.13%)</a:t>
            </a:r>
          </a:p>
        </p:txBody>
      </p:sp>
      <p:sp>
        <p:nvSpPr>
          <p:cNvPr id="12" name="">
            <a:extLst xmlns:a="http://schemas.openxmlformats.org/drawingml/2006/main">
              <a:ext uri="{FF2B5EF4-FFF2-40B4-BE49-F238E27FC236}">
                <a16:creationId xmlns:a16="http://schemas.microsoft.com/office/drawing/2014/main" id="{0AFA8BC3-0064-4344-9C50-B47607E3397D}"/>
              </a:ext>
            </a:extLst>
          </p:cNvPr>
          <p:cNvSpPr>
            <a:spLocks xmlns:a="http://schemas.openxmlformats.org/drawingml/2006/main" noGrp="1"/>
          </p:cNvSpPr>
          <p:nvPr/>
        </p:nvSpPr>
        <p:spPr>
          <a:xfrm xmlns:a="http://schemas.openxmlformats.org/drawingml/2006/main">
            <a:off x="8448675" y="3762375"/>
            <a:ext cx="3238500" cy="1057275"/>
          </a:xfrm>
          <a:prstGeom xmlns:a="http://schemas.openxmlformats.org/drawingml/2006/main" prst="rect">
            <a:avLst/>
          </a:prstGeom>
          <a:solidFill xmlns:a="http://schemas.openxmlformats.org/drawingml/2006/main">
            <a:srgbClr val="E8F3EF"/>
          </a:solidFill>
          <a:ln xmlns:a="http://schemas.openxmlformats.org/drawingml/2006/main" w="13335">
            <a:solidFill>
              <a:srgbClr val="16766E"/>
            </a:solidFill>
          </a:ln>
        </p:spPr>
      </p:sp>
      <p:sp>
        <p:nvSpPr>
          <p:cNvPr id="13" name="">
            <a:extLst xmlns:a="http://schemas.openxmlformats.org/drawingml/2006/main">
              <a:ext uri="{FF2B5EF4-FFF2-40B4-BE49-F238E27FC236}">
                <a16:creationId xmlns:a16="http://schemas.microsoft.com/office/drawing/2014/main" id="{88171D1F-1C55-40F7-9344-649EE84E2903}"/>
              </a:ext>
            </a:extLst>
          </p:cNvPr>
          <p:cNvSpPr>
            <a:spLocks xmlns:a="http://schemas.openxmlformats.org/drawingml/2006/main" noGrp="1"/>
          </p:cNvSpPr>
          <p:nvPr/>
        </p:nvSpPr>
        <p:spPr>
          <a:xfrm xmlns:a="http://schemas.openxmlformats.org/drawingml/2006/main">
            <a:off x="8591550" y="3886200"/>
            <a:ext cx="29527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6766E"/>
                </a:solidFill>
                <a:latin typeface="Inter"/>
                <a:ea typeface="Inter"/>
                <a:cs typeface="Inter"/>
              </a:defRPr>
            </a:pPr>
            <a:r>
              <a:rPr sz="1800" b="0">
                <a:solidFill>
                  <a:srgbClr val="16766E"/>
                </a:solidFill>
                <a:latin typeface="Inter"/>
                <a:ea typeface="Inter"/>
                <a:cs typeface="Inter"/>
              </a:rPr>
              <a:t>Apply change</a:t>
            </a:r>
          </a:p>
          <a:p xmlns:a="http://schemas.openxmlformats.org/drawingml/2006/main">
            <a:pPr>
              <a:defRPr sz="1800" b="0">
                <a:solidFill>
                  <a:srgbClr val="16766E"/>
                </a:solidFill>
                <a:latin typeface="Inter"/>
                <a:ea typeface="Inter"/>
                <a:cs typeface="Inter"/>
              </a:defRPr>
            </a:pPr>
            <a:r>
              <a:rPr sz="1800" b="0">
                <a:solidFill>
                  <a:srgbClr val="16766E"/>
                </a:solidFill>
                <a:latin typeface="Inter"/>
                <a:ea typeface="Inter"/>
                <a:cs typeface="Inter"/>
              </a:rPr>
              <a:t>290 / 4,219 (6.87%)</a:t>
            </a:r>
          </a:p>
        </p:txBody>
      </p:sp>
      <p:cxnSp>
        <p:nvCxnSpPr>
          <p:cNvPr id="35" name=""/>
          <p:cNvCxnSpPr>
            <a:stCxn xmlns:a="http://schemas.openxmlformats.org/drawingml/2006/main" id="4" idx="3"/>
            <a:endCxn xmlns:a="http://schemas.openxmlformats.org/drawingml/2006/main" id="8" idx="1"/>
          </p:cNvCxnSpPr>
          <p:nvPr/>
        </p:nvCxnSpPr>
        <p:spPr>
          <a:xfrm xmlns:a="http://schemas.openxmlformats.org/drawingml/2006/main">
            <a:off x="3543300" y="2300288"/>
            <a:ext cx="885825" cy="990600"/>
          </a:xfrm>
          <a:prstGeom xmlns:a="http://schemas.openxmlformats.org/drawingml/2006/main" prst="bentConnector3">
            <a:avLst>
              <a:gd name="adj1" fmla="val 50000"/>
            </a:avLst>
          </a:prstGeom>
          <a:ln xmlns:a="http://schemas.openxmlformats.org/drawingml/2006/main" w="21908">
            <a:solidFill>
              <a:srgbClr val="2C637F"/>
            </a:solidFill>
            <a:headEnd type="none" w="med" len="med"/>
            <a:tailEnd type="triangle" w="med" len="med"/>
          </a:ln>
        </p:spPr>
      </p:cxnSp>
      <p:cxnSp>
        <p:nvCxnSpPr>
          <p:cNvPr id="36" name=""/>
          <p:cNvCxnSpPr>
            <a:stCxn xmlns:a="http://schemas.openxmlformats.org/drawingml/2006/main" id="6" idx="3"/>
            <a:endCxn xmlns:a="http://schemas.openxmlformats.org/drawingml/2006/main" id="8" idx="1"/>
          </p:cNvCxnSpPr>
          <p:nvPr/>
        </p:nvCxnSpPr>
        <p:spPr>
          <a:xfrm xmlns:a="http://schemas.openxmlformats.org/drawingml/2006/main" flipV="1">
            <a:off x="3543300" y="3290888"/>
            <a:ext cx="885825" cy="1033463"/>
          </a:xfrm>
          <a:prstGeom xmlns:a="http://schemas.openxmlformats.org/drawingml/2006/main" prst="bentConnector3">
            <a:avLst>
              <a:gd name="adj1" fmla="val 50000"/>
            </a:avLst>
          </a:prstGeom>
          <a:ln xmlns:a="http://schemas.openxmlformats.org/drawingml/2006/main" w="21908">
            <a:solidFill>
              <a:srgbClr val="2C637F"/>
            </a:solidFill>
            <a:headEnd type="none" w="med" len="med"/>
            <a:tailEnd type="triangle" w="med" len="med"/>
          </a:ln>
        </p:spPr>
      </p:cxnSp>
      <p:cxnSp>
        <p:nvCxnSpPr>
          <p:cNvPr id="37" name=""/>
          <p:cNvCxnSpPr>
            <a:stCxn xmlns:a="http://schemas.openxmlformats.org/drawingml/2006/main" id="8" idx="3"/>
            <a:endCxn xmlns:a="http://schemas.openxmlformats.org/drawingml/2006/main" id="10" idx="1"/>
          </p:cNvCxnSpPr>
          <p:nvPr/>
        </p:nvCxnSpPr>
        <p:spPr>
          <a:xfrm xmlns:a="http://schemas.openxmlformats.org/drawingml/2006/main" flipV="1">
            <a:off x="7610475" y="2281238"/>
            <a:ext cx="838200" cy="1009650"/>
          </a:xfrm>
          <a:prstGeom xmlns:a="http://schemas.openxmlformats.org/drawingml/2006/main" prst="bentConnector3">
            <a:avLst>
              <a:gd name="adj1" fmla="val 50000"/>
            </a:avLst>
          </a:prstGeom>
          <a:ln xmlns:a="http://schemas.openxmlformats.org/drawingml/2006/main" w="21908">
            <a:solidFill>
              <a:srgbClr val="2C637F"/>
            </a:solidFill>
            <a:headEnd type="none" w="med" len="med"/>
            <a:tailEnd type="triangle" w="med" len="med"/>
          </a:ln>
        </p:spPr>
      </p:cxnSp>
      <p:cxnSp>
        <p:nvCxnSpPr>
          <p:cNvPr id="38" name=""/>
          <p:cNvCxnSpPr>
            <a:stCxn xmlns:a="http://schemas.openxmlformats.org/drawingml/2006/main" id="8" idx="3"/>
            <a:endCxn xmlns:a="http://schemas.openxmlformats.org/drawingml/2006/main" id="12" idx="1"/>
          </p:cNvCxnSpPr>
          <p:nvPr/>
        </p:nvCxnSpPr>
        <p:spPr>
          <a:xfrm xmlns:a="http://schemas.openxmlformats.org/drawingml/2006/main">
            <a:off x="7610475" y="3290888"/>
            <a:ext cx="838200" cy="1000125"/>
          </a:xfrm>
          <a:prstGeom xmlns:a="http://schemas.openxmlformats.org/drawingml/2006/main" prst="bentConnector3">
            <a:avLst>
              <a:gd name="adj1" fmla="val 50000"/>
            </a:avLst>
          </a:prstGeom>
          <a:ln xmlns:a="http://schemas.openxmlformats.org/drawingml/2006/main" w="21908">
            <a:solidFill>
              <a:srgbClr val="2C637F"/>
            </a:solidFill>
            <a:headEnd type="none" w="med" len="med"/>
            <a:tailEnd type="triangle" w="med" len="med"/>
          </a:ln>
        </p:spPr>
      </p:cxnSp>
      <p:sp>
        <p:nvSpPr>
          <p:cNvPr id="18" name="">
            <a:extLst xmlns:a="http://schemas.openxmlformats.org/drawingml/2006/main">
              <a:ext uri="{FF2B5EF4-FFF2-40B4-BE49-F238E27FC236}">
                <a16:creationId xmlns:a16="http://schemas.microsoft.com/office/drawing/2014/main" id="{82557D52-7267-4C06-AEA3-342641BD13F5}"/>
              </a:ext>
            </a:extLst>
          </p:cNvPr>
          <p:cNvSpPr>
            <a:spLocks xmlns:a="http://schemas.openxmlformats.org/drawingml/2006/main" noGrp="1"/>
          </p:cNvSpPr>
          <p:nvPr/>
        </p:nvSpPr>
        <p:spPr>
          <a:xfrm xmlns:a="http://schemas.openxmlformats.org/drawingml/2006/main">
            <a:off x="7696200" y="1752600"/>
            <a:ext cx="685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06674"/>
                </a:solidFill>
                <a:latin typeface="Inter"/>
                <a:ea typeface="Inter"/>
                <a:cs typeface="Inter"/>
              </a:defRPr>
            </a:pPr>
            <a:r>
              <a:rPr sz="1350" b="0">
                <a:solidFill>
                  <a:srgbClr val="506674"/>
                </a:solidFill>
                <a:latin typeface="Inter"/>
                <a:ea typeface="Inter"/>
                <a:cs typeface="Inter"/>
              </a:rPr>
              <a:t>No</a:t>
            </a:r>
          </a:p>
        </p:txBody>
      </p:sp>
      <p:sp>
        <p:nvSpPr>
          <p:cNvPr id="19" name="">
            <a:extLst xmlns:a="http://schemas.openxmlformats.org/drawingml/2006/main">
              <a:ext uri="{FF2B5EF4-FFF2-40B4-BE49-F238E27FC236}">
                <a16:creationId xmlns:a16="http://schemas.microsoft.com/office/drawing/2014/main" id="{7C84C106-1494-4380-A19E-70898734BA84}"/>
              </a:ext>
            </a:extLst>
          </p:cNvPr>
          <p:cNvSpPr>
            <a:spLocks xmlns:a="http://schemas.openxmlformats.org/drawingml/2006/main" noGrp="1"/>
          </p:cNvSpPr>
          <p:nvPr/>
        </p:nvSpPr>
        <p:spPr>
          <a:xfrm xmlns:a="http://schemas.openxmlformats.org/drawingml/2006/main">
            <a:off x="7696200" y="4400550"/>
            <a:ext cx="685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6766E"/>
                </a:solidFill>
                <a:latin typeface="Inter"/>
                <a:ea typeface="Inter"/>
                <a:cs typeface="Inter"/>
              </a:defRPr>
            </a:pPr>
            <a:r>
              <a:rPr sz="1350" b="0">
                <a:solidFill>
                  <a:srgbClr val="16766E"/>
                </a:solidFill>
                <a:latin typeface="Inter"/>
                <a:ea typeface="Inter"/>
                <a:cs typeface="Inter"/>
              </a:rPr>
              <a:t>Yes</a:t>
            </a:r>
          </a:p>
        </p:txBody>
      </p:sp>
      <p:sp>
        <p:nvSpPr>
          <p:cNvPr id="20" name="">
            <a:extLst xmlns:a="http://schemas.openxmlformats.org/drawingml/2006/main">
              <a:ext uri="{FF2B5EF4-FFF2-40B4-BE49-F238E27FC236}">
                <a16:creationId xmlns:a16="http://schemas.microsoft.com/office/drawing/2014/main" id="{3E3D9CAD-8D47-4006-A864-D6C0812B1016}"/>
              </a:ext>
            </a:extLst>
          </p:cNvPr>
          <p:cNvSpPr>
            <a:spLocks xmlns:a="http://schemas.openxmlformats.org/drawingml/2006/main" noGrp="1"/>
          </p:cNvSpPr>
          <p:nvPr/>
        </p:nvSpPr>
        <p:spPr>
          <a:xfrm xmlns:a="http://schemas.openxmlformats.org/drawingml/2006/main">
            <a:off x="457200" y="5286375"/>
            <a:ext cx="11239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2C637F"/>
                </a:solidFill>
                <a:latin typeface="Inter"/>
                <a:ea typeface="Inter"/>
                <a:cs typeface="Inter"/>
              </a:defRPr>
            </a:pPr>
            <a:r>
              <a:rPr sz="2025" b="1">
                <a:solidFill>
                  <a:srgbClr val="2C637F"/>
                </a:solidFill>
                <a:latin typeface="Inter"/>
                <a:ea typeface="Inter"/>
                <a:cs typeface="Inter"/>
              </a:rPr>
              <a:t>Medium → Mild: 177     Mild → Medium: 101     High → Severe: 12</a:t>
            </a:r>
          </a:p>
        </p:txBody>
      </p:sp>
      <p:sp>
        <p:nvSpPr>
          <p:cNvPr id="21" name="">
            <a:extLst xmlns:a="http://schemas.openxmlformats.org/drawingml/2006/main">
              <a:ext uri="{FF2B5EF4-FFF2-40B4-BE49-F238E27FC236}">
                <a16:creationId xmlns:a16="http://schemas.microsoft.com/office/drawing/2014/main" id="{6FCECF03-0EB0-4B2A-9AFB-E5FBA6D686A7}"/>
              </a:ext>
            </a:extLst>
          </p:cNvPr>
          <p:cNvSpPr>
            <a:spLocks xmlns:a="http://schemas.openxmlformats.org/drawingml/2006/main" noGrp="1"/>
          </p:cNvSpPr>
          <p:nvPr/>
        </p:nvSpPr>
        <p:spPr>
          <a:xfrm xmlns:a="http://schemas.openxmlformats.org/drawingml/2006/main">
            <a:off x="457200" y="5886450"/>
            <a:ext cx="11239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06674"/>
                </a:solidFill>
                <a:latin typeface="Inter"/>
                <a:ea typeface="Inter"/>
                <a:cs typeface="Inter"/>
              </a:defRPr>
            </a:pPr>
            <a:r>
              <a:rPr sz="1725" b="0">
                <a:solidFill>
                  <a:srgbClr val="506674"/>
                </a:solidFill>
                <a:latin typeface="Inter"/>
                <a:ea typeface="Inter"/>
                <a:cs typeface="Inter"/>
              </a:rPr>
              <a:t>High → Severe requires severe lexical cues. Selected recipes + a final decision rule.</a:t>
            </a:r>
          </a:p>
        </p:txBody>
      </p:sp>
    </p:spTree>
    <p:extLst>
      <p:ext uri="{BB962C8B-B14F-4D97-AF65-F5344CB8AC3E}">
        <p14:creationId xmlns:p14="http://schemas.microsoft.com/office/powerpoint/2010/main" val="2075362051"/>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2F45CDD-E4E5-4CF2-93FD-1D77245FDF78}"/>
              </a:ext>
            </a:extLst>
          </p:cNvPr>
          <p:cNvSpPr>
            <a:spLocks xmlns:a="http://schemas.openxmlformats.org/drawingml/2006/main" noGrp="1"/>
          </p:cNvSpPr>
          <p:nvPr/>
        </p:nvSpPr>
        <p:spPr>
          <a:xfrm xmlns:a="http://schemas.openxmlformats.org/drawingml/2006/main">
            <a:off x="457200" y="304800"/>
            <a:ext cx="11239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75" b="1">
                <a:solidFill>
                  <a:srgbClr val="2C637F"/>
                </a:solidFill>
                <a:latin typeface="Inter"/>
                <a:ea typeface="Inter"/>
                <a:cs typeface="Inter"/>
              </a:defRPr>
            </a:pPr>
            <a:r>
              <a:rPr sz="3075" b="1">
                <a:solidFill>
                  <a:srgbClr val="2C637F"/>
                </a:solidFill>
                <a:latin typeface="Inter"/>
                <a:ea typeface="Inter"/>
                <a:cs typeface="Inter"/>
              </a:rPr>
              <a:t>Complete system results</a:t>
            </a:r>
          </a:p>
        </p:txBody>
      </p:sp>
      <p:sp>
        <p:nvSpPr>
          <p:cNvPr id="2" name="">
            <a:extLst xmlns:a="http://schemas.openxmlformats.org/drawingml/2006/main">
              <a:ext uri="{FF2B5EF4-FFF2-40B4-BE49-F238E27FC236}">
                <a16:creationId xmlns:a16="http://schemas.microsoft.com/office/drawing/2014/main" id="{A6DE9A89-43E1-4868-AA3D-1A38E9B23617}"/>
              </a:ext>
            </a:extLst>
          </p:cNvPr>
          <p:cNvSpPr>
            <a:spLocks xmlns:a="http://schemas.openxmlformats.org/drawingml/2006/main" noGrp="1"/>
          </p:cNvSpPr>
          <p:nvPr/>
        </p:nvSpPr>
        <p:spPr>
          <a:xfrm xmlns:a="http://schemas.openxmlformats.org/drawingml/2006/main">
            <a:off x="457200" y="65532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2C637F"/>
                </a:solidFill>
                <a:latin typeface="Inter"/>
                <a:ea typeface="Inter"/>
                <a:cs typeface="Inter"/>
              </a:defRPr>
            </a:pPr>
            <a:r>
              <a:rPr sz="1125" b="0">
                <a:solidFill>
                  <a:srgbClr val="2C637F"/>
                </a:solidFill>
                <a:latin typeface="Inter"/>
                <a:ea typeface="Inter"/>
                <a:cs typeface="Inter"/>
              </a:rPr>
              <a:t>WOMENHELP 2026   /   IBERLEF</a:t>
            </a:r>
          </a:p>
        </p:txBody>
      </p:sp>
      <p:sp>
        <p:nvSpPr>
          <p:cNvPr id="3" name="">
            <a:extLst xmlns:a="http://schemas.openxmlformats.org/drawingml/2006/main">
              <a:ext uri="{FF2B5EF4-FFF2-40B4-BE49-F238E27FC236}">
                <a16:creationId xmlns:a16="http://schemas.microsoft.com/office/drawing/2014/main" id="{E2B6F0E7-D4DB-4B9A-966B-A1557A4AA774}"/>
              </a:ext>
            </a:extLst>
          </p:cNvPr>
          <p:cNvSpPr>
            <a:spLocks xmlns:a="http://schemas.openxmlformats.org/drawingml/2006/main" noGrp="1"/>
          </p:cNvSpPr>
          <p:nvPr/>
        </p:nvSpPr>
        <p:spPr>
          <a:xfrm xmlns:a="http://schemas.openxmlformats.org/drawingml/2006/main">
            <a:off x="11334750" y="654367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2C637F"/>
                </a:solidFill>
                <a:latin typeface="Inter"/>
                <a:ea typeface="Inter"/>
                <a:cs typeface="Inter"/>
              </a:defRPr>
            </a:pPr>
            <a:r>
              <a:rPr sz="1200" b="0">
                <a:solidFill>
                  <a:srgbClr val="2C637F"/>
                </a:solidFill>
                <a:latin typeface="Inter"/>
                <a:ea typeface="Inter"/>
                <a:cs typeface="Inter"/>
              </a:rPr>
              <a:t>09</a:t>
            </a:r>
          </a:p>
        </p:txBody>
      </p:sp>
      <p:sp>
        <p:nvSpPr>
          <p:cNvPr id="4" name="">
            <a:extLst xmlns:a="http://schemas.openxmlformats.org/drawingml/2006/main">
              <a:ext uri="{FF2B5EF4-FFF2-40B4-BE49-F238E27FC236}">
                <a16:creationId xmlns:a16="http://schemas.microsoft.com/office/drawing/2014/main" id="{529AC3CE-CA1B-4FBC-ACD6-7AC3BF1A88F8}"/>
              </a:ext>
            </a:extLst>
          </p:cNvPr>
          <p:cNvSpPr>
            <a:spLocks xmlns:a="http://schemas.openxmlformats.org/drawingml/2006/main" noGrp="1"/>
          </p:cNvSpPr>
          <p:nvPr/>
        </p:nvSpPr>
        <p:spPr>
          <a:xfrm xmlns:a="http://schemas.openxmlformats.org/drawingml/2006/main">
            <a:off x="457200" y="1657350"/>
            <a:ext cx="6238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C637F"/>
                </a:solidFill>
                <a:latin typeface="Inter"/>
                <a:ea typeface="Inter"/>
                <a:cs typeface="Inter"/>
              </a:defRPr>
            </a:pPr>
            <a:r>
              <a:rPr sz="1800" b="1">
                <a:solidFill>
                  <a:srgbClr val="2C637F"/>
                </a:solidFill>
                <a:latin typeface="Inter"/>
                <a:ea typeface="Inter"/>
                <a:cs typeface="Inter"/>
              </a:rPr>
              <a:t>SEVERITY · MACRO-F1</a:t>
            </a:r>
          </a:p>
        </p:txBody>
      </p:sp>
      <p:sp>
        <p:nvSpPr>
          <p:cNvPr id="5" name="">
            <a:extLst xmlns:a="http://schemas.openxmlformats.org/drawingml/2006/main">
              <a:ext uri="{FF2B5EF4-FFF2-40B4-BE49-F238E27FC236}">
                <a16:creationId xmlns:a16="http://schemas.microsoft.com/office/drawing/2014/main" id="{59783804-1A3C-481A-B864-58182F60CCB2}"/>
              </a:ext>
            </a:extLst>
          </p:cNvPr>
          <p:cNvSpPr>
            <a:spLocks xmlns:a="http://schemas.openxmlformats.org/drawingml/2006/main" noGrp="1"/>
          </p:cNvSpPr>
          <p:nvPr/>
        </p:nvSpPr>
        <p:spPr>
          <a:xfrm xmlns:a="http://schemas.openxmlformats.org/drawingml/2006/main">
            <a:off x="457200" y="2143125"/>
            <a:ext cx="628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925" b="1">
                <a:solidFill>
                  <a:srgbClr val="2C637F"/>
                </a:solidFill>
                <a:latin typeface="Inter"/>
                <a:ea typeface="Inter"/>
                <a:cs typeface="Inter"/>
              </a:defRPr>
            </a:pPr>
            <a:r>
              <a:rPr sz="5925" b="1">
                <a:solidFill>
                  <a:srgbClr val="2C637F"/>
                </a:solidFill>
                <a:latin typeface="Inter"/>
                <a:ea typeface="Inter"/>
                <a:cs typeface="Inter"/>
              </a:rPr>
              <a:t>0.60798</a:t>
            </a:r>
          </a:p>
        </p:txBody>
      </p:sp>
      <p:sp>
        <p:nvSpPr>
          <p:cNvPr id="6" name="">
            <a:extLst xmlns:a="http://schemas.openxmlformats.org/drawingml/2006/main">
              <a:ext uri="{FF2B5EF4-FFF2-40B4-BE49-F238E27FC236}">
                <a16:creationId xmlns:a16="http://schemas.microsoft.com/office/drawing/2014/main" id="{AAFEC2B1-8460-43F9-B1A0-A980D56C5E57}"/>
              </a:ext>
            </a:extLst>
          </p:cNvPr>
          <p:cNvSpPr>
            <a:spLocks xmlns:a="http://schemas.openxmlformats.org/drawingml/2006/main" noGrp="1"/>
          </p:cNvSpPr>
          <p:nvPr/>
        </p:nvSpPr>
        <p:spPr>
          <a:xfrm xmlns:a="http://schemas.openxmlformats.org/drawingml/2006/main">
            <a:off x="457200" y="3343275"/>
            <a:ext cx="5905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52E3C"/>
                </a:solidFill>
                <a:latin typeface="Inter"/>
                <a:ea typeface="Inter"/>
                <a:cs typeface="Inter"/>
              </a:defRPr>
            </a:pPr>
            <a:r>
              <a:rPr sz="2100" b="0">
                <a:solidFill>
                  <a:srgbClr val="152E3C"/>
                </a:solidFill>
                <a:latin typeface="Inter"/>
                <a:ea typeface="Inter"/>
                <a:cs typeface="Inter"/>
              </a:rPr>
              <a:t>3rd / 16 teams</a:t>
            </a:r>
          </a:p>
        </p:txBody>
      </p:sp>
      <p:sp>
        <p:nvSpPr>
          <p:cNvPr id="7" name="">
            <a:extLst xmlns:a="http://schemas.openxmlformats.org/drawingml/2006/main">
              <a:ext uri="{FF2B5EF4-FFF2-40B4-BE49-F238E27FC236}">
                <a16:creationId xmlns:a16="http://schemas.microsoft.com/office/drawing/2014/main" id="{0BF1F9AF-EADF-4ED4-BCDC-F3C64B62B853}"/>
              </a:ext>
            </a:extLst>
          </p:cNvPr>
          <p:cNvSpPr>
            <a:spLocks xmlns:a="http://schemas.openxmlformats.org/drawingml/2006/main" noGrp="1"/>
          </p:cNvSpPr>
          <p:nvPr/>
        </p:nvSpPr>
        <p:spPr>
          <a:xfrm xmlns:a="http://schemas.openxmlformats.org/drawingml/2006/main">
            <a:off x="457200" y="4219575"/>
            <a:ext cx="62388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766E"/>
                </a:solidFill>
                <a:latin typeface="Inter"/>
                <a:ea typeface="Inter"/>
                <a:cs typeface="Inter"/>
              </a:defRPr>
            </a:pPr>
            <a:r>
              <a:rPr sz="2175" b="0">
                <a:solidFill>
                  <a:srgbClr val="16766E"/>
                </a:solidFill>
                <a:latin typeface="Inter"/>
                <a:ea typeface="Inter"/>
                <a:cs typeface="Inter"/>
              </a:rPr>
              <a:t>Anchor 0.60678   →   Final 0.60798</a:t>
            </a:r>
          </a:p>
          <a:p xmlns:a="http://schemas.openxmlformats.org/drawingml/2006/main">
            <a:pPr>
              <a:defRPr sz="2175" b="0">
                <a:solidFill>
                  <a:srgbClr val="16766E"/>
                </a:solidFill>
                <a:latin typeface="Inter"/>
                <a:ea typeface="Inter"/>
                <a:cs typeface="Inter"/>
              </a:defRPr>
            </a:pPr>
            <a:r>
              <a:rPr sz="2175" b="0">
                <a:solidFill>
                  <a:srgbClr val="16766E"/>
                </a:solidFill>
                <a:latin typeface="Inter"/>
                <a:ea typeface="Inter"/>
                <a:cs typeface="Inter"/>
              </a:rPr>
              <a:t>Change: +0.00120</a:t>
            </a:r>
          </a:p>
        </p:txBody>
      </p:sp>
      <p:sp>
        <p:nvSpPr>
          <p:cNvPr id="8" name="">
            <a:extLst xmlns:a="http://schemas.openxmlformats.org/drawingml/2006/main">
              <a:ext uri="{FF2B5EF4-FFF2-40B4-BE49-F238E27FC236}">
                <a16:creationId xmlns:a16="http://schemas.microsoft.com/office/drawing/2014/main" id="{47582613-8B6C-4F9D-A77A-E6E219A4BF9F}"/>
              </a:ext>
            </a:extLst>
          </p:cNvPr>
          <p:cNvSpPr>
            <a:spLocks xmlns:a="http://schemas.openxmlformats.org/drawingml/2006/main" noGrp="1"/>
          </p:cNvSpPr>
          <p:nvPr/>
        </p:nvSpPr>
        <p:spPr>
          <a:xfrm xmlns:a="http://schemas.openxmlformats.org/drawingml/2006/main">
            <a:off x="7486650" y="1657350"/>
            <a:ext cx="42195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C637F"/>
                </a:solidFill>
                <a:latin typeface="Inter"/>
                <a:ea typeface="Inter"/>
                <a:cs typeface="Inter"/>
              </a:defRPr>
            </a:pPr>
            <a:r>
              <a:rPr sz="1800" b="1">
                <a:solidFill>
                  <a:srgbClr val="2C637F"/>
                </a:solidFill>
                <a:latin typeface="Inter"/>
                <a:ea typeface="Inter"/>
                <a:cs typeface="Inter"/>
              </a:rPr>
              <a:t>TYPES · MICRO-F1</a:t>
            </a:r>
          </a:p>
        </p:txBody>
      </p:sp>
      <p:sp>
        <p:nvSpPr>
          <p:cNvPr id="9" name="">
            <a:extLst xmlns:a="http://schemas.openxmlformats.org/drawingml/2006/main">
              <a:ext uri="{FF2B5EF4-FFF2-40B4-BE49-F238E27FC236}">
                <a16:creationId xmlns:a16="http://schemas.microsoft.com/office/drawing/2014/main" id="{0EF8C239-D3C2-4399-8960-3B862BB5A7C8}"/>
              </a:ext>
            </a:extLst>
          </p:cNvPr>
          <p:cNvSpPr>
            <a:spLocks xmlns:a="http://schemas.openxmlformats.org/drawingml/2006/main" noGrp="1"/>
          </p:cNvSpPr>
          <p:nvPr/>
        </p:nvSpPr>
        <p:spPr>
          <a:xfrm xmlns:a="http://schemas.openxmlformats.org/drawingml/2006/main">
            <a:off x="7486650" y="2143125"/>
            <a:ext cx="421957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400" b="1">
                <a:solidFill>
                  <a:srgbClr val="2C637F"/>
                </a:solidFill>
                <a:latin typeface="Inter"/>
                <a:ea typeface="Inter"/>
                <a:cs typeface="Inter"/>
              </a:defRPr>
            </a:pPr>
            <a:r>
              <a:rPr sz="5400" b="1">
                <a:solidFill>
                  <a:srgbClr val="2C637F"/>
                </a:solidFill>
                <a:latin typeface="Inter"/>
                <a:ea typeface="Inter"/>
                <a:cs typeface="Inter"/>
              </a:rPr>
              <a:t>0.87016</a:t>
            </a:r>
          </a:p>
        </p:txBody>
      </p:sp>
      <p:sp>
        <p:nvSpPr>
          <p:cNvPr id="10" name="">
            <a:extLst xmlns:a="http://schemas.openxmlformats.org/drawingml/2006/main">
              <a:ext uri="{FF2B5EF4-FFF2-40B4-BE49-F238E27FC236}">
                <a16:creationId xmlns:a16="http://schemas.microsoft.com/office/drawing/2014/main" id="{7677BD86-9DDE-4059-8EC7-1CC1970E75CF}"/>
              </a:ext>
            </a:extLst>
          </p:cNvPr>
          <p:cNvSpPr>
            <a:spLocks xmlns:a="http://schemas.openxmlformats.org/drawingml/2006/main" noGrp="1"/>
          </p:cNvSpPr>
          <p:nvPr/>
        </p:nvSpPr>
        <p:spPr>
          <a:xfrm xmlns:a="http://schemas.openxmlformats.org/drawingml/2006/main">
            <a:off x="7486650" y="3343275"/>
            <a:ext cx="42195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52E3C"/>
                </a:solidFill>
                <a:latin typeface="Inter"/>
                <a:ea typeface="Inter"/>
                <a:cs typeface="Inter"/>
              </a:defRPr>
            </a:pPr>
            <a:r>
              <a:rPr sz="2100" b="0">
                <a:solidFill>
                  <a:srgbClr val="152E3C"/>
                </a:solidFill>
                <a:latin typeface="Inter"/>
                <a:ea typeface="Inter"/>
                <a:cs typeface="Inter"/>
              </a:rPr>
              <a:t>6th / 15 teams</a:t>
            </a:r>
          </a:p>
        </p:txBody>
      </p:sp>
      <p:sp>
        <p:nvSpPr>
          <p:cNvPr id="11" name="">
            <a:extLst xmlns:a="http://schemas.openxmlformats.org/drawingml/2006/main">
              <a:ext uri="{FF2B5EF4-FFF2-40B4-BE49-F238E27FC236}">
                <a16:creationId xmlns:a16="http://schemas.microsoft.com/office/drawing/2014/main" id="{325942B6-5D48-436B-A449-0E2DEBBA7D66}"/>
              </a:ext>
            </a:extLst>
          </p:cNvPr>
          <p:cNvSpPr>
            <a:spLocks xmlns:a="http://schemas.openxmlformats.org/drawingml/2006/main" noGrp="1"/>
          </p:cNvSpPr>
          <p:nvPr/>
        </p:nvSpPr>
        <p:spPr>
          <a:xfrm xmlns:a="http://schemas.openxmlformats.org/drawingml/2006/main">
            <a:off x="7486650" y="4219575"/>
            <a:ext cx="42195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E3C"/>
                </a:solidFill>
                <a:latin typeface="Inter"/>
                <a:ea typeface="Inter"/>
                <a:cs typeface="Inter"/>
              </a:defRPr>
            </a:pPr>
            <a:r>
              <a:rPr sz="2175" b="0">
                <a:solidFill>
                  <a:srgbClr val="152E3C"/>
                </a:solidFill>
                <a:latin typeface="Inter"/>
                <a:ea typeface="Inter"/>
                <a:cs typeface="Inter"/>
              </a:rPr>
              <a:t>S2 predictions</a:t>
            </a:r>
          </a:p>
          <a:p xmlns:a="http://schemas.openxmlformats.org/drawingml/2006/main">
            <a:pPr>
              <a:defRPr sz="2175" b="0">
                <a:solidFill>
                  <a:srgbClr val="152E3C"/>
                </a:solidFill>
                <a:latin typeface="Inter"/>
                <a:ea typeface="Inter"/>
                <a:cs typeface="Inter"/>
              </a:defRPr>
            </a:pPr>
            <a:r>
              <a:rPr sz="2175" b="0">
                <a:solidFill>
                  <a:srgbClr val="152E3C"/>
                </a:solidFill>
                <a:latin typeface="Inter"/>
                <a:ea typeface="Inter"/>
                <a:cs typeface="Inter"/>
              </a:rPr>
              <a:t>unchanged in final step</a:t>
            </a:r>
          </a:p>
        </p:txBody>
      </p:sp>
      <p:sp>
        <p:nvSpPr>
          <p:cNvPr id="12" name="">
            <a:extLst xmlns:a="http://schemas.openxmlformats.org/drawingml/2006/main">
              <a:ext uri="{FF2B5EF4-FFF2-40B4-BE49-F238E27FC236}">
                <a16:creationId xmlns:a16="http://schemas.microsoft.com/office/drawing/2014/main" id="{BFF82BEB-61C8-4B70-B0B0-8506D9C228C1}"/>
              </a:ext>
            </a:extLst>
          </p:cNvPr>
          <p:cNvSpPr>
            <a:spLocks xmlns:a="http://schemas.openxmlformats.org/drawingml/2006/main" noGrp="1"/>
          </p:cNvSpPr>
          <p:nvPr/>
        </p:nvSpPr>
        <p:spPr>
          <a:xfrm xmlns:a="http://schemas.openxmlformats.org/drawingml/2006/main">
            <a:off x="457200" y="5857875"/>
            <a:ext cx="11239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06674"/>
                </a:solidFill>
                <a:latin typeface="Inter"/>
                <a:ea typeface="Inter"/>
                <a:cs typeface="Inter"/>
              </a:defRPr>
            </a:pPr>
            <a:r>
              <a:rPr sz="1800" b="0">
                <a:solidFill>
                  <a:srgbClr val="506674"/>
                </a:solidFill>
                <a:latin typeface="Inter"/>
                <a:ea typeface="Inter"/>
                <a:cs typeface="Inter"/>
              </a:rPr>
              <a:t>Official test scores informed submission selection.</a:t>
            </a:r>
          </a:p>
        </p:txBody>
      </p:sp>
    </p:spTree>
    <p:extLst>
      <p:ext uri="{BB962C8B-B14F-4D97-AF65-F5344CB8AC3E}">
        <p14:creationId xmlns:p14="http://schemas.microsoft.com/office/powerpoint/2010/main" val="3756368278"/>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pic>
        <p:nvPicPr>
          <p:cNvPr id="15" name="Picture 7"/>
          <p:cNvPicPr>
            <a:picLocks xmlns:a="http://schemas.openxmlformats.org/drawingml/2006/main" noChangeAspect="1"/>
          </p:cNvPicPr>
          <p:nvPr/>
        </p:nvPicPr>
        <p:blipFill>
          <a:blip xmlns:r="http://schemas.openxmlformats.org/officeDocument/2006/relationships" xmlns:a="http://schemas.openxmlformats.org/drawingml/2006/main" r:embed="R62d12bb38de742b8"/>
          <a:srcRect xmlns:a="http://schemas.openxmlformats.org/drawingml/2006/main" l="0" t="25645" r="0" b="61469"/>
          <a:stretch xmlns:a="http://schemas.openxmlformats.org/drawingml/2006/main">
            <a:fillRect l="0" t="0" r="0" b="0"/>
          </a:stretch>
        </p:blipFill>
        <p:spPr>
          <a:xfrm xmlns:a="http://schemas.openxmlformats.org/drawingml/2006/main">
            <a:off x="0" y="4763386"/>
            <a:ext cx="12192000" cy="2094614"/>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C76B4D78-887C-487D-BE25-F3F5EFB121E4}"/>
              </a:ext>
            </a:extLst>
          </p:cNvPr>
          <p:cNvSpPr>
            <a:spLocks xmlns:a="http://schemas.openxmlformats.org/drawingml/2006/main" noGrp="1"/>
          </p:cNvSpPr>
          <p:nvPr/>
        </p:nvSpPr>
        <p:spPr>
          <a:xfrm xmlns:a="http://schemas.openxmlformats.org/drawingml/2006/main">
            <a:off x="457200" y="304800"/>
            <a:ext cx="11239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525" b="1">
                <a:solidFill>
                  <a:srgbClr val="2C637F"/>
                </a:solidFill>
                <a:latin typeface="Inter"/>
                <a:ea typeface="Inter"/>
                <a:cs typeface="Inter"/>
              </a:defRPr>
            </a:pPr>
            <a:r>
              <a:rPr sz="3525" b="1">
                <a:solidFill>
                  <a:srgbClr val="2C637F"/>
                </a:solidFill>
                <a:latin typeface="Inter"/>
                <a:ea typeface="Inter"/>
                <a:cs typeface="Inter"/>
              </a:rPr>
              <a:t>A strategy to test</a:t>
            </a:r>
          </a:p>
          <a:p xmlns:a="http://schemas.openxmlformats.org/drawingml/2006/main">
            <a:pPr>
              <a:defRPr sz="3525" b="1">
                <a:solidFill>
                  <a:srgbClr val="2C637F"/>
                </a:solidFill>
                <a:latin typeface="Inter"/>
                <a:ea typeface="Inter"/>
                <a:cs typeface="Inter"/>
              </a:defRPr>
            </a:pPr>
            <a:r>
              <a:rPr sz="3525" b="1">
                <a:solidFill>
                  <a:srgbClr val="2C637F"/>
                </a:solidFill>
                <a:latin typeface="Inter"/>
                <a:ea typeface="Inter"/>
                <a:cs typeface="Inter"/>
              </a:rPr>
              <a:t>in other settings</a:t>
            </a:r>
          </a:p>
        </p:txBody>
      </p:sp>
      <p:sp>
        <p:nvSpPr>
          <p:cNvPr id="9" name="">
            <a:extLst xmlns:a="http://schemas.openxmlformats.org/drawingml/2006/main">
              <a:ext uri="{FF2B5EF4-FFF2-40B4-BE49-F238E27FC236}">
                <a16:creationId xmlns:a16="http://schemas.microsoft.com/office/drawing/2014/main" id="{7B6AAB4B-72C2-49F0-A3A5-A4F694089ED8}"/>
              </a:ext>
            </a:extLst>
          </p:cNvPr>
          <p:cNvSpPr>
            <a:spLocks xmlns:a="http://schemas.openxmlformats.org/drawingml/2006/main" noGrp="1"/>
          </p:cNvSpPr>
          <p:nvPr/>
        </p:nvSpPr>
        <p:spPr>
          <a:xfrm xmlns:a="http://schemas.openxmlformats.org/drawingml/2006/main">
            <a:off x="457200" y="65532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2C637F"/>
                </a:solidFill>
                <a:latin typeface="Inter"/>
                <a:ea typeface="Inter"/>
                <a:cs typeface="Inter"/>
              </a:defRPr>
            </a:pPr>
            <a:r>
              <a:rPr sz="1125" b="0">
                <a:solidFill>
                  <a:srgbClr val="2C637F"/>
                </a:solidFill>
                <a:latin typeface="Inter"/>
                <a:ea typeface="Inter"/>
                <a:cs typeface="Inter"/>
              </a:rPr>
              <a:t>WOMENHELP 2026   /   IBERLEF</a:t>
            </a:r>
          </a:p>
        </p:txBody>
      </p:sp>
      <p:sp>
        <p:nvSpPr>
          <p:cNvPr id="10" name="">
            <a:extLst xmlns:a="http://schemas.openxmlformats.org/drawingml/2006/main">
              <a:ext uri="{FF2B5EF4-FFF2-40B4-BE49-F238E27FC236}">
                <a16:creationId xmlns:a16="http://schemas.microsoft.com/office/drawing/2014/main" id="{40F60B15-B285-48E4-B810-7C1FD6D8A739}"/>
              </a:ext>
            </a:extLst>
          </p:cNvPr>
          <p:cNvSpPr>
            <a:spLocks xmlns:a="http://schemas.openxmlformats.org/drawingml/2006/main" noGrp="1"/>
          </p:cNvSpPr>
          <p:nvPr/>
        </p:nvSpPr>
        <p:spPr>
          <a:xfrm xmlns:a="http://schemas.openxmlformats.org/drawingml/2006/main">
            <a:off x="11334750" y="654367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2C637F"/>
                </a:solidFill>
                <a:latin typeface="Inter"/>
                <a:ea typeface="Inter"/>
                <a:cs typeface="Inter"/>
              </a:defRPr>
            </a:pPr>
            <a:r>
              <a:rPr sz="1200" b="0">
                <a:solidFill>
                  <a:srgbClr val="2C637F"/>
                </a:solidFill>
                <a:latin typeface="Inter"/>
                <a:ea typeface="Inter"/>
                <a:cs typeface="Inter"/>
              </a:rPr>
              <a:t>10</a:t>
            </a:r>
          </a:p>
        </p:txBody>
      </p:sp>
      <p:sp>
        <p:nvSpPr>
          <p:cNvPr id="11" name="">
            <a:extLst xmlns:a="http://schemas.openxmlformats.org/drawingml/2006/main">
              <a:ext uri="{FF2B5EF4-FFF2-40B4-BE49-F238E27FC236}">
                <a16:creationId xmlns:a16="http://schemas.microsoft.com/office/drawing/2014/main" id="{ECA71215-EB09-47BC-A47C-F3CAEFE4200C}"/>
              </a:ext>
            </a:extLst>
          </p:cNvPr>
          <p:cNvSpPr>
            <a:spLocks xmlns:a="http://schemas.openxmlformats.org/drawingml/2006/main" noGrp="1"/>
          </p:cNvSpPr>
          <p:nvPr/>
        </p:nvSpPr>
        <p:spPr>
          <a:xfrm xmlns:a="http://schemas.openxmlformats.org/drawingml/2006/main">
            <a:off x="476250" y="2085975"/>
            <a:ext cx="11049000" cy="1657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52E3C"/>
                </a:solidFill>
                <a:latin typeface="Inter"/>
                <a:ea typeface="Inter"/>
                <a:cs typeface="Inter"/>
              </a:defRPr>
            </a:pPr>
            <a:r>
              <a:rPr sz="2325" b="0">
                <a:solidFill>
                  <a:srgbClr val="152E3C"/>
                </a:solidFill>
                <a:latin typeface="Inter"/>
                <a:ea typeface="Inter"/>
                <a:cs typeface="Inter"/>
              </a:rPr>
              <a:t>Compare families under the same protocol</a:t>
            </a:r>
          </a:p>
          <a:p xmlns:a="http://schemas.openxmlformats.org/drawingml/2006/main">
            <a:pPr>
              <a:defRPr sz="2325" b="0">
                <a:solidFill>
                  <a:srgbClr val="152E3C"/>
                </a:solidFill>
                <a:latin typeface="Inter"/>
                <a:ea typeface="Inter"/>
                <a:cs typeface="Inter"/>
              </a:defRPr>
            </a:pPr>
            <a:r>
              <a:rPr sz="2325" b="0">
                <a:solidFill>
                  <a:srgbClr val="152E3C"/>
                </a:solidFill>
                <a:latin typeface="Inter"/>
                <a:ea typeface="Inter"/>
                <a:cs typeface="Inter"/>
              </a:rPr>
              <a:t>Match outputs and losses to the labels</a:t>
            </a:r>
          </a:p>
          <a:p xmlns:a="http://schemas.openxmlformats.org/drawingml/2006/main">
            <a:pPr>
              <a:defRPr sz="2325" b="0">
                <a:solidFill>
                  <a:srgbClr val="152E3C"/>
                </a:solidFill>
                <a:latin typeface="Inter"/>
                <a:ea typeface="Inter"/>
                <a:cs typeface="Inter"/>
              </a:defRPr>
            </a:pPr>
            <a:r>
              <a:rPr sz="2325" b="0">
                <a:solidFill>
                  <a:srgbClr val="152E3C"/>
                </a:solidFill>
                <a:latin typeface="Inter"/>
                <a:ea typeface="Inter"/>
                <a:cs typeface="Inter"/>
              </a:rPr>
              <a:t>Evaluate augmentation by class and error type</a:t>
            </a:r>
          </a:p>
        </p:txBody>
      </p:sp>
      <p:sp>
        <p:nvSpPr>
          <p:cNvPr id="12" name="">
            <a:extLst xmlns:a="http://schemas.openxmlformats.org/drawingml/2006/main">
              <a:ext uri="{FF2B5EF4-FFF2-40B4-BE49-F238E27FC236}">
                <a16:creationId xmlns:a16="http://schemas.microsoft.com/office/drawing/2014/main" id="{A8AD7C70-03EC-47C5-AFFF-5C270066801C}"/>
              </a:ext>
            </a:extLst>
          </p:cNvPr>
          <p:cNvSpPr>
            <a:spLocks xmlns:a="http://schemas.openxmlformats.org/drawingml/2006/main" noGrp="1"/>
          </p:cNvSpPr>
          <p:nvPr/>
        </p:nvSpPr>
        <p:spPr>
          <a:xfrm xmlns:a="http://schemas.openxmlformats.org/drawingml/2006/main">
            <a:off x="476250" y="4238625"/>
            <a:ext cx="1104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C637F"/>
                </a:solidFill>
                <a:latin typeface="Inter"/>
                <a:ea typeface="Inter"/>
                <a:cs typeface="Inter"/>
              </a:defRPr>
            </a:pPr>
            <a:r>
              <a:rPr sz="2250" b="1">
                <a:solidFill>
                  <a:srgbClr val="2C637F"/>
                </a:solidFill>
                <a:latin typeface="Inter"/>
                <a:ea typeface="Inter"/>
                <a:cs typeface="Inter"/>
              </a:rPr>
              <a:t>Next tests</a:t>
            </a:r>
          </a:p>
        </p:txBody>
      </p:sp>
      <p:sp>
        <p:nvSpPr>
          <p:cNvPr id="13" name="">
            <a:extLst xmlns:a="http://schemas.openxmlformats.org/drawingml/2006/main">
              <a:ext uri="{FF2B5EF4-FFF2-40B4-BE49-F238E27FC236}">
                <a16:creationId xmlns:a16="http://schemas.microsoft.com/office/drawing/2014/main" id="{C0C9F2F3-8567-408D-BB72-0AD3800C7D8A}"/>
              </a:ext>
            </a:extLst>
          </p:cNvPr>
          <p:cNvSpPr>
            <a:spLocks xmlns:a="http://schemas.openxmlformats.org/drawingml/2006/main" noGrp="1"/>
          </p:cNvSpPr>
          <p:nvPr/>
        </p:nvSpPr>
        <p:spPr>
          <a:xfrm xmlns:a="http://schemas.openxmlformats.org/drawingml/2006/main">
            <a:off x="476250" y="4867275"/>
            <a:ext cx="1104900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E3C"/>
                </a:solidFill>
                <a:latin typeface="Inter"/>
                <a:ea typeface="Inter"/>
                <a:cs typeface="Inter"/>
              </a:defRPr>
            </a:pPr>
            <a:r>
              <a:rPr sz="2175" b="0">
                <a:solidFill>
                  <a:srgbClr val="152E3C"/>
                </a:solidFill>
                <a:latin typeface="Inter"/>
                <a:ea typeface="Inter"/>
                <a:cs typeface="Inter"/>
              </a:rPr>
              <a:t>Variant audit · Controlled balance and weights</a:t>
            </a:r>
          </a:p>
          <a:p xmlns:a="http://schemas.openxmlformats.org/drawingml/2006/main">
            <a:pPr>
              <a:defRPr sz="2175" b="0">
                <a:solidFill>
                  <a:srgbClr val="152E3C"/>
                </a:solidFill>
                <a:latin typeface="Inter"/>
                <a:ea typeface="Inter"/>
                <a:cs typeface="Inter"/>
              </a:defRPr>
            </a:pPr>
            <a:r>
              <a:rPr sz="2175" b="0">
                <a:solidFill>
                  <a:srgbClr val="152E3C"/>
                </a:solidFill>
                <a:latin typeface="Inter"/>
                <a:ea typeface="Inter"/>
                <a:cs typeface="Inter"/>
              </a:rPr>
              <a:t>Repeated seeds · Validation by institution and consensus</a:t>
            </a:r>
          </a:p>
        </p:txBody>
      </p:sp>
      <p:sp>
        <p:nvSpPr>
          <p:cNvPr id="14" name="">
            <a:extLst xmlns:a="http://schemas.openxmlformats.org/drawingml/2006/main">
              <a:ext uri="{FF2B5EF4-FFF2-40B4-BE49-F238E27FC236}">
                <a16:creationId xmlns:a16="http://schemas.microsoft.com/office/drawing/2014/main" id="{BEED2591-CCDD-414A-B193-5409C15D818B}"/>
              </a:ext>
            </a:extLst>
          </p:cNvPr>
          <p:cNvSpPr>
            <a:spLocks xmlns:a="http://schemas.openxmlformats.org/drawingml/2006/main" noGrp="1"/>
          </p:cNvSpPr>
          <p:nvPr/>
        </p:nvSpPr>
        <p:spPr>
          <a:xfrm xmlns:a="http://schemas.openxmlformats.org/drawingml/2006/main">
            <a:off x="476250" y="6153150"/>
            <a:ext cx="11239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2C637F"/>
                </a:solidFill>
                <a:latin typeface="Inter"/>
                <a:ea typeface="Inter"/>
                <a:cs typeface="Inter"/>
              </a:defRPr>
            </a:pPr>
            <a:r>
              <a:rPr sz="1575" b="0">
                <a:solidFill>
                  <a:srgbClr val="2C637F"/>
                </a:solidFill>
                <a:latin typeface="Inter"/>
                <a:ea typeface="Inter"/>
                <a:cs typeface="Inter"/>
              </a:rPr>
              <a:t>Code and evidence: github.com/mariron42/clasificador_violencia</a:t>
            </a:r>
          </a:p>
        </p:txBody>
      </p:sp>
    </p:spTree>
    <p:extLst>
      <p:ext uri="{BB962C8B-B14F-4D97-AF65-F5344CB8AC3E}">
        <p14:creationId xmlns:p14="http://schemas.microsoft.com/office/powerpoint/2010/main" val="2346949709"/>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966F827-3E17-4D3C-B1B3-5637C5002753}"/>
              </a:ext>
            </a:extLst>
          </p:cNvPr>
          <p:cNvSpPr>
            <a:spLocks xmlns:a="http://schemas.openxmlformats.org/drawingml/2006/main" noGrp="1"/>
          </p:cNvSpPr>
          <p:nvPr/>
        </p:nvSpPr>
        <p:spPr>
          <a:xfrm xmlns:a="http://schemas.openxmlformats.org/drawingml/2006/main">
            <a:off x="457200" y="304800"/>
            <a:ext cx="11239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75" b="1">
                <a:solidFill>
                  <a:srgbClr val="2C637F"/>
                </a:solidFill>
                <a:latin typeface="Inter"/>
                <a:ea typeface="Inter"/>
                <a:cs typeface="Inter"/>
              </a:defRPr>
            </a:pPr>
            <a:r>
              <a:rPr sz="3075" b="1">
                <a:solidFill>
                  <a:srgbClr val="2C637F"/>
                </a:solidFill>
                <a:latin typeface="Inter"/>
                <a:ea typeface="Inter"/>
                <a:cs typeface="Inter"/>
              </a:rPr>
              <a:t>The augmented model in an ensemble</a:t>
            </a:r>
          </a:p>
        </p:txBody>
      </p:sp>
      <p:sp>
        <p:nvSpPr>
          <p:cNvPr id="2" name="">
            <a:extLst xmlns:a="http://schemas.openxmlformats.org/drawingml/2006/main">
              <a:ext uri="{FF2B5EF4-FFF2-40B4-BE49-F238E27FC236}">
                <a16:creationId xmlns:a16="http://schemas.microsoft.com/office/drawing/2014/main" id="{31E579FB-CD69-484E-84C8-7B5D0704AF4A}"/>
              </a:ext>
            </a:extLst>
          </p:cNvPr>
          <p:cNvSpPr>
            <a:spLocks xmlns:a="http://schemas.openxmlformats.org/drawingml/2006/main" noGrp="1"/>
          </p:cNvSpPr>
          <p:nvPr/>
        </p:nvSpPr>
        <p:spPr>
          <a:xfrm xmlns:a="http://schemas.openxmlformats.org/drawingml/2006/main">
            <a:off x="457200" y="65532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2C637F"/>
                </a:solidFill>
                <a:latin typeface="Inter"/>
                <a:ea typeface="Inter"/>
                <a:cs typeface="Inter"/>
              </a:defRPr>
            </a:pPr>
            <a:r>
              <a:rPr sz="1125" b="0">
                <a:solidFill>
                  <a:srgbClr val="2C637F"/>
                </a:solidFill>
                <a:latin typeface="Inter"/>
                <a:ea typeface="Inter"/>
                <a:cs typeface="Inter"/>
              </a:rPr>
              <a:t>WOMENHELP 2026   /   IBERLEF</a:t>
            </a:r>
          </a:p>
        </p:txBody>
      </p:sp>
      <p:sp>
        <p:nvSpPr>
          <p:cNvPr id="3" name="">
            <a:extLst xmlns:a="http://schemas.openxmlformats.org/drawingml/2006/main">
              <a:ext uri="{FF2B5EF4-FFF2-40B4-BE49-F238E27FC236}">
                <a16:creationId xmlns:a16="http://schemas.microsoft.com/office/drawing/2014/main" id="{87EF9233-5AD3-4E17-ACBE-01D8ADF480C4}"/>
              </a:ext>
            </a:extLst>
          </p:cNvPr>
          <p:cNvSpPr>
            <a:spLocks xmlns:a="http://schemas.openxmlformats.org/drawingml/2006/main" noGrp="1"/>
          </p:cNvSpPr>
          <p:nvPr/>
        </p:nvSpPr>
        <p:spPr>
          <a:xfrm xmlns:a="http://schemas.openxmlformats.org/drawingml/2006/main">
            <a:off x="11334750" y="654367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2C637F"/>
                </a:solidFill>
                <a:latin typeface="Inter"/>
                <a:ea typeface="Inter"/>
                <a:cs typeface="Inter"/>
              </a:defRPr>
            </a:pPr>
            <a:r>
              <a:rPr sz="1200" b="0">
                <a:solidFill>
                  <a:srgbClr val="2C637F"/>
                </a:solidFill>
                <a:latin typeface="Inter"/>
                <a:ea typeface="Inter"/>
                <a:cs typeface="Inter"/>
              </a:rPr>
              <a:t>11</a:t>
            </a:r>
          </a:p>
        </p:txBody>
      </p:sp>
      <p:sp>
        <p:nvSpPr>
          <p:cNvPr id="4" name="">
            <a:extLst xmlns:a="http://schemas.openxmlformats.org/drawingml/2006/main">
              <a:ext uri="{FF2B5EF4-FFF2-40B4-BE49-F238E27FC236}">
                <a16:creationId xmlns:a16="http://schemas.microsoft.com/office/drawing/2014/main" id="{D8199069-D536-4090-A4F0-DCE562C4F683}"/>
              </a:ext>
            </a:extLst>
          </p:cNvPr>
          <p:cNvSpPr>
            <a:spLocks xmlns:a="http://schemas.openxmlformats.org/drawingml/2006/main" noGrp="1"/>
          </p:cNvSpPr>
          <p:nvPr/>
        </p:nvSpPr>
        <p:spPr>
          <a:xfrm xmlns:a="http://schemas.openxmlformats.org/drawingml/2006/main">
            <a:off x="457200" y="1428750"/>
            <a:ext cx="11239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C637F"/>
                </a:solidFill>
                <a:latin typeface="Inter"/>
                <a:ea typeface="Inter"/>
                <a:cs typeface="Inter"/>
              </a:defRPr>
            </a:pPr>
            <a:r>
              <a:rPr sz="1875" b="0">
                <a:solidFill>
                  <a:srgbClr val="2C637F"/>
                </a:solidFill>
                <a:latin typeface="Inter"/>
                <a:ea typeface="Inter"/>
                <a:cs typeface="Inter"/>
              </a:rPr>
              <a:t>Intermediate ensemble, May 5, 2026</a:t>
            </a:r>
          </a:p>
        </p:txBody>
      </p:sp>
      <p:sp>
        <p:nvSpPr>
          <p:cNvPr id="5" name="">
            <a:extLst xmlns:a="http://schemas.openxmlformats.org/drawingml/2006/main">
              <a:ext uri="{FF2B5EF4-FFF2-40B4-BE49-F238E27FC236}">
                <a16:creationId xmlns:a16="http://schemas.microsoft.com/office/drawing/2014/main" id="{DF07D402-F251-4BC6-817D-E2749104212E}"/>
              </a:ext>
            </a:extLst>
          </p:cNvPr>
          <p:cNvSpPr>
            <a:spLocks xmlns:a="http://schemas.openxmlformats.org/drawingml/2006/main" noGrp="1"/>
          </p:cNvSpPr>
          <p:nvPr/>
        </p:nvSpPr>
        <p:spPr>
          <a:xfrm xmlns:a="http://schemas.openxmlformats.org/drawingml/2006/main">
            <a:off x="457200" y="1847850"/>
            <a:ext cx="11239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06674"/>
                </a:solidFill>
                <a:latin typeface="Inter"/>
                <a:ea typeface="Inter"/>
                <a:cs typeface="Inter"/>
              </a:defRPr>
            </a:pPr>
            <a:r>
              <a:rPr sz="1725" b="0">
                <a:solidFill>
                  <a:srgbClr val="506674"/>
                </a:solidFill>
                <a:latin typeface="Inter"/>
                <a:ea typeface="Inter"/>
                <a:cs typeface="Inter"/>
              </a:rPr>
              <a:t>Original development: 3,405 reports, including 154 Severe</a:t>
            </a:r>
          </a:p>
        </p:txBody>
      </p:sp>
      <p:graphicFrame>
        <p:nvGraphicFramePr>
          <p:cNvPr id="15" name=""/>
          <p:cNvGraphicFramePr/>
          <p:nvPr/>
        </p:nvGraphicFramePr>
        <p:xfrm>
          <a:off xmlns:a="http://schemas.openxmlformats.org/drawingml/2006/main" x="457200" y="2495550"/>
          <a:ext xmlns:a="http://schemas.openxmlformats.org/drawingml/2006/main" cx="11239500" cy="2247900"/>
        </p:xfrm>
        <a:graphic xmlns:a="http://schemas.openxmlformats.org/drawingml/2006/main">
          <a:graphicData uri="http://schemas.openxmlformats.org/drawingml/2006/table">
            <a:tbl>
              <a:tblPr/>
              <a:tblGrid>
                <a:gridCol w="4667250"/>
                <a:gridCol w="2190750"/>
                <a:gridCol w="2190750"/>
                <a:gridCol w="2190750"/>
              </a:tblGrid>
              <a:tr h="561975">
                <a:tc>
                  <a:txBody>
                    <a:bodyPr/>
                    <a:lstStyle/>
                    <a:p>
                      <a:r>
                        <a:rPr sz="1725" b="1">
                          <a:solidFill>
                            <a:srgbClr val="2C637F"/>
                          </a:solidFill>
                          <a:latin typeface="Inter"/>
                          <a:ea typeface="Inter"/>
                          <a:cs typeface="Inter"/>
                        </a:rPr>
                        <a:t>System</a:t>
                      </a:r>
                    </a:p>
                  </a:txBody>
                  <a:tcPr marL="91440" marR="91440" marT="45720" marB="45720">
                    <a:solidFill>
                      <a:srgbClr val="E2F2FA"/>
                    </a:solidFill>
                  </a:tcPr>
                </a:tc>
                <a:tc>
                  <a:txBody>
                    <a:bodyPr/>
                    <a:lstStyle/>
                    <a:p>
                      <a:r>
                        <a:rPr sz="1725" b="1">
                          <a:solidFill>
                            <a:srgbClr val="2C637F"/>
                          </a:solidFill>
                          <a:latin typeface="Inter"/>
                          <a:ea typeface="Inter"/>
                          <a:cs typeface="Inter"/>
                        </a:rPr>
                        <a:t>Macro-F1</a:t>
                      </a:r>
                    </a:p>
                  </a:txBody>
                  <a:tcPr marL="91440" marR="91440" marT="45720" marB="45720">
                    <a:solidFill>
                      <a:srgbClr val="E2F2FA"/>
                    </a:solidFill>
                  </a:tcPr>
                </a:tc>
                <a:tc>
                  <a:txBody>
                    <a:bodyPr/>
                    <a:lstStyle/>
                    <a:p>
                      <a:r>
                        <a:rPr sz="1725" b="1">
                          <a:solidFill>
                            <a:srgbClr val="2C637F"/>
                          </a:solidFill>
                          <a:latin typeface="Inter"/>
                          <a:ea typeface="Inter"/>
                          <a:cs typeface="Inter"/>
                        </a:rPr>
                        <a:t>Severe F1</a:t>
                      </a:r>
                    </a:p>
                  </a:txBody>
                  <a:tcPr marL="91440" marR="91440" marT="45720" marB="45720">
                    <a:solidFill>
                      <a:srgbClr val="E2F2FA"/>
                    </a:solidFill>
                  </a:tcPr>
                </a:tc>
                <a:tc>
                  <a:txBody>
                    <a:bodyPr/>
                    <a:lstStyle/>
                    <a:p>
                      <a:r>
                        <a:rPr sz="1725" b="1">
                          <a:solidFill>
                            <a:srgbClr val="2C637F"/>
                          </a:solidFill>
                          <a:latin typeface="Inter"/>
                          <a:ea typeface="Inter"/>
                          <a:cs typeface="Inter"/>
                        </a:rPr>
                        <a:t>Severe recall</a:t>
                      </a:r>
                    </a:p>
                  </a:txBody>
                  <a:tcPr marL="91440" marR="91440" marT="45720" marB="45720">
                    <a:solidFill>
                      <a:srgbClr val="E2F2FA"/>
                    </a:solidFill>
                  </a:tcPr>
                </a:tc>
              </a:tr>
              <a:tr h="561975">
                <a:tc>
                  <a:txBody>
                    <a:bodyPr/>
                    <a:lstStyle/>
                    <a:p>
                      <a:r>
                        <a:rPr sz="1725" b="0">
                          <a:solidFill>
                            <a:srgbClr val="152E3C"/>
                          </a:solidFill>
                          <a:latin typeface="Inter"/>
                          <a:ea typeface="Inter"/>
                          <a:cs typeface="Inter"/>
                        </a:rPr>
                        <a:t>Baseline BETO</a:t>
                      </a:r>
                    </a:p>
                  </a:txBody>
                  <a:tcPr marL="91440" marR="91440" marT="45720" marB="45720">
                    <a:solidFill>
                      <a:srgbClr val="FFFFFF"/>
                    </a:solidFill>
                  </a:tcPr>
                </a:tc>
                <a:tc>
                  <a:txBody>
                    <a:bodyPr/>
                    <a:lstStyle/>
                    <a:p>
                      <a:r>
                        <a:rPr sz="1725" b="0">
                          <a:solidFill>
                            <a:srgbClr val="152E3C"/>
                          </a:solidFill>
                          <a:latin typeface="Inter"/>
                          <a:ea typeface="Inter"/>
                          <a:cs typeface="Inter"/>
                        </a:rPr>
                        <a:t>0.5481</a:t>
                      </a:r>
                    </a:p>
                  </a:txBody>
                  <a:tcPr marL="91440" marR="91440" marT="45720" marB="45720">
                    <a:solidFill>
                      <a:srgbClr val="FFFFFF"/>
                    </a:solidFill>
                  </a:tcPr>
                </a:tc>
                <a:tc>
                  <a:txBody>
                    <a:bodyPr/>
                    <a:lstStyle/>
                    <a:p>
                      <a:r>
                        <a:rPr sz="1725" b="0">
                          <a:solidFill>
                            <a:srgbClr val="152E3C"/>
                          </a:solidFill>
                          <a:latin typeface="Inter"/>
                          <a:ea typeface="Inter"/>
                          <a:cs typeface="Inter"/>
                        </a:rPr>
                        <a:t>0.4178</a:t>
                      </a:r>
                    </a:p>
                  </a:txBody>
                  <a:tcPr marL="91440" marR="91440" marT="45720" marB="45720">
                    <a:solidFill>
                      <a:srgbClr val="FFFFFF"/>
                    </a:solidFill>
                  </a:tcPr>
                </a:tc>
                <a:tc>
                  <a:txBody>
                    <a:bodyPr/>
                    <a:lstStyle/>
                    <a:p>
                      <a:r>
                        <a:rPr sz="1725" b="0">
                          <a:solidFill>
                            <a:srgbClr val="152E3C"/>
                          </a:solidFill>
                          <a:latin typeface="Inter"/>
                          <a:ea typeface="Inter"/>
                          <a:cs typeface="Inter"/>
                        </a:rPr>
                        <a:t>39.61%</a:t>
                      </a:r>
                    </a:p>
                  </a:txBody>
                  <a:tcPr marL="91440" marR="91440" marT="45720" marB="45720">
                    <a:solidFill>
                      <a:srgbClr val="FFFFFF"/>
                    </a:solidFill>
                  </a:tcPr>
                </a:tc>
              </a:tr>
              <a:tr h="561975">
                <a:tc>
                  <a:txBody>
                    <a:bodyPr/>
                    <a:lstStyle/>
                    <a:p>
                      <a:r>
                        <a:rPr sz="1725" b="0">
                          <a:solidFill>
                            <a:srgbClr val="152E3C"/>
                          </a:solidFill>
                          <a:latin typeface="Inter"/>
                          <a:ea typeface="Inter"/>
                          <a:cs typeface="Inter"/>
                        </a:rPr>
                        <a:t>BETO + Severe augmentation</a:t>
                      </a:r>
                    </a:p>
                  </a:txBody>
                  <a:tcPr marL="91440" marR="91440" marT="45720" marB="45720">
                    <a:solidFill>
                      <a:srgbClr val="FFFFFF"/>
                    </a:solidFill>
                  </a:tcPr>
                </a:tc>
                <a:tc>
                  <a:txBody>
                    <a:bodyPr/>
                    <a:lstStyle/>
                    <a:p>
                      <a:r>
                        <a:rPr sz="1725" b="0">
                          <a:solidFill>
                            <a:srgbClr val="152E3C"/>
                          </a:solidFill>
                          <a:latin typeface="Inter"/>
                          <a:ea typeface="Inter"/>
                          <a:cs typeface="Inter"/>
                        </a:rPr>
                        <a:t>0.5552</a:t>
                      </a:r>
                    </a:p>
                  </a:txBody>
                  <a:tcPr marL="91440" marR="91440" marT="45720" marB="45720">
                    <a:solidFill>
                      <a:srgbClr val="FFFFFF"/>
                    </a:solidFill>
                  </a:tcPr>
                </a:tc>
                <a:tc>
                  <a:txBody>
                    <a:bodyPr/>
                    <a:lstStyle/>
                    <a:p>
                      <a:r>
                        <a:rPr sz="1725" b="0">
                          <a:solidFill>
                            <a:srgbClr val="152E3C"/>
                          </a:solidFill>
                          <a:latin typeface="Inter"/>
                          <a:ea typeface="Inter"/>
                          <a:cs typeface="Inter"/>
                        </a:rPr>
                        <a:t>0.4335</a:t>
                      </a:r>
                    </a:p>
                  </a:txBody>
                  <a:tcPr marL="91440" marR="91440" marT="45720" marB="45720">
                    <a:solidFill>
                      <a:srgbClr val="FFFFFF"/>
                    </a:solidFill>
                  </a:tcPr>
                </a:tc>
                <a:tc>
                  <a:txBody>
                    <a:bodyPr/>
                    <a:lstStyle/>
                    <a:p>
                      <a:r>
                        <a:rPr sz="1725" b="0">
                          <a:solidFill>
                            <a:srgbClr val="152E3C"/>
                          </a:solidFill>
                          <a:latin typeface="Inter"/>
                          <a:ea typeface="Inter"/>
                          <a:cs typeface="Inter"/>
                        </a:rPr>
                        <a:t>37.01%</a:t>
                      </a:r>
                    </a:p>
                  </a:txBody>
                  <a:tcPr marL="91440" marR="91440" marT="45720" marB="45720">
                    <a:solidFill>
                      <a:srgbClr val="FFFFFF"/>
                    </a:solidFill>
                  </a:tcPr>
                </a:tc>
              </a:tr>
              <a:tr h="561975">
                <a:tc>
                  <a:txBody>
                    <a:bodyPr/>
                    <a:lstStyle/>
                    <a:p>
                      <a:r>
                        <a:rPr sz="1725" b="1">
                          <a:solidFill>
                            <a:srgbClr val="16766E"/>
                          </a:solidFill>
                          <a:latin typeface="Inter"/>
                          <a:ea typeface="Inter"/>
                          <a:cs typeface="Inter"/>
                        </a:rPr>
                        <a:t>Ensemble with augmented BETO</a:t>
                      </a:r>
                    </a:p>
                  </a:txBody>
                  <a:tcPr marL="91440" marR="91440" marT="45720" marB="45720">
                    <a:solidFill>
                      <a:srgbClr val="E8F3EF"/>
                    </a:solidFill>
                  </a:tcPr>
                </a:tc>
                <a:tc>
                  <a:txBody>
                    <a:bodyPr/>
                    <a:lstStyle/>
                    <a:p>
                      <a:r>
                        <a:rPr sz="1725" b="1">
                          <a:solidFill>
                            <a:srgbClr val="16766E"/>
                          </a:solidFill>
                          <a:latin typeface="Inter"/>
                          <a:ea typeface="Inter"/>
                          <a:cs typeface="Inter"/>
                        </a:rPr>
                        <a:t>0.5805</a:t>
                      </a:r>
                    </a:p>
                  </a:txBody>
                  <a:tcPr marL="91440" marR="91440" marT="45720" marB="45720">
                    <a:solidFill>
                      <a:srgbClr val="E8F3EF"/>
                    </a:solidFill>
                  </a:tcPr>
                </a:tc>
                <a:tc>
                  <a:txBody>
                    <a:bodyPr/>
                    <a:lstStyle/>
                    <a:p>
                      <a:r>
                        <a:rPr sz="1725" b="1">
                          <a:solidFill>
                            <a:srgbClr val="16766E"/>
                          </a:solidFill>
                          <a:latin typeface="Inter"/>
                          <a:ea typeface="Inter"/>
                          <a:cs typeface="Inter"/>
                        </a:rPr>
                        <a:t>0.4737</a:t>
                      </a:r>
                    </a:p>
                  </a:txBody>
                  <a:tcPr marL="91440" marR="91440" marT="45720" marB="45720">
                    <a:solidFill>
                      <a:srgbClr val="E8F3EF"/>
                    </a:solidFill>
                  </a:tcPr>
                </a:tc>
                <a:tc>
                  <a:txBody>
                    <a:bodyPr/>
                    <a:lstStyle/>
                    <a:p>
                      <a:r>
                        <a:rPr sz="1725" b="1">
                          <a:solidFill>
                            <a:srgbClr val="16766E"/>
                          </a:solidFill>
                          <a:latin typeface="Inter"/>
                          <a:ea typeface="Inter"/>
                          <a:cs typeface="Inter"/>
                        </a:rPr>
                        <a:t>40.91%</a:t>
                      </a:r>
                    </a:p>
                  </a:txBody>
                  <a:tcPr marL="91440" marR="91440" marT="45720" marB="45720">
                    <a:solidFill>
                      <a:srgbClr val="E8F3EF"/>
                    </a:solidFill>
                  </a:tcPr>
                </a:tc>
              </a:tr>
            </a:tbl>
          </a:graphicData>
        </a:graphic>
      </p:graphicFrame>
      <p:sp>
        <p:nvSpPr>
          <p:cNvPr id="7" name="">
            <a:extLst xmlns:a="http://schemas.openxmlformats.org/drawingml/2006/main">
              <a:ext uri="{FF2B5EF4-FFF2-40B4-BE49-F238E27FC236}">
                <a16:creationId xmlns:a16="http://schemas.microsoft.com/office/drawing/2014/main" id="{57AEF11E-4EE0-4412-A71F-C79A46861208}"/>
              </a:ext>
            </a:extLst>
          </p:cNvPr>
          <p:cNvSpPr>
            <a:spLocks xmlns:a="http://schemas.openxmlformats.org/drawingml/2006/main" noGrp="1"/>
          </p:cNvSpPr>
          <p:nvPr/>
        </p:nvSpPr>
        <p:spPr>
          <a:xfrm xmlns:a="http://schemas.openxmlformats.org/drawingml/2006/main">
            <a:off x="457200" y="5124450"/>
            <a:ext cx="11239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6766E"/>
                </a:solidFill>
                <a:latin typeface="Inter"/>
                <a:ea typeface="Inter"/>
                <a:cs typeface="Inter"/>
              </a:defRPr>
            </a:pPr>
            <a:r>
              <a:rPr sz="2550" b="1">
                <a:solidFill>
                  <a:srgbClr val="16766E"/>
                </a:solidFill>
                <a:latin typeface="Inter"/>
                <a:ea typeface="Inter"/>
                <a:cs typeface="Inter"/>
              </a:rPr>
              <a:t>Severe recall exceeds the baseline</a:t>
            </a:r>
          </a:p>
        </p:txBody>
      </p:sp>
      <p:sp>
        <p:nvSpPr>
          <p:cNvPr id="8" name="">
            <a:extLst xmlns:a="http://schemas.openxmlformats.org/drawingml/2006/main">
              <a:ext uri="{FF2B5EF4-FFF2-40B4-BE49-F238E27FC236}">
                <a16:creationId xmlns:a16="http://schemas.microsoft.com/office/drawing/2014/main" id="{66BB02AE-72B1-4E77-8BB9-2C22002A569E}"/>
              </a:ext>
            </a:extLst>
          </p:cNvPr>
          <p:cNvSpPr>
            <a:spLocks xmlns:a="http://schemas.openxmlformats.org/drawingml/2006/main" noGrp="1"/>
          </p:cNvSpPr>
          <p:nvPr/>
        </p:nvSpPr>
        <p:spPr>
          <a:xfrm xmlns:a="http://schemas.openxmlformats.org/drawingml/2006/main">
            <a:off x="457200" y="5743575"/>
            <a:ext cx="11239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52E3C"/>
                </a:solidFill>
                <a:latin typeface="Inter"/>
                <a:ea typeface="Inter"/>
                <a:cs typeface="Inter"/>
              </a:defRPr>
            </a:pPr>
            <a:r>
              <a:rPr sz="1725" b="0">
                <a:solidFill>
                  <a:srgbClr val="152E3C"/>
                </a:solidFill>
                <a:latin typeface="Inter"/>
                <a:ea typeface="Inter"/>
                <a:cs typeface="Inter"/>
              </a:rPr>
              <a:t>10 equally weighted sources, including BETO with Severe augmentation.</a:t>
            </a:r>
          </a:p>
        </p:txBody>
      </p:sp>
      <p:sp>
        <p:nvSpPr>
          <p:cNvPr id="9" name="">
            <a:extLst xmlns:a="http://schemas.openxmlformats.org/drawingml/2006/main">
              <a:ext uri="{FF2B5EF4-FFF2-40B4-BE49-F238E27FC236}">
                <a16:creationId xmlns:a16="http://schemas.microsoft.com/office/drawing/2014/main" id="{DA246EBE-552C-4E00-9AEB-3D8B1C2A0CEA}"/>
              </a:ext>
            </a:extLst>
          </p:cNvPr>
          <p:cNvSpPr>
            <a:spLocks xmlns:a="http://schemas.openxmlformats.org/drawingml/2006/main" noGrp="1"/>
          </p:cNvSpPr>
          <p:nvPr/>
        </p:nvSpPr>
        <p:spPr>
          <a:xfrm xmlns:a="http://schemas.openxmlformats.org/drawingml/2006/main">
            <a:off x="457200" y="6181725"/>
            <a:ext cx="11239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06674"/>
                </a:solidFill>
                <a:latin typeface="Inter"/>
                <a:ea typeface="Inter"/>
                <a:cs typeface="Inter"/>
              </a:defRPr>
            </a:pPr>
            <a:r>
              <a:rPr sz="1500" b="0">
                <a:solidFill>
                  <a:srgbClr val="506674"/>
                </a:solidFill>
                <a:latin typeface="Inter"/>
                <a:ea typeface="Inter"/>
                <a:cs typeface="Inter"/>
              </a:rPr>
              <a:t>Backup: complete ensemble result on development</a:t>
            </a:r>
          </a:p>
        </p:txBody>
      </p:sp>
    </p:spTree>
    <p:extLst>
      <p:ext uri="{BB962C8B-B14F-4D97-AF65-F5344CB8AC3E}">
        <p14:creationId xmlns:p14="http://schemas.microsoft.com/office/powerpoint/2010/main" val="3756368278"/>
      </p:ext>
    </p:extLst>
  </p:cSld>
</p:sld>
</file>

<file path=ppt/theme/theme1.xml><?xml version="1.0" encoding="utf-8"?>
<a:theme xmlns:a="http://schemas.openxmlformats.org/drawingml/2006/main" name="Default Codex Theme">
  <a:themeElements>
    <a:clrScheme name="Color Block Theme">
      <a:dk1>
        <a:srgbClr val="000000"/>
      </a:dk1>
      <a:lt1>
        <a:srgbClr val="FFFFFF"/>
      </a:lt1>
      <a:dk2>
        <a:srgbClr val="393939"/>
      </a:dk2>
      <a:lt2>
        <a:srgbClr val="F5F5F5"/>
      </a:lt2>
      <a:accent1>
        <a:srgbClr val="2ED978"/>
      </a:accent1>
      <a:accent2>
        <a:srgbClr val="9FB6FE"/>
      </a:accent2>
      <a:accent3>
        <a:srgbClr val="F3F161"/>
      </a:accent3>
      <a:accent4>
        <a:srgbClr val="FF5F27"/>
      </a:accent4>
      <a:accent5>
        <a:srgbClr val="5EC4FF"/>
      </a:accent5>
      <a:accent6>
        <a:srgbClr val="3C7DA3"/>
      </a:accent6>
      <a:hlink>
        <a:srgbClr val="FFA83A"/>
      </a:hlink>
      <a:folHlink>
        <a:srgbClr val="96607D"/>
      </a:folHlink>
    </a:clrScheme>
    <a:fontScheme name="Inter">
      <a:majorFont>
        <a:latin typeface="Inter"/>
        <a:ea typeface=""/>
        <a:cs typeface=""/>
      </a:majorFont>
      <a:minorFont>
        <a:latin typeface="Inter"/>
        <a:ea typeface=""/>
        <a:cs typeface=""/>
      </a:minorFont>
    </a:fontScheme>
    <a:fmtScheme name="Color Block Them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2026-09-22T08:46:19.2410000Z</dcterms:created>
  <dcterms:modified xsi:type="dcterms:W3CDTF">2026-09-22T08:46:19.2410000Z</dcterms:modified>
</coreProperties>
</file>