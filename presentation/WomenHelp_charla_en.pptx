
<file path=[Content_Types].xml><?xml version="1.0" encoding="utf-8"?>
<Types xmlns="http://schemas.openxmlformats.org/package/2006/content-types">
  <Default Extension="xml" ContentType="application/vnd.openxmlformats-package.core-properties+xml"/>
  <Default Extension="png" ContentType="image/png"/>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47913eeaaf14915" /><Relationship Type="http://schemas.openxmlformats.org/officeDocument/2006/relationships/extended-properties" Target="/docProps/app.xml" Id="R7c125e75b7e04496" /><Relationship Type="http://schemas.openxmlformats.org/officeDocument/2006/relationships/officeDocument" Target="/ppt/presentation.xml" Id="R58a66a82eee04911"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81b7b250dc9f4f6f"/>
  </p:sldMasterIdLst>
  <p:notesMasterIdLst>
    <p:notesMasterId xmlns:r="http://schemas.openxmlformats.org/officeDocument/2006/relationships" r:id="R66ad2477285f4e97"/>
  </p:notesMasterIdLst>
  <p:sldIdLst>
    <p:sldId xmlns:r="http://schemas.openxmlformats.org/officeDocument/2006/relationships" id="256" r:id="R84c39bd6650c4624"/>
    <p:sldId xmlns:r="http://schemas.openxmlformats.org/officeDocument/2006/relationships" id="257" r:id="Rc63b8eddc497457c"/>
    <p:sldId xmlns:r="http://schemas.openxmlformats.org/officeDocument/2006/relationships" id="258" r:id="Rd1d47e12f26947b0"/>
    <p:sldId xmlns:r="http://schemas.openxmlformats.org/officeDocument/2006/relationships" id="259" r:id="Ra110687eeccd47df"/>
    <p:sldId xmlns:r="http://schemas.openxmlformats.org/officeDocument/2006/relationships" id="260" r:id="R28907dbccbf6439b"/>
    <p:sldId xmlns:r="http://schemas.openxmlformats.org/officeDocument/2006/relationships" id="261" r:id="Rd0658427326a4f52"/>
    <p:sldId xmlns:r="http://schemas.openxmlformats.org/officeDocument/2006/relationships" id="262" r:id="R1e1c3f5147464da8"/>
    <p:sldId xmlns:r="http://schemas.openxmlformats.org/officeDocument/2006/relationships" id="263" r:id="Rc0df451250e84423"/>
    <p:sldId xmlns:r="http://schemas.openxmlformats.org/officeDocument/2006/relationships" id="264" r:id="Rbd5dc5e1b6464933"/>
    <p:sldId xmlns:r="http://schemas.openxmlformats.org/officeDocument/2006/relationships" id="265" r:id="R5b73eee7c84b4543"/>
  </p:sldIdLst>
  <p:sldSz cx="12192000" cy="6858000"/>
  <p:notesSz cx="6858000" cy="9144000"/>
  <p:embeddedFontLst>
    <p:embeddedFont>
      <p:font typeface="Inter"/>
      <p:regular xmlns:r="http://schemas.openxmlformats.org/officeDocument/2006/relationships" r:id="R171e1236516145a6"/>
      <p:bold xmlns:r="http://schemas.openxmlformats.org/officeDocument/2006/relationships" r:id="R2301c6270a11481b"/>
    </p:embeddedFont>
    <p:embeddedFont>
      <p:font typeface="Inter Medium"/>
      <p:regular xmlns:r="http://schemas.openxmlformats.org/officeDocument/2006/relationships" r:id="Re25aaca599ac44bb"/>
    </p:embeddedFont>
    <p:embeddedFont>
      <p:font typeface="Inter SemiBold"/>
      <p:regular xmlns:r="http://schemas.openxmlformats.org/officeDocument/2006/relationships" r:id="Ra809bc50aadf4c12"/>
      <p:bold xmlns:r="http://schemas.openxmlformats.org/officeDocument/2006/relationships" r:id="R2e1faef5717f46da"/>
    </p:embeddedFont>
    <p:embeddedFont>
      <p:font typeface="OpenAI Sans"/>
      <p:regular xmlns:r="http://schemas.openxmlformats.org/officeDocument/2006/relationships" r:id="R2f8a81e57bb44fb2"/>
      <p:bold xmlns:r="http://schemas.openxmlformats.org/officeDocument/2006/relationships" r:id="R57fc9155697b4706"/>
      <p:italic xmlns:r="http://schemas.openxmlformats.org/officeDocument/2006/relationships" r:id="R9d44ca9858f449ce"/>
      <p:boldItalic xmlns:r="http://schemas.openxmlformats.org/officeDocument/2006/relationships" r:id="Rd43e50a9fb6f4d2f"/>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a572c2f81a543c7" /><Relationship Type="http://schemas.openxmlformats.org/officeDocument/2006/relationships/slideMaster" Target="/ppt/slideMasters/slideMaster1.xml" Id="R81b7b250dc9f4f6f" /><Relationship Type="http://schemas.openxmlformats.org/officeDocument/2006/relationships/notesMaster" Target="/ppt/notesMasters/notesMaster1.xml" Id="R66ad2477285f4e97" /><Relationship Type="http://schemas.openxmlformats.org/officeDocument/2006/relationships/presProps" Target="/ppt/presProps.xml" Id="R12368faf64db4f84" /><Relationship Type="http://schemas.openxmlformats.org/officeDocument/2006/relationships/viewProps" Target="/ppt/viewProps.xml" Id="Rbe92ced03fde42e3" /><Relationship Type="http://schemas.openxmlformats.org/officeDocument/2006/relationships/tableStyles" Target="/ppt/tableStyles.xml" Id="R612b55fa8115418e" /><Relationship Type="http://schemas.openxmlformats.org/officeDocument/2006/relationships/font" Target="/ppt/fonts/font.dat" Id="R171e1236516145a6" /><Relationship Type="http://schemas.openxmlformats.org/officeDocument/2006/relationships/font" Target="/ppt/fonts/font2.dat" Id="R2301c6270a11481b" /><Relationship Type="http://schemas.openxmlformats.org/officeDocument/2006/relationships/font" Target="/ppt/fonts/font3.dat" Id="Re25aaca599ac44bb" /><Relationship Type="http://schemas.openxmlformats.org/officeDocument/2006/relationships/font" Target="/ppt/fonts/font4.dat" Id="Ra809bc50aadf4c12" /><Relationship Type="http://schemas.openxmlformats.org/officeDocument/2006/relationships/font" Target="/ppt/fonts/font5.dat" Id="R2e1faef5717f46da" /><Relationship Type="http://schemas.openxmlformats.org/officeDocument/2006/relationships/font" Target="/ppt/fonts/font6.dat" Id="R2f8a81e57bb44fb2" /><Relationship Type="http://schemas.openxmlformats.org/officeDocument/2006/relationships/font" Target="/ppt/fonts/font7.dat" Id="R57fc9155697b4706" /><Relationship Type="http://schemas.openxmlformats.org/officeDocument/2006/relationships/font" Target="/ppt/fonts/font8.dat" Id="R9d44ca9858f449ce" /><Relationship Type="http://schemas.openxmlformats.org/officeDocument/2006/relationships/font" Target="/ppt/fonts/font9.dat" Id="Rd43e50a9fb6f4d2f" /><Relationship Type="http://schemas.openxmlformats.org/officeDocument/2006/relationships/slide" Target="/ppt/slides/slide1.xml" Id="R84c39bd6650c4624" /><Relationship Type="http://schemas.openxmlformats.org/officeDocument/2006/relationships/slide" Target="/ppt/slides/slide2.xml" Id="Rc63b8eddc497457c" /><Relationship Type="http://schemas.openxmlformats.org/officeDocument/2006/relationships/slide" Target="/ppt/slides/slide3.xml" Id="Rd1d47e12f26947b0" /><Relationship Type="http://schemas.openxmlformats.org/officeDocument/2006/relationships/slide" Target="/ppt/slides/slide4.xml" Id="Ra110687eeccd47df" /><Relationship Type="http://schemas.openxmlformats.org/officeDocument/2006/relationships/slide" Target="/ppt/slides/slide5.xml" Id="R28907dbccbf6439b" /><Relationship Type="http://schemas.openxmlformats.org/officeDocument/2006/relationships/slide" Target="/ppt/slides/slide6.xml" Id="Rd0658427326a4f52" /><Relationship Type="http://schemas.openxmlformats.org/officeDocument/2006/relationships/slide" Target="/ppt/slides/slide7.xml" Id="R1e1c3f5147464da8" /><Relationship Type="http://schemas.openxmlformats.org/officeDocument/2006/relationships/slide" Target="/ppt/slides/slide8.xml" Id="Rc0df451250e84423" /><Relationship Type="http://schemas.openxmlformats.org/officeDocument/2006/relationships/slide" Target="/ppt/slides/slide9.xml" Id="Rbd5dc5e1b6464933" /><Relationship Type="http://schemas.openxmlformats.org/officeDocument/2006/relationships/slide" Target="/ppt/slides/slide10.xml" Id="R5b73eee7c84b454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bf32672c5c4ca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c9315e12d3649ac" /><Relationship Type="http://schemas.openxmlformats.org/officeDocument/2006/relationships/notesMaster" Target="/ppt/notesMasters/notesMaster1.xml" Id="Rac906794d74d4881" /></Relationships>
</file>

<file path=ppt/notesSlides/_rels/notesSlide2.xml.rels>&#65279;<?xml version="1.0" encoding="utf-8"?><Relationships xmlns="http://schemas.openxmlformats.org/package/2006/relationships"><Relationship Type="http://schemas.openxmlformats.org/officeDocument/2006/relationships/slide" Target="/ppt/slides/slide2.xml" Id="R9035ea62e58b48cb" /><Relationship Type="http://schemas.openxmlformats.org/officeDocument/2006/relationships/notesMaster" Target="/ppt/notesMasters/notesMaster1.xml" Id="R8b1c1adf74374b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4ff1ad64814204" /><Relationship Type="http://schemas.openxmlformats.org/officeDocument/2006/relationships/notesMaster" Target="/ppt/notesMasters/notesMaster1.xml" Id="Re2258de1e61a476e" /></Relationships>
</file>

<file path=ppt/notesSlides/_rels/notesSlide4.xml.rels>&#65279;<?xml version="1.0" encoding="utf-8"?><Relationships xmlns="http://schemas.openxmlformats.org/package/2006/relationships"><Relationship Type="http://schemas.openxmlformats.org/officeDocument/2006/relationships/slide" Target="/ppt/slides/slide4.xml" Id="R41495329c1ea4eeb" /><Relationship Type="http://schemas.openxmlformats.org/officeDocument/2006/relationships/notesMaster" Target="/ppt/notesMasters/notesMaster1.xml" Id="Ra3c74b55a0784fd7" /></Relationships>
</file>

<file path=ppt/notesSlides/_rels/notesSlide5.xml.rels>&#65279;<?xml version="1.0" encoding="utf-8"?><Relationships xmlns="http://schemas.openxmlformats.org/package/2006/relationships"><Relationship Type="http://schemas.openxmlformats.org/officeDocument/2006/relationships/slide" Target="/ppt/slides/slide5.xml" Id="R4243b542b86b46db" /><Relationship Type="http://schemas.openxmlformats.org/officeDocument/2006/relationships/notesMaster" Target="/ppt/notesMasters/notesMaster1.xml" Id="R65899b04c6ec4c6d" /></Relationships>
</file>

<file path=ppt/notesSlides/_rels/notesSlide6.xml.rels>&#65279;<?xml version="1.0" encoding="utf-8"?><Relationships xmlns="http://schemas.openxmlformats.org/package/2006/relationships"><Relationship Type="http://schemas.openxmlformats.org/officeDocument/2006/relationships/slide" Target="/ppt/slides/slide6.xml" Id="Rdbea021ba4c24930" /><Relationship Type="http://schemas.openxmlformats.org/officeDocument/2006/relationships/notesMaster" Target="/ppt/notesMasters/notesMaster1.xml" Id="R6926c68b71dd4545" /></Relationships>
</file>

<file path=ppt/notesSlides/_rels/notesSlide7.xml.rels>&#65279;<?xml version="1.0" encoding="utf-8"?><Relationships xmlns="http://schemas.openxmlformats.org/package/2006/relationships"><Relationship Type="http://schemas.openxmlformats.org/officeDocument/2006/relationships/slide" Target="/ppt/slides/slide7.xml" Id="Raab0f679933346c9" /><Relationship Type="http://schemas.openxmlformats.org/officeDocument/2006/relationships/notesMaster" Target="/ppt/notesMasters/notesMaster1.xml" Id="Rad983bdf46394166" /></Relationships>
</file>

<file path=ppt/notesSlides/_rels/notesSlide8.xml.rels>&#65279;<?xml version="1.0" encoding="utf-8"?><Relationships xmlns="http://schemas.openxmlformats.org/package/2006/relationships"><Relationship Type="http://schemas.openxmlformats.org/officeDocument/2006/relationships/slide" Target="/ppt/slides/slide8.xml" Id="Rbc5eb679ee984124" /><Relationship Type="http://schemas.openxmlformats.org/officeDocument/2006/relationships/notesMaster" Target="/ppt/notesMasters/notesMaster1.xml" Id="Rea9dbb11976a41aa" /></Relationships>
</file>

<file path=ppt/notesSlides/_rels/notesSlide9.xml.rels>&#65279;<?xml version="1.0" encoding="utf-8"?><Relationships xmlns="http://schemas.openxmlformats.org/package/2006/relationships"><Relationship Type="http://schemas.openxmlformats.org/officeDocument/2006/relationships/slide" Target="/ppt/slides/slide9.xml" Id="R64a06dbd39d04a9a" /><Relationship Type="http://schemas.openxmlformats.org/officeDocument/2006/relationships/notesMaster" Target="/ppt/notesMasters/notesMaster1.xml" Id="R843c3d9fefea4d5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f1514a9bb94418d" /><Relationship Type="http://schemas.openxmlformats.org/officeDocument/2006/relationships/notesMaster" Target="/ppt/notesMasters/notesMaster1.xml" Id="Reecc31070425456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0:00–0:30</a:t>
            </a:r>
            <a:endParaRPr/>
          </a:p>
          <a:p xmlns:a="http://schemas.openxmlformats.org/drawingml/2006/main">
            <a:r>
              <a:t/>
            </a:r>
            <a:endParaRPr/>
          </a:p>
          <a:p xmlns:a="http://schemas.openxmlformats.org/drawingml/2006/main">
            <a:r>
              <a:t>Good morning. I am Marcel Herrera Rendón from Universidad de Sonora. I will explain our strategy for classifying violence reports in WomenHelp. The central issue is how the problem guided our choice of models, outputs and training data. After finding useful recipes, we restricted final changes around a reference. Another session introduces the corpus, so I will focus on implementation.</a:t>
            </a:r>
            <a:endParaRPr/>
          </a:p>
          <a:p xmlns:a="http://schemas.openxmlformats.org/drawingml/2006/main">
            <a:r>
              <a:t/>
            </a:r>
            <a:endParaRPr/>
          </a:p>
          <a:p xmlns:a="http://schemas.openxmlformats.org/drawingml/2006/main">
            <a:r>
              <a:t>Source: docs/method.md; docs/results.md (corrected system-description paper).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0:30–1:30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We explored three families. Classical models turn words and characters into TF-IDF vectors and then classify. Generative LLMs receive instructions and produce structured answers; we tested prompting and LoRA adaptation. Transformer encoders such as BETO learn contextual representations that feed classification heads. LLMs also use Transformers: the distinction is their generative versus discriminative use. Classical methods provided strong references and diversity. Encoders gave us control over outputs. The generative route was excluded from the final system. This was a choice based on our experiments and resources, not a universal ranking of model families.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docs/method.md, model families and implementation.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1:30–2:20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On the left, all systems are evaluated on the same 133 reports. Joint exact match requires both severity and the complete set of types to be correct. TF-IDF with SGD reached 0.2331, the Gemma LoRA pilot 0.1955 and Qwen prompting 0.1053. The LoRA pilot used 625 training examples and 80 steps. It does not represent the full potential of LLMs. On the right we compare classical and BETO recipes on full development. For severity, the early classical reference reached 0.4974 and BETO focal 0.5429 macro-F1. Later classical ensembles reached 0.5047 and 0.5215. For types, character SVM reached 0.7642 macro-F1 and 0.8449 micro-F1; BETO with a fixed 0.45 threshold reached 0.8198 and 0.8685. These compare complete recipes, not an isolated architecture ablation. These panels have different datasets and metrics and must not be compared numerically. The practical conclusion was to keep classical references and investigate specialized encoders.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docs/results.md, classical/encoder and common 133-record comparisons.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2:20–3:35</a:t>
            </a:r>
          </a:p>
          <a:p xmlns:a="http://schemas.openxmlformats.org/drawingml/2006/main">
            <a:r>
              <a:t/>
            </a:r>
          </a:p>
          <a:p xmlns:a="http://schemas.openxmlformats.org/drawingml/2006/main">
            <a:r>
              <a:t>Severity requires one ordered category: Mild, Medium, High or Severe. Violence types can co-occur: Economic, Physical, Property-related, Psychological, Sexual and Vicarious. The upper diagram shows the augmented BETO recipe. We normalize whitespace, tokenize and truncate at 512 tokens. Its main head uses softmax, weighted focal loss and an ordinal penalty of 0.05. An auxiliary head learns seven type labels, including N/A, using soft labels with weight 0.3 only where available. A mask prevents missing annotations from becoming negative labels. Final type predictions come from a separate BETO using up to 384 tokens, six sigmoid outputs and a 0.45 threshold. N/A is derived when none reaches the threshold. The implementation confirms six outputs, despite a general seven-output description in the paper. These choices adapt existing architectures to the task; we do not claim a new architecture.</a:t>
            </a:r>
          </a:p>
          <a:p xmlns:a="http://schemas.openxmlformats.org/drawingml/2006/main">
            <a:r>
              <a:t/>
            </a:r>
          </a:p>
          <a:p xmlns:a="http://schemas.openxmlformats.org/drawingml/2006/main">
            <a:r>
              <a:t>Source: scripts/run_competitive_encoder_severity.py; scripts/run_subtask2_encoder_20260429.py; docs/method.md.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3:35–5:05</a:t>
            </a:r>
          </a:p>
          <a:p xmlns:a="http://schemas.openxmlformats.org/drawingml/2006/main">
            <a:r>
              <a:t/>
            </a:r>
          </a:p>
          <a:p xmlns:a="http://schemas.openxmlformats.org/drawingml/2006/main">
            <a:r>
              <a:t>Severe had 616 of 13,630 training examples, just 4.52%. We targeted augmentation at this class in training only. The highlighted method does not use an LLM: it combines institutional report templates for openings, actions, context and closure. Cues from the original report, such as relationship, time or threats, condition some choices. A stable seed and at most two variants per source make the process reproducible. We retain originals and inherit their labels. Adding 516 texts gives 1,132 Severe examples out of 14,146, or 8%. This reduces imbalance without equalizing the four classes. Templates may introduce facts, so these are not verified paraphrases. The project also explored synonyms and Mild variants; the following chart specifically evaluates Severe report templates.</a:t>
            </a:r>
          </a:p>
          <a:p xmlns:a="http://schemas.openxmlformats.org/drawingml/2006/main">
            <a:r>
              <a:t/>
            </a:r>
          </a:p>
          <a:p xmlns:a="http://schemas.openxmlformats.org/drawingml/2006/main">
            <a:r>
              <a:t>Source: src/womenhelp_competition/text_augmentation.py; results/evidence.json.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5:05–6:15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To make the effect visible, the chart shows absolute changes multiplied by one hundred with a zero baseline: plus 0.71 macro-F1 points, plus 1.57 Severe F1 points and minus 2.60 Severe recall points. The original zero-to-one values appear alongside. Evaluation uses the same 3,405 development reports without augmentation. Higher F1 does not mean that more Severe cases were recovered: recall fell. Augmentation also changed class proportions and recomputed class weights. We cannot attribute the outcome solely to template style. Matched oversampling, controlled weights, repeated seeds and a label audit are still needed. This supports one specific recipe rather than guaranteeing general gains.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results/evidence.json; docs/results.md. Delta = 100*(augmented - baseline).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6:15–7:15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This is a new descriptive analysis conducted after the paper submission. Soft type labels take values zero, one third, two thirds and one, retaining the proportion of three positive votes. In development, 877 of 1,212 reports, or 72.36%, have a split vote on at least one of the six violence types. Psychological has split votes in 33% of decisions and Sexual in 6.44%, using all reports as the denominator. These rates depend on prevalence and do not directly measure difficulty. Within-decision binary vote variance is p times one minus p: zero for unanimity and two ninths for a split vote. We lack annotator identities and severity votes, and the source only identifies human annotators, not their profession. We also found 24 development decisions where majority thresholding the soft label differs from the hard label; the cause is unknown. This motivates evaluation by consensus. The S1 auxiliary head used soft labels, whereas final S2 used hard labels; S2 soft-label experiments followed the final submission.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docs/annotation_consensus.md; results/annotation_consensus.json; scripts/analyze_annotations.py. New analysis after the paper.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7:15–8:30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By the final stage we had useful recipes. We fixed the predictions from the best prior submission as an anchor rather than retraining the recipes for each last adjustment. The Top10 reference combined three BETO variants, three Electricidad variants, three classical components and one BERTin. An alternative candidate with five augmented BETO folds and five Electricidad folds proposes changes using ordinal thresholds. The router allows only Medium to Mild, Mild to Medium and High to Severe. The last transition additionally requires severe lexical cues. Otherwise the anchor is retained. Only 290 of 4,219 predictions changed: 177, 101 and 12 respectively. The remaining 93.13% stayed identical. This is a decision rule, not a claim that no additional models were trained. It retains the selected recipes and narrows the scope of the final modification.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scripts/materialize_hailmary_s1_foldbag_router_20260507.py; docs/method.md.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8:30–9:20</a:t>
            </a:r>
          </a:p>
          <a:p xmlns:a="http://schemas.openxmlformats.org/drawingml/2006/main">
            <a:r>
              <a:t/>
            </a:r>
          </a:p>
          <a:p xmlns:a="http://schemas.openxmlformats.org/drawingml/2006/main">
            <a:r>
              <a:t>The complete system reached 0.60798 severity macro-F1, ranking third of sixteen teams. For types it reached 0.87016 micro-F1, ranking sixth of fifteen. The final gain over the anchor was small: from 0.60678 to 0.60798, about 0.00120. Type predictions were exactly unchanged. Separating this gain from augmentation avoids attributing the whole project to the final adjustment. Official scores informed selection, so the test was not a completely independent final evaluation. These are benchmark results, not validation in social care or evidence of transfer across institutions.</a:t>
            </a:r>
          </a:p>
          <a:p xmlns:a="http://schemas.openxmlformats.org/drawingml/2006/main">
            <a:r>
              <a:t/>
            </a:r>
          </a:p>
          <a:p xmlns:a="http://schemas.openxmlformats.org/drawingml/2006/main">
            <a:r>
              <a:t>Source: docs/results.md; corrected paper, official results. https://www.codabench.org/competitions/14614/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9:20–10:00</a:t>
            </a:r>
            <a:endParaRPr/>
          </a:p>
          <a:p xmlns:a="http://schemas.openxmlformats.org/drawingml/2006/main">
            <a:r>
              <a:t/>
            </a:r>
            <a:endParaRPr/>
          </a:p>
          <a:p xmlns:a="http://schemas.openxmlformats.org/drawingml/2006/main">
            <a:r>
              <a:t>What may generalize is a testable strategy: compare model families under common protocols, align outputs and losses with label meaning, target scarce classes and measure all relevant errors. After selecting recipes, restricting changes around a reference controls how many decisions move. To test the strategy outside the competition, we propose auditing synthetic variants, controlling balance and weights, repeating seeds and evaluating by institution and annotation consensus. These are future tests. Cross-institution generalization has not yet been demonstrated. Thank you.</a:t>
            </a:r>
            <a:endParaRPr/>
          </a:p>
          <a:p xmlns:a="http://schemas.openxmlformats.org/drawingml/2006/main">
            <a:r>
              <a:t/>
            </a:r>
            <a:endParaRPr/>
          </a:p>
          <a:p xmlns:a="http://schemas.openxmlformats.org/drawingml/2006/main">
            <a:r>
              <a:t>Source: docs/method.md, limitations and future validation.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71a8872582d4c9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6da591c4ed944c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eeb94ee589a428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e1cc6649bcc4e6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51e596dc7d046f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c1f637fd77e4e48"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81c9ca1531284087"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dbd275f57ad54094"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f8707c81d5904e18" /><Relationship Type="http://schemas.openxmlformats.org/officeDocument/2006/relationships/image" Target="/ppt/media/image.png" Id="R7cff5d28e2a0484b"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2d03f88ab614478f" /><Relationship Type="http://schemas.openxmlformats.org/officeDocument/2006/relationships/image" Target="/ppt/media/image2.png" Id="Rc9062ce3a7394d45"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b="1" i="0">
                <a:solidFill>
                  <a:schemeClr val="accent1"/>
                </a:solidFill>
                <a:latin typeface="Inter SemiBold"/>
                <a:ea typeface="Inter SemiBold"/>
                <a:cs typeface="Inter SemiBold"/>
              </a:defRPr>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952"/>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Layouts/slideLayout9.xml><?xml version="1.0" encoding="utf-8"?>
<p:sldLayout xmlns:p="http://schemas.openxmlformats.org/presentationml/2006/main" preserve="1" userDrawn="1">
  <p:cSld name="36 Field Grid">
    <p:bg>
      <p:bgPr>
        <a:blipFill xmlns:a="http://schemas.openxmlformats.org/drawingml/2006/main" rotWithShape="1">
          <a:blip xmlns:r="http://schemas.openxmlformats.org/officeDocument/2006/relationships" r:embed="R7cff5d28e2a0484b">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Layouts/slideLayout10.xml><?xml version="1.0" encoding="utf-8"?>
<p:sldLayout xmlns:p="http://schemas.openxmlformats.org/presentationml/2006/main" preserve="1" userDrawn="1">
  <p:cSld name="48 Field Grid">
    <p:bg>
      <p:bgPr>
        <a:blipFill xmlns:a="http://schemas.openxmlformats.org/drawingml/2006/main" rotWithShape="1">
          <a:blip xmlns:r="http://schemas.openxmlformats.org/officeDocument/2006/relationships" r:embed="Rc9062ce3a7394d45">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b52cd31854a4864" /><Relationship Type="http://schemas.openxmlformats.org/officeDocument/2006/relationships/slideLayout" Target="/ppt/slideLayouts/slideLayout1.xml" Id="Rc23acad5ab914ecd" /><Relationship Type="http://schemas.openxmlformats.org/officeDocument/2006/relationships/slideLayout" Target="/ppt/slideLayouts/slideLayout2.xml" Id="Ra0c8467e483d48ea" /><Relationship Type="http://schemas.openxmlformats.org/officeDocument/2006/relationships/slideLayout" Target="/ppt/slideLayouts/slideLayout3.xml" Id="R964921e4810645a8" /><Relationship Type="http://schemas.openxmlformats.org/officeDocument/2006/relationships/slideLayout" Target="/ppt/slideLayouts/slideLayout4.xml" Id="R8f5b5f03408a4f94" /><Relationship Type="http://schemas.openxmlformats.org/officeDocument/2006/relationships/slideLayout" Target="/ppt/slideLayouts/slideLayout5.xml" Id="R97210834c7f14dec" /><Relationship Type="http://schemas.openxmlformats.org/officeDocument/2006/relationships/slideLayout" Target="/ppt/slideLayouts/slideLayout6.xml" Id="R85a6a828391040e6" /><Relationship Type="http://schemas.openxmlformats.org/officeDocument/2006/relationships/slideLayout" Target="/ppt/slideLayouts/slideLayout7.xml" Id="R35c8d9efbd4743a1" /><Relationship Type="http://schemas.openxmlformats.org/officeDocument/2006/relationships/slideLayout" Target="/ppt/slideLayouts/slideLayout8.xml" Id="R65afb24ce20f4a02" /><Relationship Type="http://schemas.openxmlformats.org/officeDocument/2006/relationships/slideLayout" Target="/ppt/slideLayouts/slideLayout9.xml" Id="Rd62027e14ad44ca0" /><Relationship Type="http://schemas.openxmlformats.org/officeDocument/2006/relationships/slideLayout" Target="/ppt/slideLayouts/slideLayout10.xml" Id="R8cd98379660a483a"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23acad5ab914ecd"/>
    <p:sldLayoutId xmlns:r="http://schemas.openxmlformats.org/officeDocument/2006/relationships" id="2147483650" r:id="Ra0c8467e483d48ea"/>
    <p:sldLayoutId xmlns:r="http://schemas.openxmlformats.org/officeDocument/2006/relationships" id="2147483651" r:id="R964921e4810645a8"/>
    <p:sldLayoutId xmlns:r="http://schemas.openxmlformats.org/officeDocument/2006/relationships" id="2147483652" r:id="R8f5b5f03408a4f94"/>
    <p:sldLayoutId xmlns:r="http://schemas.openxmlformats.org/officeDocument/2006/relationships" id="2147483653" r:id="R97210834c7f14dec"/>
    <p:sldLayoutId xmlns:r="http://schemas.openxmlformats.org/officeDocument/2006/relationships" id="2147483654" r:id="R85a6a828391040e6"/>
    <p:sldLayoutId xmlns:r="http://schemas.openxmlformats.org/officeDocument/2006/relationships" id="2147483655" r:id="R35c8d9efbd4743a1"/>
    <p:sldLayoutId xmlns:r="http://schemas.openxmlformats.org/officeDocument/2006/relationships" id="2147483656" r:id="R65afb24ce20f4a02"/>
    <p:sldLayoutId xmlns:r="http://schemas.openxmlformats.org/officeDocument/2006/relationships" id="2147483657" r:id="Rd62027e14ad44ca0"/>
    <p:sldLayoutId xmlns:r="http://schemas.openxmlformats.org/officeDocument/2006/relationships" id="2147483658" r:id="R8cd98379660a483a"/>
  </p:sldLayoutIdLst>
  <p:hf hdr="0" dt="0"/>
  <p:txStyles>
    <p:titleStyle>
      <a:lvl1pPr xmlns:a="http://schemas.openxmlformats.org/drawingml/2006/main" algn="l" defTabSz="914400">
        <a:lnSpc>
          <a:spcPct val="90000"/>
        </a:lnSpc>
        <a:spcBef>
          <a:spcPct val="0"/>
        </a:spcBef>
        <a:buNone/>
        <a:defRPr sz="2900" b="0" i="0" kern="1200">
          <a:solidFill>
            <a:schemeClr val="tx1"/>
          </a:solidFill>
          <a:latin typeface="Inter Medium"/>
          <a:ea typeface="Inter Medium"/>
          <a:cs typeface="Inter Medium"/>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6ce978ca5214013" /><Relationship Type="http://schemas.openxmlformats.org/officeDocument/2006/relationships/image" Target="/ppt/media/image3.png" Id="R895fb74c35b8415e" /><Relationship Type="http://schemas.openxmlformats.org/officeDocument/2006/relationships/notesSlide" Target="/ppt/notesSlides/notesSlide1.xml" Id="R37faed793d824b3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cb3064ee34f426b" /><Relationship Type="http://schemas.openxmlformats.org/officeDocument/2006/relationships/notesSlide" Target="/ppt/notesSlides/notesSlide2.xml" Id="Rb4f7eaf9c1ed42b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2760f9bdfa14a13" /><Relationship Type="http://schemas.openxmlformats.org/officeDocument/2006/relationships/chart" Target="/ppt/slides/charts/chart1.xml" Id="Ra864fdbfba8b422d" /><Relationship Type="http://schemas.openxmlformats.org/officeDocument/2006/relationships/notesSlide" Target="/ppt/notesSlides/notesSlide3.xml" Id="Re062096b6e5f420b"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b81df55c47574408" /><Relationship Type="http://schemas.openxmlformats.org/officeDocument/2006/relationships/notesSlide" Target="/ppt/notesSlides/notesSlide4.xml" Id="R6e62cab7291c45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5.xml" Id="Ra3aae07f909c40c5" /><Relationship Type="http://schemas.openxmlformats.org/officeDocument/2006/relationships/chart" Target="/ppt/slides/charts/chart2.xml" Id="R1e9bf9108a124d21" /><Relationship Type="http://schemas.openxmlformats.org/officeDocument/2006/relationships/notesSlide" Target="/ppt/notesSlides/notesSlide5.xml" Id="R2f90a8f2b679417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54dc99ff25e4c20" /><Relationship Type="http://schemas.openxmlformats.org/officeDocument/2006/relationships/chart" Target="/ppt/slides/charts/chart3.xml" Id="R1e531db94cf747cb" /><Relationship Type="http://schemas.openxmlformats.org/officeDocument/2006/relationships/notesSlide" Target="/ppt/notesSlides/notesSlide6.xml" Id="Rc4e57638f15c458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21cd957124b4c65" /><Relationship Type="http://schemas.openxmlformats.org/officeDocument/2006/relationships/chart" Target="/ppt/slides/charts/chart4.xml" Id="R5b94e1967f5e4480" /><Relationship Type="http://schemas.openxmlformats.org/officeDocument/2006/relationships/notesSlide" Target="/ppt/notesSlides/notesSlide7.xml" Id="R787cdb88e8654e95" /></Relationships>
</file>

<file path=ppt/slides/_rels/slide8.xml.rels>&#65279;<?xml version="1.0" encoding="utf-8"?><Relationships xmlns="http://schemas.openxmlformats.org/package/2006/relationships"><Relationship Type="http://schemas.openxmlformats.org/officeDocument/2006/relationships/slideLayout" Target="/ppt/slideLayouts/slideLayout4.xml" Id="R7c40672fc22443d3" /><Relationship Type="http://schemas.openxmlformats.org/officeDocument/2006/relationships/notesSlide" Target="/ppt/notesSlides/notesSlide8.xml" Id="R2e4a654a39eb4285" /></Relationships>
</file>

<file path=ppt/slides/_rels/slide9.xml.rels>&#65279;<?xml version="1.0" encoding="utf-8"?><Relationships xmlns="http://schemas.openxmlformats.org/package/2006/relationships"><Relationship Type="http://schemas.openxmlformats.org/officeDocument/2006/relationships/slideLayout" Target="/ppt/slideLayouts/slideLayout4.xml" Id="R5b0216cc54d744d1" /><Relationship Type="http://schemas.openxmlformats.org/officeDocument/2006/relationships/notesSlide" Target="/ppt/notesSlides/notesSlide9.xml" Id="Rcf33d54f8373497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4c13a33068847a8" /><Relationship Type="http://schemas.openxmlformats.org/officeDocument/2006/relationships/image" Target="/ppt/media/image3.png" Id="R9d4e1980f74c4e8d" /><Relationship Type="http://schemas.openxmlformats.org/officeDocument/2006/relationships/notesSlide" Target="/ppt/notesSlides/notesSlide10.xml" Id="R60ca884868b4424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Data'!$A$2:$A$4</c:f>
              <c:strCache>
                <c:ptCount val="3"/>
                <c:pt idx="0">
                  <c:v>TF-IDF + SGD</c:v>
                </c:pt>
                <c:pt idx="1">
                  <c:v>Gemma + LoRA</c:v>
                </c:pt>
                <c:pt idx="2">
                  <c:v>Qwen prompt</c:v>
                </c:pt>
              </c:strCache>
            </c:strRef>
          </c:cat>
          <c:val>
            <c:numRef>
              <c:f>'Chart Data'!$B$2:$B$4</c:f>
              <c:numCache>
                <c:formatCode>0.000</c:formatCode>
                <c:ptCount val="3"/>
                <c:pt idx="0">
                  <c:v>0.2331</c:v>
                </c:pt>
                <c:pt idx="1">
                  <c:v>0.1955</c:v>
                </c:pt>
                <c:pt idx="2">
                  <c:v>0.1053</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0.3"/>
          <c:min val="0"/>
        </c:scaling>
        <c:delete val="0"/>
        <c:axPos val="b"/>
        <c:majorGridlines>
          <c:spPr>
            <a:ln xmlns:a="http://schemas.openxmlformats.org/drawingml/2006/main" w="9525">
              <a:solidFill>
                <a:srgbClr val="DCE6EC"/>
              </a:solidFill>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0.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spPr>
            <a:solidFill xmlns:a="http://schemas.openxmlformats.org/drawingml/2006/main">
              <a:srgbClr val="2C637F"/>
            </a:solidFill>
          </c:spPr>
          <c:cat>
            <c:strRef>
              <c:f>'Chart Data'!$A$2:$A$3</c:f>
              <c:strCache>
                <c:ptCount val="2"/>
                <c:pt idx="0">
                  <c:v>Before</c:v>
                </c:pt>
                <c:pt idx="1">
                  <c:v>After</c:v>
                </c:pt>
              </c:strCache>
            </c:strRef>
          </c:cat>
          <c:val>
            <c:numRef>
              <c:f>'Chart Data'!$B$2:$B$3</c:f>
              <c:numCache>
                <c:formatCode>0.00</c:formatCode>
                <c:ptCount val="2"/>
                <c:pt idx="0">
                  <c:v>4.519442</c:v>
                </c:pt>
                <c:pt idx="1">
                  <c:v>8.002262</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10"/>
          <c:min val="0"/>
        </c:scaling>
        <c:delete val="0"/>
        <c:axPos val="l"/>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5"/>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Macro-F1</c:v>
          </c:tx>
          <c:spPr>
            <a:solidFill xmlns:a="http://schemas.openxmlformats.org/drawingml/2006/main">
              <a:srgbClr val="2C637F"/>
            </a:solidFill>
          </c:spPr>
          <c:cat>
            <c:strRef>
              <c:f>'Chart Data'!$A$2:$A$2</c:f>
              <c:strCache>
                <c:ptCount val="1"/>
                <c:pt idx="0">
                  <c:v>Delta</c:v>
                </c:pt>
              </c:strCache>
            </c:strRef>
          </c:cat>
          <c:val>
            <c:numRef>
              <c:f>'Chart Data'!$B$2:$B$2</c:f>
              <c:numCache>
                <c:formatCode>+0.00;-0.00;0</c:formatCode>
                <c:ptCount val="1"/>
                <c:pt idx="0">
                  <c:v>0.7084</c:v>
                </c:pt>
              </c:numCache>
            </c:numRef>
          </c:val>
        </c:ser>
        <c:ser>
          <c:idx val="1"/>
          <c:order val="1"/>
          <c:tx>
            <c:v>Severe F1</c:v>
          </c:tx>
          <c:spPr>
            <a:solidFill xmlns:a="http://schemas.openxmlformats.org/drawingml/2006/main">
              <a:srgbClr val="16766E"/>
            </a:solidFill>
          </c:spPr>
          <c:cat>
            <c:strRef>
              <c:f>'Chart Data'!$C$2:$C$2</c:f>
              <c:strCache>
                <c:ptCount val="1"/>
                <c:pt idx="0">
                  <c:v>Delta</c:v>
                </c:pt>
              </c:strCache>
            </c:strRef>
          </c:cat>
          <c:val>
            <c:numRef>
              <c:f>'Chart Data'!$D$2:$D$2</c:f>
              <c:numCache>
                <c:formatCode>+0.00;-0.00;0</c:formatCode>
                <c:ptCount val="1"/>
                <c:pt idx="0">
                  <c:v>1.5652</c:v>
                </c:pt>
              </c:numCache>
            </c:numRef>
          </c:val>
        </c:ser>
        <c:ser>
          <c:idx val="2"/>
          <c:order val="2"/>
          <c:tx>
            <c:v>Severe recall</c:v>
          </c:tx>
          <c:spPr>
            <a:solidFill xmlns:a="http://schemas.openxmlformats.org/drawingml/2006/main">
              <a:srgbClr val="A86524"/>
            </a:solidFill>
          </c:spPr>
          <c:invertIfNegative val="0"/>
          <c:cat>
            <c:strRef>
              <c:f>'Chart Data'!$E$2:$E$2</c:f>
              <c:strCache>
                <c:ptCount val="1"/>
                <c:pt idx="0">
                  <c:v>Delta</c:v>
                </c:pt>
              </c:strCache>
            </c:strRef>
          </c:cat>
          <c:val>
            <c:numRef>
              <c:f>'Chart Data'!$F$2:$F$2</c:f>
              <c:numCache>
                <c:formatCode>+0.00;-0.00;0</c:formatCode>
                <c:ptCount val="1"/>
                <c:pt idx="0">
                  <c:v>-2.5974</c:v>
                </c:pt>
              </c:numCache>
            </c:numRef>
          </c:val>
        </c:ser>
        <c:dLbls>
          <c:txPr>
            <a:bodyPr xmlns:a="http://schemas.openxmlformats.org/drawingml/2006/main" anchorCtr="1"/>
            <a:lstStyle xmlns:a="http://schemas.openxmlformats.org/drawingml/2006/main"/>
            <a:p xmlns:a="http://schemas.openxmlformats.org/drawingml/2006/main">
              <a:pPr>
                <a:defRPr sz="1800">
                  <a:latin typeface="Inter"/>
                  <a:ea typeface="Inter"/>
                  <a:cs typeface="Inter"/>
                </a:defRPr>
              </a:pPr>
            </a:p>
          </c:txPr>
          <c:dLblPos val="outEnd"/>
          <c:showLegendKey val="0"/>
          <c:showVal val="1"/>
          <c:showCatName val="0"/>
          <c:showSerName val="0"/>
          <c:showPercent val="0"/>
          <c:showBubbleSize val="0"/>
          <c:showLeaderLines val="0"/>
        </c:dLbls>
        <c:gapWidth val="70"/>
        <c:overlap val="-2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Inter"/>
                <a:ea typeface="Inter"/>
                <a:cs typeface="Inter"/>
              </a:defRPr>
            </a:pPr>
          </a:p>
        </c:txPr>
        <c:crossAx val="48672768"/>
      </c:catAx>
      <c:valAx>
        <c:axId val="48672768"/>
        <c:scaling>
          <c:orientation val="minMax"/>
          <c:max val="4"/>
          <c:min val="-4"/>
        </c:scaling>
        <c:delete val="0"/>
        <c:axPos val="b"/>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Data'!$A$2:$A$7</c:f>
              <c:strCache>
                <c:ptCount val="6"/>
                <c:pt idx="0">
                  <c:v>Economic</c:v>
                </c:pt>
                <c:pt idx="1">
                  <c:v>Physical</c:v>
                </c:pt>
                <c:pt idx="2">
                  <c:v>Property-related</c:v>
                </c:pt>
                <c:pt idx="3">
                  <c:v>Psychological</c:v>
                </c:pt>
                <c:pt idx="4">
                  <c:v>Sexual</c:v>
                </c:pt>
                <c:pt idx="5">
                  <c:v>Vicarious</c:v>
                </c:pt>
              </c:strCache>
            </c:strRef>
          </c:cat>
          <c:val>
            <c:numRef>
              <c:f>'Chart Data'!$B$2:$B$7</c:f>
              <c:numCache>
                <c:formatCode>0.0</c:formatCode>
                <c:ptCount val="6"/>
                <c:pt idx="0">
                  <c:v>16.171617</c:v>
                </c:pt>
                <c:pt idx="1">
                  <c:v>17.656766</c:v>
                </c:pt>
                <c:pt idx="2">
                  <c:v>23.762376</c:v>
                </c:pt>
                <c:pt idx="3">
                  <c:v>33.0033</c:v>
                </c:pt>
                <c:pt idx="4">
                  <c:v>6.435644</c:v>
                </c:pt>
                <c:pt idx="5">
                  <c:v>20.709571</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40"/>
          <c:min val="0"/>
        </c:scaling>
        <c:delete val="0"/>
        <c:axPos val="b"/>
        <c:majorGridlines>
          <c:spPr>
            <a:ln xmlns:a="http://schemas.openxmlformats.org/drawingml/2006/main" w="9525">
              <a:solidFill>
                <a:srgbClr val="DCE6EC"/>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0"/>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2" name="Picture 2"/>
          <p:cNvPicPr>
            <a:picLocks xmlns:a="http://schemas.openxmlformats.org/drawingml/2006/main" noChangeAspect="1"/>
          </p:cNvPicPr>
          <p:nvPr/>
        </p:nvPicPr>
        <p:blipFill>
          <a:blip xmlns:r="http://schemas.openxmlformats.org/officeDocument/2006/relationships" xmlns:a="http://schemas.openxmlformats.org/drawingml/2006/main" r:embed="R895fb74c35b8415e"/>
          <a:srcRect xmlns:a="http://schemas.openxmlformats.org/drawingml/2006/main" l="0" t="25645" r="0" b="61469"/>
          <a:stretch xmlns:a="http://schemas.openxmlformats.org/drawingml/2006/main">
            <a:fillRect l="0" t="0" r="0" b="0"/>
          </a:stretch>
        </p:blipFill>
        <p:spPr>
          <a:xfrm xmlns:a="http://schemas.openxmlformats.org/drawingml/2006/main">
            <a:off x="0" y="4763386"/>
            <a:ext cx="12190542" cy="2094614"/>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F7EBD97-A089-4275-9306-69D1403556ED}"/>
              </a:ext>
            </a:extLst>
          </p:cNvPr>
          <p:cNvSpPr>
            <a:spLocks xmlns:a="http://schemas.openxmlformats.org/drawingml/2006/main" noGrp="1"/>
          </p:cNvSpPr>
          <p:nvPr/>
        </p:nvSpPr>
        <p:spPr>
          <a:xfrm xmlns:a="http://schemas.openxmlformats.org/drawingml/2006/main">
            <a:off x="457200" y="857250"/>
            <a:ext cx="112395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Violence report</a:t>
            </a:r>
          </a:p>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classification</a:t>
            </a:r>
          </a:p>
        </p:txBody>
      </p:sp>
      <p:sp>
        <p:nvSpPr>
          <p:cNvPr id="8" name="">
            <a:extLst xmlns:a="http://schemas.openxmlformats.org/drawingml/2006/main">
              <a:ext uri="{FF2B5EF4-FFF2-40B4-BE49-F238E27FC236}">
                <a16:creationId xmlns:a16="http://schemas.microsoft.com/office/drawing/2014/main" id="{6EF81D17-E76A-4D29-9271-A1CEA6F2C37E}"/>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9" name="">
            <a:extLst xmlns:a="http://schemas.openxmlformats.org/drawingml/2006/main">
              <a:ext uri="{FF2B5EF4-FFF2-40B4-BE49-F238E27FC236}">
                <a16:creationId xmlns:a16="http://schemas.microsoft.com/office/drawing/2014/main" id="{95D2036A-3157-4697-A568-66E4DE2714F0}"/>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01</a:t>
            </a:r>
          </a:p>
        </p:txBody>
      </p:sp>
      <p:sp>
        <p:nvSpPr>
          <p:cNvPr id="10" name="">
            <a:extLst xmlns:a="http://schemas.openxmlformats.org/drawingml/2006/main">
              <a:ext uri="{FF2B5EF4-FFF2-40B4-BE49-F238E27FC236}">
                <a16:creationId xmlns:a16="http://schemas.microsoft.com/office/drawing/2014/main" id="{2BC9487B-2B6F-4A34-B067-41451DC28E68}"/>
              </a:ext>
            </a:extLst>
          </p:cNvPr>
          <p:cNvSpPr>
            <a:spLocks xmlns:a="http://schemas.openxmlformats.org/drawingml/2006/main" noGrp="1"/>
          </p:cNvSpPr>
          <p:nvPr/>
        </p:nvSpPr>
        <p:spPr>
          <a:xfrm xmlns:a="http://schemas.openxmlformats.org/drawingml/2006/main">
            <a:off x="476250" y="31432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Model selection, Severe augmentation</a:t>
            </a:r>
          </a:p>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and final decisions around an anchor</a:t>
            </a:r>
          </a:p>
        </p:txBody>
      </p:sp>
      <p:sp>
        <p:nvSpPr>
          <p:cNvPr id="11" name="">
            <a:extLst xmlns:a="http://schemas.openxmlformats.org/drawingml/2006/main">
              <a:ext uri="{FF2B5EF4-FFF2-40B4-BE49-F238E27FC236}">
                <a16:creationId xmlns:a16="http://schemas.microsoft.com/office/drawing/2014/main" id="{211B4FC4-A55E-4570-85F0-C214253C3AC7}"/>
              </a:ext>
            </a:extLst>
          </p:cNvPr>
          <p:cNvSpPr>
            <a:spLocks xmlns:a="http://schemas.openxmlformats.org/drawingml/2006/main" noGrp="1"/>
          </p:cNvSpPr>
          <p:nvPr/>
        </p:nvSpPr>
        <p:spPr>
          <a:xfrm xmlns:a="http://schemas.openxmlformats.org/drawingml/2006/main">
            <a:off x="476250" y="4857750"/>
            <a:ext cx="9048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Marcel Herrera Rendón</a:t>
            </a:r>
          </a:p>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Universidad de Sonora</a:t>
            </a:r>
          </a:p>
        </p:txBody>
      </p:sp>
    </p:spTree>
    <p:extLst>
      <p:ext uri="{BB962C8B-B14F-4D97-AF65-F5344CB8AC3E}">
        <p14:creationId xmlns:p14="http://schemas.microsoft.com/office/powerpoint/2010/main" val="331249616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EB7506D-BD84-45E4-B0BA-B2F79D89DD6A}"/>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Three families, three classification paths</a:t>
            </a:r>
          </a:p>
        </p:txBody>
      </p:sp>
      <p:sp>
        <p:nvSpPr>
          <p:cNvPr id="2" name="">
            <a:extLst xmlns:a="http://schemas.openxmlformats.org/drawingml/2006/main">
              <a:ext uri="{FF2B5EF4-FFF2-40B4-BE49-F238E27FC236}">
                <a16:creationId xmlns:a16="http://schemas.microsoft.com/office/drawing/2014/main" id="{936993C1-A738-4705-8398-F2EB90B74E9E}"/>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353B5D70-AC8E-4AB3-8090-8C36723E558F}"/>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02</a:t>
            </a:r>
          </a:p>
        </p:txBody>
      </p:sp>
      <p:sp>
        <p:nvSpPr>
          <p:cNvPr id="4" name="">
            <a:extLst xmlns:a="http://schemas.openxmlformats.org/drawingml/2006/main">
              <a:ext uri="{FF2B5EF4-FFF2-40B4-BE49-F238E27FC236}">
                <a16:creationId xmlns:a16="http://schemas.microsoft.com/office/drawing/2014/main" id="{FE298A65-7F05-448E-806C-D8F3ADBD7B2F}"/>
              </a:ext>
            </a:extLst>
          </p:cNvPr>
          <p:cNvSpPr>
            <a:spLocks xmlns:a="http://schemas.openxmlformats.org/drawingml/2006/main" noGrp="1"/>
          </p:cNvSpPr>
          <p:nvPr/>
        </p:nvSpPr>
        <p:spPr>
          <a:xfrm xmlns:a="http://schemas.openxmlformats.org/drawingml/2006/main">
            <a:off x="457200" y="18573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Classical</a:t>
            </a:r>
          </a:p>
        </p:txBody>
      </p:sp>
      <p:sp>
        <p:nvSpPr>
          <p:cNvPr id="5" name="">
            <a:extLst xmlns:a="http://schemas.openxmlformats.org/drawingml/2006/main">
              <a:ext uri="{FF2B5EF4-FFF2-40B4-BE49-F238E27FC236}">
                <a16:creationId xmlns:a16="http://schemas.microsoft.com/office/drawing/2014/main" id="{67D3057E-BAC8-400C-9A79-02F27AAAC8BD}"/>
              </a:ext>
            </a:extLst>
          </p:cNvPr>
          <p:cNvSpPr>
            <a:spLocks xmlns:a="http://schemas.openxmlformats.org/drawingml/2006/main" noGrp="1"/>
          </p:cNvSpPr>
          <p:nvPr/>
        </p:nvSpPr>
        <p:spPr>
          <a:xfrm xmlns:a="http://schemas.openxmlformats.org/drawingml/2006/main">
            <a:off x="3381375" y="17621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606D17C5-BB51-4F71-8133-736317D0153C}"/>
              </a:ext>
            </a:extLst>
          </p:cNvPr>
          <p:cNvSpPr>
            <a:spLocks xmlns:a="http://schemas.openxmlformats.org/drawingml/2006/main" noGrp="1"/>
          </p:cNvSpPr>
          <p:nvPr/>
        </p:nvSpPr>
        <p:spPr>
          <a:xfrm xmlns:a="http://schemas.openxmlformats.org/drawingml/2006/main">
            <a:off x="3524250" y="18859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Words + characters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TF-IDF vector</a:t>
            </a:r>
          </a:p>
        </p:txBody>
      </p:sp>
      <p:sp>
        <p:nvSpPr>
          <p:cNvPr id="7" name="">
            <a:extLst xmlns:a="http://schemas.openxmlformats.org/drawingml/2006/main">
              <a:ext uri="{FF2B5EF4-FFF2-40B4-BE49-F238E27FC236}">
                <a16:creationId xmlns:a16="http://schemas.microsoft.com/office/drawing/2014/main" id="{C1AFF948-0C60-4083-B5FE-35CA8CB0309B}"/>
              </a:ext>
            </a:extLst>
          </p:cNvPr>
          <p:cNvSpPr>
            <a:spLocks xmlns:a="http://schemas.openxmlformats.org/drawingml/2006/main" noGrp="1"/>
          </p:cNvSpPr>
          <p:nvPr/>
        </p:nvSpPr>
        <p:spPr>
          <a:xfrm xmlns:a="http://schemas.openxmlformats.org/drawingml/2006/main">
            <a:off x="8591550" y="17621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448E8855-9939-4B46-A771-68B02FE69AC3}"/>
              </a:ext>
            </a:extLst>
          </p:cNvPr>
          <p:cNvSpPr>
            <a:spLocks xmlns:a="http://schemas.openxmlformats.org/drawingml/2006/main" noGrp="1"/>
          </p:cNvSpPr>
          <p:nvPr/>
        </p:nvSpPr>
        <p:spPr>
          <a:xfrm xmlns:a="http://schemas.openxmlformats.org/drawingml/2006/main">
            <a:off x="8734425" y="18859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Classifier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Class scores</a:t>
            </a:r>
          </a:p>
        </p:txBody>
      </p:sp>
      <p:cxnSp>
        <p:nvCxnSpPr>
          <p:cNvPr id="31" name=""/>
          <p:cNvCxnSpPr>
            <a:stCxn xmlns:a="http://schemas.openxmlformats.org/drawingml/2006/main" id="5" idx="3"/>
            <a:endCxn xmlns:a="http://schemas.openxmlformats.org/drawingml/2006/main" id="7" idx="1"/>
          </p:cNvCxnSpPr>
          <p:nvPr/>
        </p:nvCxnSpPr>
        <p:spPr>
          <a:xfrm xmlns:a="http://schemas.openxmlformats.org/drawingml/2006/main">
            <a:off x="7715250" y="22860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0" name="">
            <a:extLst xmlns:a="http://schemas.openxmlformats.org/drawingml/2006/main">
              <a:ext uri="{FF2B5EF4-FFF2-40B4-BE49-F238E27FC236}">
                <a16:creationId xmlns:a16="http://schemas.microsoft.com/office/drawing/2014/main" id="{67F3334C-A8CB-412B-A1A3-B6FAC5745167}"/>
              </a:ext>
            </a:extLst>
          </p:cNvPr>
          <p:cNvSpPr>
            <a:spLocks xmlns:a="http://schemas.openxmlformats.org/drawingml/2006/main" noGrp="1"/>
          </p:cNvSpPr>
          <p:nvPr/>
        </p:nvSpPr>
        <p:spPr>
          <a:xfrm xmlns:a="http://schemas.openxmlformats.org/drawingml/2006/main">
            <a:off x="457200" y="340042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Generative LLMs</a:t>
            </a:r>
          </a:p>
        </p:txBody>
      </p:sp>
      <p:sp>
        <p:nvSpPr>
          <p:cNvPr id="11" name="">
            <a:extLst xmlns:a="http://schemas.openxmlformats.org/drawingml/2006/main">
              <a:ext uri="{FF2B5EF4-FFF2-40B4-BE49-F238E27FC236}">
                <a16:creationId xmlns:a16="http://schemas.microsoft.com/office/drawing/2014/main" id="{6DFA2985-A216-46A2-9160-235FFA29AE32}"/>
              </a:ext>
            </a:extLst>
          </p:cNvPr>
          <p:cNvSpPr>
            <a:spLocks xmlns:a="http://schemas.openxmlformats.org/drawingml/2006/main" noGrp="1"/>
          </p:cNvSpPr>
          <p:nvPr/>
        </p:nvSpPr>
        <p:spPr>
          <a:xfrm xmlns:a="http://schemas.openxmlformats.org/drawingml/2006/main">
            <a:off x="3381375" y="330517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E361E9EC-62C1-444E-9561-9C6F6D171453}"/>
              </a:ext>
            </a:extLst>
          </p:cNvPr>
          <p:cNvSpPr>
            <a:spLocks xmlns:a="http://schemas.openxmlformats.org/drawingml/2006/main" noGrp="1"/>
          </p:cNvSpPr>
          <p:nvPr/>
        </p:nvSpPr>
        <p:spPr>
          <a:xfrm xmlns:a="http://schemas.openxmlformats.org/drawingml/2006/main">
            <a:off x="3524250" y="342900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Instruction + report</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Prompt / LoRA</a:t>
            </a:r>
          </a:p>
        </p:txBody>
      </p:sp>
      <p:sp>
        <p:nvSpPr>
          <p:cNvPr id="13" name="">
            <a:extLst xmlns:a="http://schemas.openxmlformats.org/drawingml/2006/main">
              <a:ext uri="{FF2B5EF4-FFF2-40B4-BE49-F238E27FC236}">
                <a16:creationId xmlns:a16="http://schemas.microsoft.com/office/drawing/2014/main" id="{3AA1F81B-4AA2-4E60-A968-F8469F354243}"/>
              </a:ext>
            </a:extLst>
          </p:cNvPr>
          <p:cNvSpPr>
            <a:spLocks xmlns:a="http://schemas.openxmlformats.org/drawingml/2006/main" noGrp="1"/>
          </p:cNvSpPr>
          <p:nvPr/>
        </p:nvSpPr>
        <p:spPr>
          <a:xfrm xmlns:a="http://schemas.openxmlformats.org/drawingml/2006/main">
            <a:off x="8591550" y="330517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4" name="">
            <a:extLst xmlns:a="http://schemas.openxmlformats.org/drawingml/2006/main">
              <a:ext uri="{FF2B5EF4-FFF2-40B4-BE49-F238E27FC236}">
                <a16:creationId xmlns:a16="http://schemas.microsoft.com/office/drawing/2014/main" id="{D18953B8-A165-4724-AE81-4EF7B3B60682}"/>
              </a:ext>
            </a:extLst>
          </p:cNvPr>
          <p:cNvSpPr>
            <a:spLocks xmlns:a="http://schemas.openxmlformats.org/drawingml/2006/main" noGrp="1"/>
          </p:cNvSpPr>
          <p:nvPr/>
        </p:nvSpPr>
        <p:spPr>
          <a:xfrm xmlns:a="http://schemas.openxmlformats.org/drawingml/2006/main">
            <a:off x="8734425" y="342900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Generation</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JSON response</a:t>
            </a:r>
          </a:p>
        </p:txBody>
      </p:sp>
      <p:cxnSp>
        <p:nvCxnSpPr>
          <p:cNvPr id="37" name=""/>
          <p:cNvCxnSpPr>
            <a:stCxn xmlns:a="http://schemas.openxmlformats.org/drawingml/2006/main" id="11" idx="3"/>
            <a:endCxn xmlns:a="http://schemas.openxmlformats.org/drawingml/2006/main" id="13" idx="1"/>
          </p:cNvCxnSpPr>
          <p:nvPr/>
        </p:nvCxnSpPr>
        <p:spPr>
          <a:xfrm xmlns:a="http://schemas.openxmlformats.org/drawingml/2006/main">
            <a:off x="7715250" y="382905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AD5C9665-9226-4942-8C04-36BA54B45528}"/>
              </a:ext>
            </a:extLst>
          </p:cNvPr>
          <p:cNvSpPr>
            <a:spLocks xmlns:a="http://schemas.openxmlformats.org/drawingml/2006/main" noGrp="1"/>
          </p:cNvSpPr>
          <p:nvPr/>
        </p:nvSpPr>
        <p:spPr>
          <a:xfrm xmlns:a="http://schemas.openxmlformats.org/drawingml/2006/main">
            <a:off x="457200" y="49434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Transformer encoders</a:t>
            </a:r>
          </a:p>
        </p:txBody>
      </p:sp>
      <p:sp>
        <p:nvSpPr>
          <p:cNvPr id="17" name="">
            <a:extLst xmlns:a="http://schemas.openxmlformats.org/drawingml/2006/main">
              <a:ext uri="{FF2B5EF4-FFF2-40B4-BE49-F238E27FC236}">
                <a16:creationId xmlns:a16="http://schemas.microsoft.com/office/drawing/2014/main" id="{DC0DCCE6-DDED-4505-ADD9-F1FC8F835066}"/>
              </a:ext>
            </a:extLst>
          </p:cNvPr>
          <p:cNvSpPr>
            <a:spLocks xmlns:a="http://schemas.openxmlformats.org/drawingml/2006/main" noGrp="1"/>
          </p:cNvSpPr>
          <p:nvPr/>
        </p:nvSpPr>
        <p:spPr>
          <a:xfrm xmlns:a="http://schemas.openxmlformats.org/drawingml/2006/main">
            <a:off x="3381375" y="48482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8" name="">
            <a:extLst xmlns:a="http://schemas.openxmlformats.org/drawingml/2006/main">
              <a:ext uri="{FF2B5EF4-FFF2-40B4-BE49-F238E27FC236}">
                <a16:creationId xmlns:a16="http://schemas.microsoft.com/office/drawing/2014/main" id="{235F1CA6-C9E7-4E3D-BA6A-E6ACE35A3A13}"/>
              </a:ext>
            </a:extLst>
          </p:cNvPr>
          <p:cNvSpPr>
            <a:spLocks xmlns:a="http://schemas.openxmlformats.org/drawingml/2006/main" noGrp="1"/>
          </p:cNvSpPr>
          <p:nvPr/>
        </p:nvSpPr>
        <p:spPr>
          <a:xfrm xmlns:a="http://schemas.openxmlformats.org/drawingml/2006/main">
            <a:off x="3524250" y="49720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Tokens + context</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 / Electricidad / BERTin</a:t>
            </a:r>
          </a:p>
        </p:txBody>
      </p:sp>
      <p:sp>
        <p:nvSpPr>
          <p:cNvPr id="19" name="">
            <a:extLst xmlns:a="http://schemas.openxmlformats.org/drawingml/2006/main">
              <a:ext uri="{FF2B5EF4-FFF2-40B4-BE49-F238E27FC236}">
                <a16:creationId xmlns:a16="http://schemas.microsoft.com/office/drawing/2014/main" id="{8B47963F-79C0-4848-A4E2-EFA1A9692DAB}"/>
              </a:ext>
            </a:extLst>
          </p:cNvPr>
          <p:cNvSpPr>
            <a:spLocks xmlns:a="http://schemas.openxmlformats.org/drawingml/2006/main" noGrp="1"/>
          </p:cNvSpPr>
          <p:nvPr/>
        </p:nvSpPr>
        <p:spPr>
          <a:xfrm xmlns:a="http://schemas.openxmlformats.org/drawingml/2006/main">
            <a:off x="8591550" y="48482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0" name="">
            <a:extLst xmlns:a="http://schemas.openxmlformats.org/drawingml/2006/main">
              <a:ext uri="{FF2B5EF4-FFF2-40B4-BE49-F238E27FC236}">
                <a16:creationId xmlns:a16="http://schemas.microsoft.com/office/drawing/2014/main" id="{8902A4BD-8044-4099-8709-61E48E35C87C}"/>
              </a:ext>
            </a:extLst>
          </p:cNvPr>
          <p:cNvSpPr>
            <a:spLocks xmlns:a="http://schemas.openxmlformats.org/drawingml/2006/main" noGrp="1"/>
          </p:cNvSpPr>
          <p:nvPr/>
        </p:nvSpPr>
        <p:spPr>
          <a:xfrm xmlns:a="http://schemas.openxmlformats.org/drawingml/2006/main">
            <a:off x="8734425" y="49720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Supervised heads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Label scores</a:t>
            </a:r>
          </a:p>
        </p:txBody>
      </p:sp>
      <p:cxnSp>
        <p:nvCxnSpPr>
          <p:cNvPr id="43" name=""/>
          <p:cNvCxnSpPr>
            <a:stCxn xmlns:a="http://schemas.openxmlformats.org/drawingml/2006/main" id="17" idx="3"/>
            <a:endCxn xmlns:a="http://schemas.openxmlformats.org/drawingml/2006/main" id="19" idx="1"/>
          </p:cNvCxnSpPr>
          <p:nvPr/>
        </p:nvCxnSpPr>
        <p:spPr>
          <a:xfrm xmlns:a="http://schemas.openxmlformats.org/drawingml/2006/main">
            <a:off x="7715250" y="53721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2" name="">
            <a:extLst xmlns:a="http://schemas.openxmlformats.org/drawingml/2006/main">
              <a:ext uri="{FF2B5EF4-FFF2-40B4-BE49-F238E27FC236}">
                <a16:creationId xmlns:a16="http://schemas.microsoft.com/office/drawing/2014/main" id="{20CD128B-1384-4F6E-932E-2CB31B7569D8}"/>
              </a:ext>
            </a:extLst>
          </p:cNvPr>
          <p:cNvSpPr>
            <a:spLocks xmlns:a="http://schemas.openxmlformats.org/drawingml/2006/main" noGrp="1"/>
          </p:cNvSpPr>
          <p:nvPr/>
        </p:nvSpPr>
        <p:spPr>
          <a:xfrm xmlns:a="http://schemas.openxmlformats.org/drawingml/2006/main">
            <a:off x="457200" y="6153150"/>
            <a:ext cx="1123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LLMs also use Transformers. Here we distinguish generative and discriminative use.</a:t>
            </a:r>
          </a:p>
        </p:txBody>
      </p:sp>
    </p:spTree>
    <p:extLst>
      <p:ext uri="{BB962C8B-B14F-4D97-AF65-F5344CB8AC3E}">
        <p14:creationId xmlns:p14="http://schemas.microsoft.com/office/powerpoint/2010/main" val="67611695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1E762F5-4467-4EAF-8721-F18FCB935F17}"/>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Evidence guided model selection</a:t>
            </a:r>
          </a:p>
        </p:txBody>
      </p:sp>
      <p:sp>
        <p:nvSpPr>
          <p:cNvPr id="2" name="">
            <a:extLst xmlns:a="http://schemas.openxmlformats.org/drawingml/2006/main">
              <a:ext uri="{FF2B5EF4-FFF2-40B4-BE49-F238E27FC236}">
                <a16:creationId xmlns:a16="http://schemas.microsoft.com/office/drawing/2014/main" id="{F7ACB271-1FDB-45A6-82CA-E1881FA4DC99}"/>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8B8B246B-EA02-4451-A542-60F6C463A3FE}"/>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03</a:t>
            </a:r>
          </a:p>
        </p:txBody>
      </p:sp>
      <p:sp>
        <p:nvSpPr>
          <p:cNvPr id="4" name="">
            <a:extLst xmlns:a="http://schemas.openxmlformats.org/drawingml/2006/main">
              <a:ext uri="{FF2B5EF4-FFF2-40B4-BE49-F238E27FC236}">
                <a16:creationId xmlns:a16="http://schemas.microsoft.com/office/drawing/2014/main" id="{BE91E770-BC1C-4CA6-82AA-40711CE0282D}"/>
              </a:ext>
            </a:extLst>
          </p:cNvPr>
          <p:cNvSpPr>
            <a:spLocks xmlns:a="http://schemas.openxmlformats.org/drawingml/2006/main" noGrp="1"/>
          </p:cNvSpPr>
          <p:nvPr/>
        </p:nvSpPr>
        <p:spPr>
          <a:xfrm xmlns:a="http://schemas.openxmlformats.org/drawingml/2006/main">
            <a:off x="457200" y="1476375"/>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Pilots on the same 133 reports</a:t>
            </a:r>
          </a:p>
        </p:txBody>
      </p:sp>
      <p:sp>
        <p:nvSpPr>
          <p:cNvPr id="5" name="">
            <a:extLst xmlns:a="http://schemas.openxmlformats.org/drawingml/2006/main">
              <a:ext uri="{FF2B5EF4-FFF2-40B4-BE49-F238E27FC236}">
                <a16:creationId xmlns:a16="http://schemas.microsoft.com/office/drawing/2014/main" id="{4E396AC7-1A84-45E7-972F-5FDA0FE5EA51}"/>
              </a:ext>
            </a:extLst>
          </p:cNvPr>
          <p:cNvSpPr>
            <a:spLocks xmlns:a="http://schemas.openxmlformats.org/drawingml/2006/main" noGrp="1"/>
          </p:cNvSpPr>
          <p:nvPr/>
        </p:nvSpPr>
        <p:spPr>
          <a:xfrm xmlns:a="http://schemas.openxmlformats.org/drawingml/2006/main">
            <a:off x="457200" y="2143125"/>
            <a:ext cx="581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Joint exact match S1 + S2</a:t>
            </a:r>
          </a:p>
        </p:txBody>
      </p:sp>
      <p:graphicFrame>
        <p:nvGraphicFramePr>
          <p:cNvPr id="17" name="Chart"/>
          <p:cNvGraphicFramePr/>
          <p:nvPr/>
        </p:nvGraphicFramePr>
        <p:xfrm>
          <a:off xmlns:a="http://schemas.openxmlformats.org/drawingml/2006/main" x="333375" y="2609850"/>
          <a:ext xmlns:a="http://schemas.openxmlformats.org/drawingml/2006/main" cx="6143625" cy="2762250"/>
        </p:xfrm>
        <a:graphic xmlns:a="http://schemas.openxmlformats.org/drawingml/2006/main">
          <a:graphicData uri="http://schemas.openxmlformats.org/drawingml/2006/chart">
            <c:chart xmlns:r="http://schemas.openxmlformats.org/officeDocument/2006/relationships" xmlns:c="http://schemas.openxmlformats.org/drawingml/2006/chart" r:id="Ra864fdbfba8b422d"/>
          </a:graphicData>
        </a:graphic>
      </p:graphicFrame>
      <p:sp>
        <p:nvSpPr>
          <p:cNvPr id="7" name="">
            <a:extLst xmlns:a="http://schemas.openxmlformats.org/drawingml/2006/main">
              <a:ext uri="{FF2B5EF4-FFF2-40B4-BE49-F238E27FC236}">
                <a16:creationId xmlns:a16="http://schemas.microsoft.com/office/drawing/2014/main" id="{76FBA2F3-5F75-4E25-86ED-0272562CF520}"/>
              </a:ext>
            </a:extLst>
          </p:cNvPr>
          <p:cNvSpPr>
            <a:spLocks xmlns:a="http://schemas.openxmlformats.org/drawingml/2006/main" noGrp="1"/>
          </p:cNvSpPr>
          <p:nvPr/>
        </p:nvSpPr>
        <p:spPr>
          <a:xfrm xmlns:a="http://schemas.openxmlformats.org/drawingml/2006/main">
            <a:off x="457200" y="5562600"/>
            <a:ext cx="6096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LoRA: 625 examples, 80 steps.</a:t>
            </a:r>
          </a:p>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Findings limited to these pilots.</a:t>
            </a:r>
          </a:p>
        </p:txBody>
      </p:sp>
      <p:sp>
        <p:nvSpPr>
          <p:cNvPr id="8" name="">
            <a:extLst xmlns:a="http://schemas.openxmlformats.org/drawingml/2006/main">
              <a:ext uri="{FF2B5EF4-FFF2-40B4-BE49-F238E27FC236}">
                <a16:creationId xmlns:a16="http://schemas.microsoft.com/office/drawing/2014/main" id="{9F9F3157-3DCA-4818-AAAC-3A8EC5095896}"/>
              </a:ext>
            </a:extLst>
          </p:cNvPr>
          <p:cNvSpPr>
            <a:spLocks xmlns:a="http://schemas.openxmlformats.org/drawingml/2006/main" noGrp="1"/>
          </p:cNvSpPr>
          <p:nvPr/>
        </p:nvSpPr>
        <p:spPr>
          <a:xfrm xmlns:a="http://schemas.openxmlformats.org/drawingml/2006/main">
            <a:off x="7029450" y="1476375"/>
            <a:ext cx="4572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Classical models versus BETO</a:t>
            </a:r>
          </a:p>
        </p:txBody>
      </p:sp>
      <p:sp>
        <p:nvSpPr>
          <p:cNvPr id="9" name="">
            <a:extLst xmlns:a="http://schemas.openxmlformats.org/drawingml/2006/main">
              <a:ext uri="{FF2B5EF4-FFF2-40B4-BE49-F238E27FC236}">
                <a16:creationId xmlns:a16="http://schemas.microsoft.com/office/drawing/2014/main" id="{BA4C52AC-0A2D-47DD-9C5E-387C960E745F}"/>
              </a:ext>
            </a:extLst>
          </p:cNvPr>
          <p:cNvSpPr>
            <a:spLocks xmlns:a="http://schemas.openxmlformats.org/drawingml/2006/main" noGrp="1"/>
          </p:cNvSpPr>
          <p:nvPr/>
        </p:nvSpPr>
        <p:spPr>
          <a:xfrm xmlns:a="http://schemas.openxmlformats.org/drawingml/2006/main">
            <a:off x="7029450" y="226695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Full development · Different recipes</a:t>
            </a:r>
          </a:p>
        </p:txBody>
      </p:sp>
      <p:graphicFrame>
        <p:nvGraphicFramePr>
          <p:cNvPr id="21" name=""/>
          <p:cNvGraphicFramePr/>
          <p:nvPr/>
        </p:nvGraphicFramePr>
        <p:xfrm>
          <a:off xmlns:a="http://schemas.openxmlformats.org/drawingml/2006/main" x="6762750" y="2962275"/>
          <a:ext xmlns:a="http://schemas.openxmlformats.org/drawingml/2006/main" cx="4933950" cy="2209800"/>
        </p:xfrm>
        <a:graphic xmlns:a="http://schemas.openxmlformats.org/drawingml/2006/main">
          <a:graphicData uri="http://schemas.openxmlformats.org/drawingml/2006/table">
            <a:tbl>
              <a:tblPr/>
              <a:tblGrid>
                <a:gridCol w="2114550"/>
                <a:gridCol w="1409700"/>
                <a:gridCol w="1409700"/>
              </a:tblGrid>
              <a:tr h="552450">
                <a:tc>
                  <a:txBody>
                    <a:bodyPr/>
                    <a:lstStyle/>
                    <a:p>
                      <a:r>
                        <a:rPr sz="1725" b="1">
                          <a:solidFill>
                            <a:srgbClr val="2C637F"/>
                          </a:solidFill>
                          <a:latin typeface="Inter"/>
                          <a:ea typeface="Inter"/>
                          <a:cs typeface="Inter"/>
                        </a:rPr>
                        <a:t>Metric</a:t>
                      </a:r>
                    </a:p>
                  </a:txBody>
                  <a:tcPr marL="91440" marR="91440" marT="45720" marB="45720">
                    <a:solidFill>
                      <a:srgbClr val="E2F2FA"/>
                    </a:solidFill>
                  </a:tcPr>
                </a:tc>
                <a:tc>
                  <a:txBody>
                    <a:bodyPr/>
                    <a:lstStyle/>
                    <a:p>
                      <a:r>
                        <a:rPr sz="1725" b="1">
                          <a:solidFill>
                            <a:srgbClr val="2C637F"/>
                          </a:solidFill>
                          <a:latin typeface="Inter"/>
                          <a:ea typeface="Inter"/>
                          <a:cs typeface="Inter"/>
                        </a:rPr>
                        <a:t>Classical</a:t>
                      </a:r>
                    </a:p>
                  </a:txBody>
                  <a:tcPr marL="91440" marR="91440" marT="45720" marB="45720">
                    <a:solidFill>
                      <a:srgbClr val="E2F2FA"/>
                    </a:solidFill>
                  </a:tcPr>
                </a:tc>
                <a:tc>
                  <a:txBody>
                    <a:bodyPr/>
                    <a:lstStyle/>
                    <a:p>
                      <a:r>
                        <a:rPr sz="1725" b="1">
                          <a:solidFill>
                            <a:srgbClr val="2C637F"/>
                          </a:solidFill>
                          <a:latin typeface="Inter"/>
                          <a:ea typeface="Inter"/>
                          <a:cs typeface="Inter"/>
                        </a:rPr>
                        <a:t>BETO</a:t>
                      </a:r>
                    </a:p>
                  </a:txBody>
                  <a:tcPr marL="91440" marR="91440" marT="45720" marB="45720">
                    <a:solidFill>
                      <a:srgbClr val="E2F2FA"/>
                    </a:solidFill>
                  </a:tcPr>
                </a:tc>
              </a:tr>
              <a:tr h="552450">
                <a:tc>
                  <a:txBody>
                    <a:bodyPr/>
                    <a:lstStyle/>
                    <a:p>
                      <a:r>
                        <a:rPr sz="1725" b="0">
                          <a:solidFill>
                            <a:srgbClr val="152E3C"/>
                          </a:solidFill>
                          <a:latin typeface="Inter"/>
                          <a:ea typeface="Inter"/>
                          <a:cs typeface="Inter"/>
                        </a:rPr>
                        <a:t>S1 macro-F1</a:t>
                      </a:r>
                    </a:p>
                  </a:txBody>
                  <a:tcPr marL="91440" marR="91440" marT="45720" marB="45720">
                    <a:solidFill>
                      <a:srgbClr val="FFFFFF"/>
                    </a:solidFill>
                  </a:tcPr>
                </a:tc>
                <a:tc>
                  <a:txBody>
                    <a:bodyPr/>
                    <a:lstStyle/>
                    <a:p>
                      <a:r>
                        <a:rPr sz="1725" b="0">
                          <a:solidFill>
                            <a:srgbClr val="152E3C"/>
                          </a:solidFill>
                          <a:latin typeface="Inter"/>
                          <a:ea typeface="Inter"/>
                          <a:cs typeface="Inter"/>
                        </a:rPr>
                        <a:t>0.4974*</a:t>
                      </a:r>
                    </a:p>
                  </a:txBody>
                  <a:tcPr marL="91440" marR="91440" marT="45720" marB="45720">
                    <a:solidFill>
                      <a:srgbClr val="FFFFFF"/>
                    </a:solidFill>
                  </a:tcPr>
                </a:tc>
                <a:tc>
                  <a:txBody>
                    <a:bodyPr/>
                    <a:lstStyle/>
                    <a:p>
                      <a:r>
                        <a:rPr sz="1725" b="0">
                          <a:solidFill>
                            <a:srgbClr val="152E3C"/>
                          </a:solidFill>
                          <a:latin typeface="Inter"/>
                          <a:ea typeface="Inter"/>
                          <a:cs typeface="Inter"/>
                        </a:rPr>
                        <a:t>0.5429</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macro-F1</a:t>
                      </a:r>
                    </a:p>
                  </a:txBody>
                  <a:tcPr marL="91440" marR="91440" marT="45720" marB="45720">
                    <a:solidFill>
                      <a:srgbClr val="FFFFFF"/>
                    </a:solidFill>
                  </a:tcPr>
                </a:tc>
                <a:tc>
                  <a:txBody>
                    <a:bodyPr/>
                    <a:lstStyle/>
                    <a:p>
                      <a:r>
                        <a:rPr sz="1725" b="0">
                          <a:solidFill>
                            <a:srgbClr val="152E3C"/>
                          </a:solidFill>
                          <a:latin typeface="Inter"/>
                          <a:ea typeface="Inter"/>
                          <a:cs typeface="Inter"/>
                        </a:rPr>
                        <a:t>0.7642</a:t>
                      </a:r>
                    </a:p>
                  </a:txBody>
                  <a:tcPr marL="91440" marR="91440" marT="45720" marB="45720">
                    <a:solidFill>
                      <a:srgbClr val="FFFFFF"/>
                    </a:solidFill>
                  </a:tcPr>
                </a:tc>
                <a:tc>
                  <a:txBody>
                    <a:bodyPr/>
                    <a:lstStyle/>
                    <a:p>
                      <a:r>
                        <a:rPr sz="1725" b="0">
                          <a:solidFill>
                            <a:srgbClr val="152E3C"/>
                          </a:solidFill>
                          <a:latin typeface="Inter"/>
                          <a:ea typeface="Inter"/>
                          <a:cs typeface="Inter"/>
                        </a:rPr>
                        <a:t>0.8198</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micro-F1</a:t>
                      </a:r>
                    </a:p>
                  </a:txBody>
                  <a:tcPr marL="91440" marR="91440" marT="45720" marB="45720">
                    <a:solidFill>
                      <a:srgbClr val="FFFFFF"/>
                    </a:solidFill>
                  </a:tcPr>
                </a:tc>
                <a:tc>
                  <a:txBody>
                    <a:bodyPr/>
                    <a:lstStyle/>
                    <a:p>
                      <a:r>
                        <a:rPr sz="1725" b="0">
                          <a:solidFill>
                            <a:srgbClr val="152E3C"/>
                          </a:solidFill>
                          <a:latin typeface="Inter"/>
                          <a:ea typeface="Inter"/>
                          <a:cs typeface="Inter"/>
                        </a:rPr>
                        <a:t>0.8449</a:t>
                      </a:r>
                    </a:p>
                  </a:txBody>
                  <a:tcPr marL="91440" marR="91440" marT="45720" marB="45720">
                    <a:solidFill>
                      <a:srgbClr val="FFFFFF"/>
                    </a:solidFill>
                  </a:tcPr>
                </a:tc>
                <a:tc>
                  <a:txBody>
                    <a:bodyPr/>
                    <a:lstStyle/>
                    <a:p>
                      <a:r>
                        <a:rPr sz="1725" b="0">
                          <a:solidFill>
                            <a:srgbClr val="152E3C"/>
                          </a:solidFill>
                          <a:latin typeface="Inter"/>
                          <a:ea typeface="Inter"/>
                          <a:cs typeface="Inter"/>
                        </a:rPr>
                        <a:t>0.8685</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DB36B4B5-6DF6-4C12-A816-FD236244ABE9}"/>
              </a:ext>
            </a:extLst>
          </p:cNvPr>
          <p:cNvSpPr>
            <a:spLocks xmlns:a="http://schemas.openxmlformats.org/drawingml/2006/main" noGrp="1"/>
          </p:cNvSpPr>
          <p:nvPr/>
        </p:nvSpPr>
        <p:spPr>
          <a:xfrm xmlns:a="http://schemas.openxmlformats.org/drawingml/2006/main">
            <a:off x="6762750" y="5448300"/>
            <a:ext cx="49339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*S1: early classical reference.</a:t>
            </a:r>
          </a:p>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S2: character SVM / BETO threshold 0.45.</a:t>
            </a:r>
          </a:p>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Panels use different metrics.</a:t>
            </a:r>
          </a:p>
        </p:txBody>
      </p:sp>
    </p:spTree>
    <p:extLst>
      <p:ext uri="{BB962C8B-B14F-4D97-AF65-F5344CB8AC3E}">
        <p14:creationId xmlns:p14="http://schemas.microsoft.com/office/powerpoint/2010/main" val="32985487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CC2CCB33-2040-4F0A-8352-2119725A83BA}"/>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The problem determines the outputs</a:t>
            </a:r>
          </a:p>
        </p:txBody>
      </p:sp>
      <p:sp>
        <p:nvSpPr>
          <p:cNvPr id="2" name="">
            <a:extLst xmlns:a="http://schemas.openxmlformats.org/drawingml/2006/main">
              <a:ext uri="{FF2B5EF4-FFF2-40B4-BE49-F238E27FC236}">
                <a16:creationId xmlns:a16="http://schemas.microsoft.com/office/drawing/2014/main" id="{9E5A0648-5B29-431A-9618-1BC78309180B}"/>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68080D7C-8E21-47A1-8D64-3A9CF60D531D}"/>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04</a:t>
            </a:r>
          </a:p>
        </p:txBody>
      </p:sp>
      <p:sp>
        <p:nvSpPr>
          <p:cNvPr id="4" name="">
            <a:extLst xmlns:a="http://schemas.openxmlformats.org/drawingml/2006/main">
              <a:ext uri="{FF2B5EF4-FFF2-40B4-BE49-F238E27FC236}">
                <a16:creationId xmlns:a16="http://schemas.microsoft.com/office/drawing/2014/main" id="{E8CD9A62-1A57-41F8-A3C4-2E339A77B489}"/>
              </a:ext>
            </a:extLst>
          </p:cNvPr>
          <p:cNvSpPr>
            <a:spLocks xmlns:a="http://schemas.openxmlformats.org/drawingml/2006/main" noGrp="1"/>
          </p:cNvSpPr>
          <p:nvPr/>
        </p:nvSpPr>
        <p:spPr>
          <a:xfrm xmlns:a="http://schemas.openxmlformats.org/drawingml/2006/main">
            <a:off x="457200" y="1419225"/>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S1 · Augmented BETO recipe (augrep08)</a:t>
            </a:r>
          </a:p>
        </p:txBody>
      </p:sp>
      <p:sp>
        <p:nvSpPr>
          <p:cNvPr id="5" name="">
            <a:extLst xmlns:a="http://schemas.openxmlformats.org/drawingml/2006/main">
              <a:ext uri="{FF2B5EF4-FFF2-40B4-BE49-F238E27FC236}">
                <a16:creationId xmlns:a16="http://schemas.microsoft.com/office/drawing/2014/main" id="{3E9C8837-C6B0-4E92-B329-66B546A8AF1E}"/>
              </a:ext>
            </a:extLst>
          </p:cNvPr>
          <p:cNvSpPr>
            <a:spLocks xmlns:a="http://schemas.openxmlformats.org/drawingml/2006/main" noGrp="1"/>
          </p:cNvSpPr>
          <p:nvPr/>
        </p:nvSpPr>
        <p:spPr>
          <a:xfrm xmlns:a="http://schemas.openxmlformats.org/drawingml/2006/main">
            <a:off x="457200" y="2247900"/>
            <a:ext cx="1885950" cy="9620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62222D3B-2DA8-4831-B1EB-F078B85D02C7}"/>
              </a:ext>
            </a:extLst>
          </p:cNvPr>
          <p:cNvSpPr>
            <a:spLocks xmlns:a="http://schemas.openxmlformats.org/drawingml/2006/main" noGrp="1"/>
          </p:cNvSpPr>
          <p:nvPr/>
        </p:nvSpPr>
        <p:spPr>
          <a:xfrm xmlns:a="http://schemas.openxmlformats.org/drawingml/2006/main">
            <a:off x="600075" y="2371725"/>
            <a:ext cx="16002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Text</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512 tokens</a:t>
            </a:r>
          </a:p>
        </p:txBody>
      </p:sp>
      <p:sp>
        <p:nvSpPr>
          <p:cNvPr id="7" name="">
            <a:extLst xmlns:a="http://schemas.openxmlformats.org/drawingml/2006/main">
              <a:ext uri="{FF2B5EF4-FFF2-40B4-BE49-F238E27FC236}">
                <a16:creationId xmlns:a16="http://schemas.microsoft.com/office/drawing/2014/main" id="{7A65ADC5-D7CF-4999-9558-F13B6A9D96EB}"/>
              </a:ext>
            </a:extLst>
          </p:cNvPr>
          <p:cNvSpPr>
            <a:spLocks xmlns:a="http://schemas.openxmlformats.org/drawingml/2006/main" noGrp="1"/>
          </p:cNvSpPr>
          <p:nvPr/>
        </p:nvSpPr>
        <p:spPr>
          <a:xfrm xmlns:a="http://schemas.openxmlformats.org/drawingml/2006/main">
            <a:off x="2809875" y="2343150"/>
            <a:ext cx="1581150" cy="762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BF899E03-CCEE-4B20-BA8F-FE6784A0CFC0}"/>
              </a:ext>
            </a:extLst>
          </p:cNvPr>
          <p:cNvSpPr>
            <a:spLocks xmlns:a="http://schemas.openxmlformats.org/drawingml/2006/main" noGrp="1"/>
          </p:cNvSpPr>
          <p:nvPr/>
        </p:nvSpPr>
        <p:spPr>
          <a:xfrm xmlns:a="http://schemas.openxmlformats.org/drawingml/2006/main">
            <a:off x="2952750" y="2466975"/>
            <a:ext cx="1295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p:txBody>
      </p:sp>
      <p:sp>
        <p:nvSpPr>
          <p:cNvPr id="9" name="">
            <a:extLst xmlns:a="http://schemas.openxmlformats.org/drawingml/2006/main">
              <a:ext uri="{FF2B5EF4-FFF2-40B4-BE49-F238E27FC236}">
                <a16:creationId xmlns:a16="http://schemas.microsoft.com/office/drawing/2014/main" id="{9D22F910-D367-42CA-8386-40A05435D39C}"/>
              </a:ext>
            </a:extLst>
          </p:cNvPr>
          <p:cNvSpPr>
            <a:spLocks xmlns:a="http://schemas.openxmlformats.org/drawingml/2006/main" noGrp="1"/>
          </p:cNvSpPr>
          <p:nvPr/>
        </p:nvSpPr>
        <p:spPr>
          <a:xfrm xmlns:a="http://schemas.openxmlformats.org/drawingml/2006/main">
            <a:off x="5114925" y="1905000"/>
            <a:ext cx="6524625" cy="8286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D4701803-9A4B-4F46-B61D-DB7027B1E5BE}"/>
              </a:ext>
            </a:extLst>
          </p:cNvPr>
          <p:cNvSpPr>
            <a:spLocks xmlns:a="http://schemas.openxmlformats.org/drawingml/2006/main" noGrp="1"/>
          </p:cNvSpPr>
          <p:nvPr/>
        </p:nvSpPr>
        <p:spPr>
          <a:xfrm xmlns:a="http://schemas.openxmlformats.org/drawingml/2006/main">
            <a:off x="5257800" y="2028825"/>
            <a:ext cx="62388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Softmax</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Mild / Medium / High / Severe</a:t>
            </a:r>
          </a:p>
        </p:txBody>
      </p:sp>
      <p:sp>
        <p:nvSpPr>
          <p:cNvPr id="11" name="">
            <a:extLst xmlns:a="http://schemas.openxmlformats.org/drawingml/2006/main">
              <a:ext uri="{FF2B5EF4-FFF2-40B4-BE49-F238E27FC236}">
                <a16:creationId xmlns:a16="http://schemas.microsoft.com/office/drawing/2014/main" id="{5A308861-7778-45B8-9CD0-71E76B861999}"/>
              </a:ext>
            </a:extLst>
          </p:cNvPr>
          <p:cNvSpPr>
            <a:spLocks xmlns:a="http://schemas.openxmlformats.org/drawingml/2006/main" noGrp="1"/>
          </p:cNvSpPr>
          <p:nvPr/>
        </p:nvSpPr>
        <p:spPr>
          <a:xfrm xmlns:a="http://schemas.openxmlformats.org/drawingml/2006/main">
            <a:off x="5114925" y="3333750"/>
            <a:ext cx="652462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FE7EE89A-FBFD-4FD0-B8FC-0B96C9862C0F}"/>
              </a:ext>
            </a:extLst>
          </p:cNvPr>
          <p:cNvSpPr>
            <a:spLocks xmlns:a="http://schemas.openxmlformats.org/drawingml/2006/main" noGrp="1"/>
          </p:cNvSpPr>
          <p:nvPr/>
        </p:nvSpPr>
        <p:spPr>
          <a:xfrm xmlns:a="http://schemas.openxmlformats.org/drawingml/2006/main">
            <a:off x="5257800" y="3457575"/>
            <a:ext cx="6238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Auxiliary head for 7 type labels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Soft labels where available</a:t>
            </a:r>
          </a:p>
        </p:txBody>
      </p:sp>
      <p:cxnSp>
        <p:nvCxnSpPr>
          <p:cNvPr id="38" name=""/>
          <p:cNvCxnSpPr>
            <a:stCxn xmlns:a="http://schemas.openxmlformats.org/drawingml/2006/main" id="5" idx="3"/>
            <a:endCxn xmlns:a="http://schemas.openxmlformats.org/drawingml/2006/main" id="7" idx="1"/>
          </p:cNvCxnSpPr>
          <p:nvPr/>
        </p:nvCxnSpPr>
        <p:spPr>
          <a:xfrm xmlns:a="http://schemas.openxmlformats.org/drawingml/2006/main" flipV="1">
            <a:off x="2343150" y="2724150"/>
            <a:ext cx="466725" cy="47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9" name=""/>
          <p:cNvCxnSpPr>
            <a:stCxn xmlns:a="http://schemas.openxmlformats.org/drawingml/2006/main" id="7" idx="3"/>
            <a:endCxn xmlns:a="http://schemas.openxmlformats.org/drawingml/2006/main" id="9" idx="1"/>
          </p:cNvCxnSpPr>
          <p:nvPr/>
        </p:nvCxnSpPr>
        <p:spPr>
          <a:xfrm xmlns:a="http://schemas.openxmlformats.org/drawingml/2006/main" flipV="1">
            <a:off x="4391025" y="2319338"/>
            <a:ext cx="723900" cy="40481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40" name=""/>
          <p:cNvCxnSpPr>
            <a:stCxn xmlns:a="http://schemas.openxmlformats.org/drawingml/2006/main" id="7" idx="3"/>
            <a:endCxn xmlns:a="http://schemas.openxmlformats.org/drawingml/2006/main" id="11" idx="1"/>
          </p:cNvCxnSpPr>
          <p:nvPr/>
        </p:nvCxnSpPr>
        <p:spPr>
          <a:xfrm xmlns:a="http://schemas.openxmlformats.org/drawingml/2006/main">
            <a:off x="4391025" y="2724150"/>
            <a:ext cx="723900" cy="101917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D2781623-8534-4121-90BB-27DAC59CC9CA}"/>
              </a:ext>
            </a:extLst>
          </p:cNvPr>
          <p:cNvSpPr>
            <a:spLocks xmlns:a="http://schemas.openxmlformats.org/drawingml/2006/main" noGrp="1"/>
          </p:cNvSpPr>
          <p:nvPr/>
        </p:nvSpPr>
        <p:spPr>
          <a:xfrm xmlns:a="http://schemas.openxmlformats.org/drawingml/2006/main">
            <a:off x="5286375" y="2857500"/>
            <a:ext cx="633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Weighted focal + ordinal distance (0.05)</a:t>
            </a:r>
          </a:p>
        </p:txBody>
      </p:sp>
      <p:sp>
        <p:nvSpPr>
          <p:cNvPr id="17" name="">
            <a:extLst xmlns:a="http://schemas.openxmlformats.org/drawingml/2006/main">
              <a:ext uri="{FF2B5EF4-FFF2-40B4-BE49-F238E27FC236}">
                <a16:creationId xmlns:a16="http://schemas.microsoft.com/office/drawing/2014/main" id="{ECAAE307-A29A-47AB-86BA-5554E4E36F62}"/>
              </a:ext>
            </a:extLst>
          </p:cNvPr>
          <p:cNvSpPr>
            <a:spLocks xmlns:a="http://schemas.openxmlformats.org/drawingml/2006/main" noGrp="1"/>
          </p:cNvSpPr>
          <p:nvPr/>
        </p:nvSpPr>
        <p:spPr>
          <a:xfrm xmlns:a="http://schemas.openxmlformats.org/drawingml/2006/main">
            <a:off x="5286375" y="4257675"/>
            <a:ext cx="6334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Masked BCE · Weight 0.3 · Includes N/A</a:t>
            </a:r>
          </a:p>
        </p:txBody>
      </p:sp>
      <p:sp>
        <p:nvSpPr>
          <p:cNvPr id="18" name="">
            <a:extLst xmlns:a="http://schemas.openxmlformats.org/drawingml/2006/main">
              <a:ext uri="{FF2B5EF4-FFF2-40B4-BE49-F238E27FC236}">
                <a16:creationId xmlns:a16="http://schemas.microsoft.com/office/drawing/2014/main" id="{77CD5E6B-034B-4E4D-9762-A70EEF55DFD9}"/>
              </a:ext>
            </a:extLst>
          </p:cNvPr>
          <p:cNvSpPr>
            <a:spLocks xmlns:a="http://schemas.openxmlformats.org/drawingml/2006/main" noGrp="1"/>
          </p:cNvSpPr>
          <p:nvPr/>
        </p:nvSpPr>
        <p:spPr>
          <a:xfrm xmlns:a="http://schemas.openxmlformats.org/drawingml/2006/main">
            <a:off x="457200" y="3476625"/>
            <a:ext cx="3905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Whitespace normalization</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Tokenization and truncation</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Padding within each batch</a:t>
            </a:r>
          </a:p>
        </p:txBody>
      </p:sp>
      <p:sp>
        <p:nvSpPr>
          <p:cNvPr id="19" name="">
            <a:extLst xmlns:a="http://schemas.openxmlformats.org/drawingml/2006/main">
              <a:ext uri="{FF2B5EF4-FFF2-40B4-BE49-F238E27FC236}">
                <a16:creationId xmlns:a16="http://schemas.microsoft.com/office/drawing/2014/main" id="{B4E8373B-365D-4325-922F-3D8F8DE93017}"/>
              </a:ext>
            </a:extLst>
          </p:cNvPr>
          <p:cNvSpPr>
            <a:spLocks xmlns:a="http://schemas.openxmlformats.org/drawingml/2006/main" noGrp="1"/>
          </p:cNvSpPr>
          <p:nvPr/>
        </p:nvSpPr>
        <p:spPr>
          <a:xfrm xmlns:a="http://schemas.openxmlformats.org/drawingml/2006/main">
            <a:off x="457200" y="4762500"/>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S2 · Separate final component</a:t>
            </a:r>
          </a:p>
        </p:txBody>
      </p:sp>
      <p:sp>
        <p:nvSpPr>
          <p:cNvPr id="20" name="">
            <a:extLst xmlns:a="http://schemas.openxmlformats.org/drawingml/2006/main">
              <a:ext uri="{FF2B5EF4-FFF2-40B4-BE49-F238E27FC236}">
                <a16:creationId xmlns:a16="http://schemas.microsoft.com/office/drawing/2014/main" id="{05A32144-E66E-479A-B019-35DED7382765}"/>
              </a:ext>
            </a:extLst>
          </p:cNvPr>
          <p:cNvSpPr>
            <a:spLocks xmlns:a="http://schemas.openxmlformats.org/drawingml/2006/main" noGrp="1"/>
          </p:cNvSpPr>
          <p:nvPr/>
        </p:nvSpPr>
        <p:spPr>
          <a:xfrm xmlns:a="http://schemas.openxmlformats.org/drawingml/2006/main">
            <a:off x="457200" y="5257800"/>
            <a:ext cx="242887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820B447B-446E-440F-A364-3E5429FD0B30}"/>
              </a:ext>
            </a:extLst>
          </p:cNvPr>
          <p:cNvSpPr>
            <a:spLocks xmlns:a="http://schemas.openxmlformats.org/drawingml/2006/main" noGrp="1"/>
          </p:cNvSpPr>
          <p:nvPr/>
        </p:nvSpPr>
        <p:spPr>
          <a:xfrm xmlns:a="http://schemas.openxmlformats.org/drawingml/2006/main">
            <a:off x="600075" y="5381625"/>
            <a:ext cx="2143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384 tokens</a:t>
            </a:r>
          </a:p>
        </p:txBody>
      </p:sp>
      <p:sp>
        <p:nvSpPr>
          <p:cNvPr id="22" name="">
            <a:extLst xmlns:a="http://schemas.openxmlformats.org/drawingml/2006/main">
              <a:ext uri="{FF2B5EF4-FFF2-40B4-BE49-F238E27FC236}">
                <a16:creationId xmlns:a16="http://schemas.microsoft.com/office/drawing/2014/main" id="{D6E640B4-BC45-47B7-897E-85C357FA8D5A}"/>
              </a:ext>
            </a:extLst>
          </p:cNvPr>
          <p:cNvSpPr>
            <a:spLocks xmlns:a="http://schemas.openxmlformats.org/drawingml/2006/main" noGrp="1"/>
          </p:cNvSpPr>
          <p:nvPr/>
        </p:nvSpPr>
        <p:spPr>
          <a:xfrm xmlns:a="http://schemas.openxmlformats.org/drawingml/2006/main">
            <a:off x="3390900" y="5257800"/>
            <a:ext cx="2476500"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3" name="">
            <a:extLst xmlns:a="http://schemas.openxmlformats.org/drawingml/2006/main">
              <a:ext uri="{FF2B5EF4-FFF2-40B4-BE49-F238E27FC236}">
                <a16:creationId xmlns:a16="http://schemas.microsoft.com/office/drawing/2014/main" id="{2DF5CA37-451A-4BFF-8934-D07818888E46}"/>
              </a:ext>
            </a:extLst>
          </p:cNvPr>
          <p:cNvSpPr>
            <a:spLocks xmlns:a="http://schemas.openxmlformats.org/drawingml/2006/main" noGrp="1"/>
          </p:cNvSpPr>
          <p:nvPr/>
        </p:nvSpPr>
        <p:spPr>
          <a:xfrm xmlns:a="http://schemas.openxmlformats.org/drawingml/2006/main">
            <a:off x="3533775" y="5381625"/>
            <a:ext cx="2190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 sigmoid</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Threshold ≥ 0.45</a:t>
            </a:r>
          </a:p>
        </p:txBody>
      </p:sp>
      <p:cxnSp>
        <p:nvCxnSpPr>
          <p:cNvPr id="49" name=""/>
          <p:cNvCxnSpPr>
            <a:stCxn xmlns:a="http://schemas.openxmlformats.org/drawingml/2006/main" id="20" idx="3"/>
            <a:endCxn xmlns:a="http://schemas.openxmlformats.org/drawingml/2006/main" id="22" idx="1"/>
          </p:cNvCxnSpPr>
          <p:nvPr/>
        </p:nvCxnSpPr>
        <p:spPr>
          <a:xfrm xmlns:a="http://schemas.openxmlformats.org/drawingml/2006/main">
            <a:off x="2886075" y="5667375"/>
            <a:ext cx="5048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5" name="">
            <a:extLst xmlns:a="http://schemas.openxmlformats.org/drawingml/2006/main">
              <a:ext uri="{FF2B5EF4-FFF2-40B4-BE49-F238E27FC236}">
                <a16:creationId xmlns:a16="http://schemas.microsoft.com/office/drawing/2014/main" id="{356D0365-6111-4362-8FA6-82001ED564C9}"/>
              </a:ext>
            </a:extLst>
          </p:cNvPr>
          <p:cNvSpPr>
            <a:spLocks xmlns:a="http://schemas.openxmlformats.org/drawingml/2006/main" noGrp="1"/>
          </p:cNvSpPr>
          <p:nvPr/>
        </p:nvSpPr>
        <p:spPr>
          <a:xfrm xmlns:a="http://schemas.openxmlformats.org/drawingml/2006/main">
            <a:off x="6324600" y="5219700"/>
            <a:ext cx="5410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Economic, Physical, Property-related,</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Psychological, Sexual, Vicarious</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N/A when none is active</a:t>
            </a:r>
          </a:p>
        </p:txBody>
      </p:sp>
    </p:spTree>
    <p:extLst>
      <p:ext uri="{BB962C8B-B14F-4D97-AF65-F5344CB8AC3E}">
        <p14:creationId xmlns:p14="http://schemas.microsoft.com/office/powerpoint/2010/main" val="36014548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AA4D78A8-DFE7-4BAB-9A0E-A4768458EF41}"/>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Targeted Severe augmentation</a:t>
            </a:r>
          </a:p>
        </p:txBody>
      </p:sp>
      <p:sp>
        <p:nvSpPr>
          <p:cNvPr id="2" name="">
            <a:extLst xmlns:a="http://schemas.openxmlformats.org/drawingml/2006/main">
              <a:ext uri="{FF2B5EF4-FFF2-40B4-BE49-F238E27FC236}">
                <a16:creationId xmlns:a16="http://schemas.microsoft.com/office/drawing/2014/main" id="{FA68CD2C-355C-41BC-A4C9-84923CF2BDED}"/>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0274A1A8-91AC-4899-9774-BCBE95FF6D38}"/>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05</a:t>
            </a:r>
          </a:p>
        </p:txBody>
      </p:sp>
      <p:sp>
        <p:nvSpPr>
          <p:cNvPr id="4" name="">
            <a:extLst xmlns:a="http://schemas.openxmlformats.org/drawingml/2006/main">
              <a:ext uri="{FF2B5EF4-FFF2-40B4-BE49-F238E27FC236}">
                <a16:creationId xmlns:a16="http://schemas.microsoft.com/office/drawing/2014/main" id="{C80AAD6B-3C39-4A82-A31E-3DE97C5C173C}"/>
              </a:ext>
            </a:extLst>
          </p:cNvPr>
          <p:cNvSpPr>
            <a:spLocks xmlns:a="http://schemas.openxmlformats.org/drawingml/2006/main" noGrp="1"/>
          </p:cNvSpPr>
          <p:nvPr/>
        </p:nvSpPr>
        <p:spPr>
          <a:xfrm xmlns:a="http://schemas.openxmlformats.org/drawingml/2006/main">
            <a:off x="457200" y="136207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Training only · Originals retained · Labels inherited</a:t>
            </a:r>
          </a:p>
        </p:txBody>
      </p:sp>
      <p:sp>
        <p:nvSpPr>
          <p:cNvPr id="5" name="">
            <a:extLst xmlns:a="http://schemas.openxmlformats.org/drawingml/2006/main">
              <a:ext uri="{FF2B5EF4-FFF2-40B4-BE49-F238E27FC236}">
                <a16:creationId xmlns:a16="http://schemas.microsoft.com/office/drawing/2014/main" id="{4182CEF7-55CD-4BB6-BD6C-0B2C0393AFCF}"/>
              </a:ext>
            </a:extLst>
          </p:cNvPr>
          <p:cNvSpPr>
            <a:spLocks xmlns:a="http://schemas.openxmlformats.org/drawingml/2006/main" noGrp="1"/>
          </p:cNvSpPr>
          <p:nvPr/>
        </p:nvSpPr>
        <p:spPr>
          <a:xfrm xmlns:a="http://schemas.openxmlformats.org/drawingml/2006/main">
            <a:off x="457200" y="2019300"/>
            <a:ext cx="2447925"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60115177-9591-4156-BCEC-0E49F94109FD}"/>
              </a:ext>
            </a:extLst>
          </p:cNvPr>
          <p:cNvSpPr>
            <a:spLocks xmlns:a="http://schemas.openxmlformats.org/drawingml/2006/main" noGrp="1"/>
          </p:cNvSpPr>
          <p:nvPr/>
        </p:nvSpPr>
        <p:spPr>
          <a:xfrm xmlns:a="http://schemas.openxmlformats.org/drawingml/2006/main">
            <a:off x="600075" y="2143125"/>
            <a:ext cx="21621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616 Severe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13,630 reports</a:t>
            </a:r>
          </a:p>
        </p:txBody>
      </p:sp>
      <p:sp>
        <p:nvSpPr>
          <p:cNvPr id="7" name="">
            <a:extLst xmlns:a="http://schemas.openxmlformats.org/drawingml/2006/main">
              <a:ext uri="{FF2B5EF4-FFF2-40B4-BE49-F238E27FC236}">
                <a16:creationId xmlns:a16="http://schemas.microsoft.com/office/drawing/2014/main" id="{63F9A83C-B8C4-4094-96C5-87B26F5229F5}"/>
              </a:ext>
            </a:extLst>
          </p:cNvPr>
          <p:cNvSpPr>
            <a:spLocks xmlns:a="http://schemas.openxmlformats.org/drawingml/2006/main" noGrp="1"/>
          </p:cNvSpPr>
          <p:nvPr/>
        </p:nvSpPr>
        <p:spPr>
          <a:xfrm xmlns:a="http://schemas.openxmlformats.org/drawingml/2006/main">
            <a:off x="3562350" y="2019300"/>
            <a:ext cx="421005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145C7C2F-1D6D-4490-AA63-EC4B8FED9886}"/>
              </a:ext>
            </a:extLst>
          </p:cNvPr>
          <p:cNvSpPr>
            <a:spLocks xmlns:a="http://schemas.openxmlformats.org/drawingml/2006/main" noGrp="1"/>
          </p:cNvSpPr>
          <p:nvPr/>
        </p:nvSpPr>
        <p:spPr>
          <a:xfrm xmlns:a="http://schemas.openxmlformats.org/drawingml/2006/main">
            <a:off x="3705225" y="2143125"/>
            <a:ext cx="39243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Cues from the original</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Relationship, time, actions</a:t>
            </a:r>
          </a:p>
        </p:txBody>
      </p:sp>
      <p:sp>
        <p:nvSpPr>
          <p:cNvPr id="9" name="">
            <a:extLst xmlns:a="http://schemas.openxmlformats.org/drawingml/2006/main">
              <a:ext uri="{FF2B5EF4-FFF2-40B4-BE49-F238E27FC236}">
                <a16:creationId xmlns:a16="http://schemas.microsoft.com/office/drawing/2014/main" id="{69B7650B-A7EB-4113-9218-795DB3274CC8}"/>
              </a:ext>
            </a:extLst>
          </p:cNvPr>
          <p:cNvSpPr>
            <a:spLocks xmlns:a="http://schemas.openxmlformats.org/drawingml/2006/main" noGrp="1"/>
          </p:cNvSpPr>
          <p:nvPr/>
        </p:nvSpPr>
        <p:spPr>
          <a:xfrm xmlns:a="http://schemas.openxmlformats.org/drawingml/2006/main">
            <a:off x="8439150" y="2019300"/>
            <a:ext cx="323850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D3A5D5E2-F2BB-4BE7-B02C-3AD8FCA542F4}"/>
              </a:ext>
            </a:extLst>
          </p:cNvPr>
          <p:cNvSpPr>
            <a:spLocks xmlns:a="http://schemas.openxmlformats.org/drawingml/2006/main" noGrp="1"/>
          </p:cNvSpPr>
          <p:nvPr/>
        </p:nvSpPr>
        <p:spPr>
          <a:xfrm xmlns:a="http://schemas.openxmlformats.org/drawingml/2006/main">
            <a:off x="8582025" y="214312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+516 texts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At most 2 per source</a:t>
            </a:r>
          </a:p>
        </p:txBody>
      </p:sp>
      <p:cxnSp>
        <p:nvCxnSpPr>
          <p:cNvPr id="36" name=""/>
          <p:cNvCxnSpPr>
            <a:stCxn xmlns:a="http://schemas.openxmlformats.org/drawingml/2006/main" id="5" idx="3"/>
            <a:endCxn xmlns:a="http://schemas.openxmlformats.org/drawingml/2006/main" id="7" idx="1"/>
          </p:cNvCxnSpPr>
          <p:nvPr/>
        </p:nvCxnSpPr>
        <p:spPr>
          <a:xfrm xmlns:a="http://schemas.openxmlformats.org/drawingml/2006/main">
            <a:off x="2905125" y="2519363"/>
            <a:ext cx="6572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7" idx="3"/>
            <a:endCxn xmlns:a="http://schemas.openxmlformats.org/drawingml/2006/main" id="9" idx="1"/>
          </p:cNvCxnSpPr>
          <p:nvPr/>
        </p:nvCxnSpPr>
        <p:spPr>
          <a:xfrm xmlns:a="http://schemas.openxmlformats.org/drawingml/2006/main">
            <a:off x="7772400" y="2519363"/>
            <a:ext cx="66675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3" name="">
            <a:extLst xmlns:a="http://schemas.openxmlformats.org/drawingml/2006/main">
              <a:ext uri="{FF2B5EF4-FFF2-40B4-BE49-F238E27FC236}">
                <a16:creationId xmlns:a16="http://schemas.microsoft.com/office/drawing/2014/main" id="{631437EC-BB4F-44A4-AEE7-AA51BE55C476}"/>
              </a:ext>
            </a:extLst>
          </p:cNvPr>
          <p:cNvSpPr>
            <a:spLocks xmlns:a="http://schemas.openxmlformats.org/drawingml/2006/main" noGrp="1"/>
          </p:cNvSpPr>
          <p:nvPr/>
        </p:nvSpPr>
        <p:spPr>
          <a:xfrm xmlns:a="http://schemas.openxmlformats.org/drawingml/2006/main">
            <a:off x="457200" y="3429000"/>
            <a:ext cx="709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Composition using report templates</a:t>
            </a:r>
          </a:p>
        </p:txBody>
      </p:sp>
      <p:sp>
        <p:nvSpPr>
          <p:cNvPr id="14" name="">
            <a:extLst xmlns:a="http://schemas.openxmlformats.org/drawingml/2006/main">
              <a:ext uri="{FF2B5EF4-FFF2-40B4-BE49-F238E27FC236}">
                <a16:creationId xmlns:a16="http://schemas.microsoft.com/office/drawing/2014/main" id="{26C9FCFB-C083-4B56-84B7-2B82A698261E}"/>
              </a:ext>
            </a:extLst>
          </p:cNvPr>
          <p:cNvSpPr>
            <a:spLocks xmlns:a="http://schemas.openxmlformats.org/drawingml/2006/main" noGrp="1"/>
          </p:cNvSpPr>
          <p:nvPr/>
        </p:nvSpPr>
        <p:spPr>
          <a:xfrm xmlns:a="http://schemas.openxmlformats.org/drawingml/2006/main">
            <a:off x="4572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5" name="">
            <a:extLst xmlns:a="http://schemas.openxmlformats.org/drawingml/2006/main">
              <a:ext uri="{FF2B5EF4-FFF2-40B4-BE49-F238E27FC236}">
                <a16:creationId xmlns:a16="http://schemas.microsoft.com/office/drawing/2014/main" id="{AE807679-0958-433C-AA58-D008EE7C91BD}"/>
              </a:ext>
            </a:extLst>
          </p:cNvPr>
          <p:cNvSpPr>
            <a:spLocks xmlns:a="http://schemas.openxmlformats.org/drawingml/2006/main" noGrp="1"/>
          </p:cNvSpPr>
          <p:nvPr/>
        </p:nvSpPr>
        <p:spPr>
          <a:xfrm xmlns:a="http://schemas.openxmlformats.org/drawingml/2006/main">
            <a:off x="6000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Opening</a:t>
            </a:r>
          </a:p>
        </p:txBody>
      </p:sp>
      <p:sp>
        <p:nvSpPr>
          <p:cNvPr id="16" name="">
            <a:extLst xmlns:a="http://schemas.openxmlformats.org/drawingml/2006/main">
              <a:ext uri="{FF2B5EF4-FFF2-40B4-BE49-F238E27FC236}">
                <a16:creationId xmlns:a16="http://schemas.microsoft.com/office/drawing/2014/main" id="{6B0412E9-11EB-4EA0-9F0F-E9E3EA20BEC7}"/>
              </a:ext>
            </a:extLst>
          </p:cNvPr>
          <p:cNvSpPr>
            <a:spLocks xmlns:a="http://schemas.openxmlformats.org/drawingml/2006/main" noGrp="1"/>
          </p:cNvSpPr>
          <p:nvPr/>
        </p:nvSpPr>
        <p:spPr>
          <a:xfrm xmlns:a="http://schemas.openxmlformats.org/drawingml/2006/main">
            <a:off x="22860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7" name="">
            <a:extLst xmlns:a="http://schemas.openxmlformats.org/drawingml/2006/main">
              <a:ext uri="{FF2B5EF4-FFF2-40B4-BE49-F238E27FC236}">
                <a16:creationId xmlns:a16="http://schemas.microsoft.com/office/drawing/2014/main" id="{EFC2B3B3-5433-4CE8-91AC-45080E94B295}"/>
              </a:ext>
            </a:extLst>
          </p:cNvPr>
          <p:cNvSpPr>
            <a:spLocks xmlns:a="http://schemas.openxmlformats.org/drawingml/2006/main" noGrp="1"/>
          </p:cNvSpPr>
          <p:nvPr/>
        </p:nvSpPr>
        <p:spPr>
          <a:xfrm xmlns:a="http://schemas.openxmlformats.org/drawingml/2006/main">
            <a:off x="24288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Actions</a:t>
            </a:r>
          </a:p>
        </p:txBody>
      </p:sp>
      <p:sp>
        <p:nvSpPr>
          <p:cNvPr id="18" name="">
            <a:extLst xmlns:a="http://schemas.openxmlformats.org/drawingml/2006/main">
              <a:ext uri="{FF2B5EF4-FFF2-40B4-BE49-F238E27FC236}">
                <a16:creationId xmlns:a16="http://schemas.microsoft.com/office/drawing/2014/main" id="{A2C3B9FC-1128-48FC-930C-0A66CBF1BB22}"/>
              </a:ext>
            </a:extLst>
          </p:cNvPr>
          <p:cNvSpPr>
            <a:spLocks xmlns:a="http://schemas.openxmlformats.org/drawingml/2006/main" noGrp="1"/>
          </p:cNvSpPr>
          <p:nvPr/>
        </p:nvSpPr>
        <p:spPr>
          <a:xfrm xmlns:a="http://schemas.openxmlformats.org/drawingml/2006/main">
            <a:off x="41148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9" name="">
            <a:extLst xmlns:a="http://schemas.openxmlformats.org/drawingml/2006/main">
              <a:ext uri="{FF2B5EF4-FFF2-40B4-BE49-F238E27FC236}">
                <a16:creationId xmlns:a16="http://schemas.microsoft.com/office/drawing/2014/main" id="{F4423DB3-3665-4D42-89EA-31A5D5331EA0}"/>
              </a:ext>
            </a:extLst>
          </p:cNvPr>
          <p:cNvSpPr>
            <a:spLocks xmlns:a="http://schemas.openxmlformats.org/drawingml/2006/main" noGrp="1"/>
          </p:cNvSpPr>
          <p:nvPr/>
        </p:nvSpPr>
        <p:spPr>
          <a:xfrm xmlns:a="http://schemas.openxmlformats.org/drawingml/2006/main">
            <a:off x="42576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Context</a:t>
            </a:r>
          </a:p>
        </p:txBody>
      </p:sp>
      <p:sp>
        <p:nvSpPr>
          <p:cNvPr id="20" name="">
            <a:extLst xmlns:a="http://schemas.openxmlformats.org/drawingml/2006/main">
              <a:ext uri="{FF2B5EF4-FFF2-40B4-BE49-F238E27FC236}">
                <a16:creationId xmlns:a16="http://schemas.microsoft.com/office/drawing/2014/main" id="{45DE65E6-2C42-4EEC-ADB6-A73CDA0D8F84}"/>
              </a:ext>
            </a:extLst>
          </p:cNvPr>
          <p:cNvSpPr>
            <a:spLocks xmlns:a="http://schemas.openxmlformats.org/drawingml/2006/main" noGrp="1"/>
          </p:cNvSpPr>
          <p:nvPr/>
        </p:nvSpPr>
        <p:spPr>
          <a:xfrm xmlns:a="http://schemas.openxmlformats.org/drawingml/2006/main">
            <a:off x="59436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443AAC27-B83A-4CEA-8910-BFB3893613A0}"/>
              </a:ext>
            </a:extLst>
          </p:cNvPr>
          <p:cNvSpPr>
            <a:spLocks xmlns:a="http://schemas.openxmlformats.org/drawingml/2006/main" noGrp="1"/>
          </p:cNvSpPr>
          <p:nvPr/>
        </p:nvSpPr>
        <p:spPr>
          <a:xfrm xmlns:a="http://schemas.openxmlformats.org/drawingml/2006/main">
            <a:off x="60864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Closure</a:t>
            </a:r>
          </a:p>
        </p:txBody>
      </p:sp>
      <p:sp>
        <p:nvSpPr>
          <p:cNvPr id="22" name="">
            <a:extLst xmlns:a="http://schemas.openxmlformats.org/drawingml/2006/main">
              <a:ext uri="{FF2B5EF4-FFF2-40B4-BE49-F238E27FC236}">
                <a16:creationId xmlns:a16="http://schemas.microsoft.com/office/drawing/2014/main" id="{0FA915A5-9F59-4C6E-910B-5596730A9B6C}"/>
              </a:ext>
            </a:extLst>
          </p:cNvPr>
          <p:cNvSpPr>
            <a:spLocks xmlns:a="http://schemas.openxmlformats.org/drawingml/2006/main" noGrp="1"/>
          </p:cNvSpPr>
          <p:nvPr/>
        </p:nvSpPr>
        <p:spPr>
          <a:xfrm xmlns:a="http://schemas.openxmlformats.org/drawingml/2006/main">
            <a:off x="457200" y="4714875"/>
            <a:ext cx="70008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Stable seed per record.</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No LLM was used for these variants.</a:t>
            </a:r>
          </a:p>
          <a:p xmlns:a="http://schemas.openxmlformats.org/drawingml/2006/main">
            <a:r>
              <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Templates may introduce facts:</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label fidelity still needs an audit.</a:t>
            </a:r>
          </a:p>
        </p:txBody>
      </p:sp>
      <p:sp>
        <p:nvSpPr>
          <p:cNvPr id="23" name="">
            <a:extLst xmlns:a="http://schemas.openxmlformats.org/drawingml/2006/main">
              <a:ext uri="{FF2B5EF4-FFF2-40B4-BE49-F238E27FC236}">
                <a16:creationId xmlns:a16="http://schemas.microsoft.com/office/drawing/2014/main" id="{CF5B5936-A276-4725-99B5-ADCEEC818ACD}"/>
              </a:ext>
            </a:extLst>
          </p:cNvPr>
          <p:cNvSpPr>
            <a:spLocks xmlns:a="http://schemas.openxmlformats.org/drawingml/2006/main" noGrp="1"/>
          </p:cNvSpPr>
          <p:nvPr/>
        </p:nvSpPr>
        <p:spPr>
          <a:xfrm xmlns:a="http://schemas.openxmlformats.org/drawingml/2006/main">
            <a:off x="8134350" y="3419475"/>
            <a:ext cx="3562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Severe share (%)</a:t>
            </a:r>
          </a:p>
        </p:txBody>
      </p:sp>
      <p:graphicFrame>
        <p:nvGraphicFramePr>
          <p:cNvPr id="49" name="Chart"/>
          <p:cNvGraphicFramePr/>
          <p:nvPr/>
        </p:nvGraphicFramePr>
        <p:xfrm>
          <a:off xmlns:a="http://schemas.openxmlformats.org/drawingml/2006/main" x="8115300" y="3876675"/>
          <a:ext xmlns:a="http://schemas.openxmlformats.org/drawingml/2006/main" cx="3619500" cy="1971675"/>
        </p:xfrm>
        <a:graphic xmlns:a="http://schemas.openxmlformats.org/drawingml/2006/main">
          <a:graphicData uri="http://schemas.openxmlformats.org/drawingml/2006/chart">
            <c:chart xmlns:r="http://schemas.openxmlformats.org/officeDocument/2006/relationships" xmlns:c="http://schemas.openxmlformats.org/drawingml/2006/chart" r:id="R1e9bf9108a124d21"/>
          </a:graphicData>
        </a:graphic>
      </p:graphicFrame>
      <p:sp>
        <p:nvSpPr>
          <p:cNvPr id="25" name="">
            <a:extLst xmlns:a="http://schemas.openxmlformats.org/drawingml/2006/main">
              <a:ext uri="{FF2B5EF4-FFF2-40B4-BE49-F238E27FC236}">
                <a16:creationId xmlns:a16="http://schemas.microsoft.com/office/drawing/2014/main" id="{F1EBB276-99F1-42A3-9CD8-F043A4B8CB44}"/>
              </a:ext>
            </a:extLst>
          </p:cNvPr>
          <p:cNvSpPr>
            <a:spLocks xmlns:a="http://schemas.openxmlformats.org/drawingml/2006/main" noGrp="1"/>
          </p:cNvSpPr>
          <p:nvPr/>
        </p:nvSpPr>
        <p:spPr>
          <a:xfrm xmlns:a="http://schemas.openxmlformats.org/drawingml/2006/main">
            <a:off x="8134350" y="6010275"/>
            <a:ext cx="3562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1,132 / 14,146 · Partial rebalancing</a:t>
            </a:r>
          </a:p>
        </p:txBody>
      </p:sp>
    </p:spTree>
    <p:extLst>
      <p:ext uri="{BB962C8B-B14F-4D97-AF65-F5344CB8AC3E}">
        <p14:creationId xmlns:p14="http://schemas.microsoft.com/office/powerpoint/2010/main" val="167841331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A3218AD-7B29-425F-8C40-F71F81B49587}"/>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The improvement includes an error trade-off</a:t>
            </a:r>
          </a:p>
        </p:txBody>
      </p:sp>
      <p:sp>
        <p:nvSpPr>
          <p:cNvPr id="2" name="">
            <a:extLst xmlns:a="http://schemas.openxmlformats.org/drawingml/2006/main">
              <a:ext uri="{FF2B5EF4-FFF2-40B4-BE49-F238E27FC236}">
                <a16:creationId xmlns:a16="http://schemas.microsoft.com/office/drawing/2014/main" id="{D3FD979D-E8C2-42C9-84D7-16BB0CD40AAE}"/>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3BAFDFA4-A70A-4152-BD57-D811B2798D89}"/>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06</a:t>
            </a:r>
          </a:p>
        </p:txBody>
      </p:sp>
      <p:sp>
        <p:nvSpPr>
          <p:cNvPr id="4" name="">
            <a:extLst xmlns:a="http://schemas.openxmlformats.org/drawingml/2006/main">
              <a:ext uri="{FF2B5EF4-FFF2-40B4-BE49-F238E27FC236}">
                <a16:creationId xmlns:a16="http://schemas.microsoft.com/office/drawing/2014/main" id="{576E3852-2BCB-46EE-9F9A-54DBC79CBA55}"/>
              </a:ext>
            </a:extLst>
          </p:cNvPr>
          <p:cNvSpPr>
            <a:spLocks xmlns:a="http://schemas.openxmlformats.org/drawingml/2006/main" noGrp="1"/>
          </p:cNvSpPr>
          <p:nvPr/>
        </p:nvSpPr>
        <p:spPr>
          <a:xfrm xmlns:a="http://schemas.openxmlformats.org/drawingml/2006/main">
            <a:off x="457200" y="1428750"/>
            <a:ext cx="676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Absolute change × 100 · Zero = no change</a:t>
            </a:r>
          </a:p>
        </p:txBody>
      </p:sp>
      <p:graphicFrame>
        <p:nvGraphicFramePr>
          <p:cNvPr id="17" name="Chart"/>
          <p:cNvGraphicFramePr/>
          <p:nvPr/>
        </p:nvGraphicFramePr>
        <p:xfrm>
          <a:off xmlns:a="http://schemas.openxmlformats.org/drawingml/2006/main" x="428625" y="2066925"/>
          <a:ext xmlns:a="http://schemas.openxmlformats.org/drawingml/2006/main" cx="6762750" cy="3514725"/>
        </p:xfrm>
        <a:graphic xmlns:a="http://schemas.openxmlformats.org/drawingml/2006/main">
          <a:graphicData uri="http://schemas.openxmlformats.org/drawingml/2006/chart">
            <c:chart xmlns:r="http://schemas.openxmlformats.org/officeDocument/2006/relationships" xmlns:c="http://schemas.openxmlformats.org/drawingml/2006/chart" r:id="R1e531db94cf747cb"/>
          </a:graphicData>
        </a:graphic>
      </p:graphicFrame>
      <p:sp>
        <p:nvSpPr>
          <p:cNvPr id="6" name="">
            <a:extLst xmlns:a="http://schemas.openxmlformats.org/drawingml/2006/main">
              <a:ext uri="{FF2B5EF4-FFF2-40B4-BE49-F238E27FC236}">
                <a16:creationId xmlns:a16="http://schemas.microsoft.com/office/drawing/2014/main" id="{09F03CB3-1B55-4E69-841F-C0580DF81A7D}"/>
              </a:ext>
            </a:extLst>
          </p:cNvPr>
          <p:cNvSpPr>
            <a:spLocks xmlns:a="http://schemas.openxmlformats.org/drawingml/2006/main" noGrp="1"/>
          </p:cNvSpPr>
          <p:nvPr/>
        </p:nvSpPr>
        <p:spPr>
          <a:xfrm xmlns:a="http://schemas.openxmlformats.org/drawingml/2006/main">
            <a:off x="714375" y="5467350"/>
            <a:ext cx="158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C637F"/>
                </a:solidFill>
                <a:latin typeface="Inter"/>
                <a:ea typeface="Inter"/>
                <a:cs typeface="Inter"/>
              </a:defRPr>
            </a:pPr>
            <a:r>
              <a:rPr sz="1650" b="1">
                <a:solidFill>
                  <a:srgbClr val="2C637F"/>
                </a:solidFill>
                <a:latin typeface="Inter"/>
                <a:ea typeface="Inter"/>
                <a:cs typeface="Inter"/>
              </a:rPr>
              <a:t>Macro-F1</a:t>
            </a:r>
          </a:p>
        </p:txBody>
      </p:sp>
      <p:sp>
        <p:nvSpPr>
          <p:cNvPr id="7" name="">
            <a:extLst xmlns:a="http://schemas.openxmlformats.org/drawingml/2006/main">
              <a:ext uri="{FF2B5EF4-FFF2-40B4-BE49-F238E27FC236}">
                <a16:creationId xmlns:a16="http://schemas.microsoft.com/office/drawing/2014/main" id="{28A31509-17D8-46B5-9BF8-CABA8190FD65}"/>
              </a:ext>
            </a:extLst>
          </p:cNvPr>
          <p:cNvSpPr>
            <a:spLocks xmlns:a="http://schemas.openxmlformats.org/drawingml/2006/main" noGrp="1"/>
          </p:cNvSpPr>
          <p:nvPr/>
        </p:nvSpPr>
        <p:spPr>
          <a:xfrm xmlns:a="http://schemas.openxmlformats.org/drawingml/2006/main">
            <a:off x="2428875" y="5467350"/>
            <a:ext cx="1714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16766E"/>
                </a:solidFill>
                <a:latin typeface="Inter"/>
                <a:ea typeface="Inter"/>
                <a:cs typeface="Inter"/>
              </a:defRPr>
            </a:pPr>
            <a:r>
              <a:rPr sz="1650" b="1">
                <a:solidFill>
                  <a:srgbClr val="16766E"/>
                </a:solidFill>
                <a:latin typeface="Inter"/>
                <a:ea typeface="Inter"/>
                <a:cs typeface="Inter"/>
              </a:rPr>
              <a:t>Severe F1</a:t>
            </a:r>
          </a:p>
        </p:txBody>
      </p:sp>
      <p:sp>
        <p:nvSpPr>
          <p:cNvPr id="8" name="">
            <a:extLst xmlns:a="http://schemas.openxmlformats.org/drawingml/2006/main">
              <a:ext uri="{FF2B5EF4-FFF2-40B4-BE49-F238E27FC236}">
                <a16:creationId xmlns:a16="http://schemas.microsoft.com/office/drawing/2014/main" id="{8BA9DB77-AE95-4D57-8C6B-57022B7F2D31}"/>
              </a:ext>
            </a:extLst>
          </p:cNvPr>
          <p:cNvSpPr>
            <a:spLocks xmlns:a="http://schemas.openxmlformats.org/drawingml/2006/main" noGrp="1"/>
          </p:cNvSpPr>
          <p:nvPr/>
        </p:nvSpPr>
        <p:spPr>
          <a:xfrm xmlns:a="http://schemas.openxmlformats.org/drawingml/2006/main">
            <a:off x="4333875" y="5467350"/>
            <a:ext cx="2428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A86524"/>
                </a:solidFill>
                <a:latin typeface="Inter"/>
                <a:ea typeface="Inter"/>
                <a:cs typeface="Inter"/>
              </a:defRPr>
            </a:pPr>
            <a:r>
              <a:rPr sz="1650" b="1">
                <a:solidFill>
                  <a:srgbClr val="A86524"/>
                </a:solidFill>
                <a:latin typeface="Inter"/>
                <a:ea typeface="Inter"/>
                <a:cs typeface="Inter"/>
              </a:rPr>
              <a:t>Severe recall</a:t>
            </a:r>
          </a:p>
        </p:txBody>
      </p:sp>
      <p:sp>
        <p:nvSpPr>
          <p:cNvPr id="9" name="">
            <a:extLst xmlns:a="http://schemas.openxmlformats.org/drawingml/2006/main">
              <a:ext uri="{FF2B5EF4-FFF2-40B4-BE49-F238E27FC236}">
                <a16:creationId xmlns:a16="http://schemas.microsoft.com/office/drawing/2014/main" id="{010D92F7-E7DA-403D-80D2-F2E32EAF85FD}"/>
              </a:ext>
            </a:extLst>
          </p:cNvPr>
          <p:cNvSpPr>
            <a:spLocks xmlns:a="http://schemas.openxmlformats.org/drawingml/2006/main" noGrp="1"/>
          </p:cNvSpPr>
          <p:nvPr/>
        </p:nvSpPr>
        <p:spPr>
          <a:xfrm xmlns:a="http://schemas.openxmlformats.org/drawingml/2006/main">
            <a:off x="457200" y="5810250"/>
            <a:ext cx="666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Same 3,405 development reports.</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No augmentation at evaluation.</a:t>
            </a:r>
          </a:p>
        </p:txBody>
      </p:sp>
      <p:graphicFrame>
        <p:nvGraphicFramePr>
          <p:cNvPr id="22" name=""/>
          <p:cNvGraphicFramePr/>
          <p:nvPr/>
        </p:nvGraphicFramePr>
        <p:xfrm>
          <a:off xmlns:a="http://schemas.openxmlformats.org/drawingml/2006/main" x="7591425" y="1628775"/>
          <a:ext xmlns:a="http://schemas.openxmlformats.org/drawingml/2006/main" cx="4105275" cy="2381250"/>
        </p:xfrm>
        <a:graphic xmlns:a="http://schemas.openxmlformats.org/drawingml/2006/main">
          <a:graphicData uri="http://schemas.openxmlformats.org/drawingml/2006/table">
            <a:tbl>
              <a:tblPr/>
              <a:tblGrid>
                <a:gridCol w="1781175"/>
                <a:gridCol w="1162050"/>
                <a:gridCol w="1162050"/>
              </a:tblGrid>
              <a:tr h="595313">
                <a:tc>
                  <a:txBody>
                    <a:bodyPr/>
                    <a:lstStyle/>
                    <a:p>
                      <a:r>
                        <a:rPr sz="1725" b="1">
                          <a:solidFill>
                            <a:srgbClr val="2C637F"/>
                          </a:solidFill>
                          <a:latin typeface="Inter"/>
                          <a:ea typeface="Inter"/>
                          <a:cs typeface="Inter"/>
                        </a:rPr>
                        <a:t>Metric</a:t>
                      </a:r>
                    </a:p>
                  </a:txBody>
                  <a:tcPr marL="91440" marR="91440" marT="45720" marB="45720">
                    <a:solidFill>
                      <a:srgbClr val="E2F2FA"/>
                    </a:solidFill>
                  </a:tcPr>
                </a:tc>
                <a:tc>
                  <a:txBody>
                    <a:bodyPr/>
                    <a:lstStyle/>
                    <a:p>
                      <a:r>
                        <a:rPr sz="1725" b="1">
                          <a:solidFill>
                            <a:srgbClr val="2C637F"/>
                          </a:solidFill>
                          <a:latin typeface="Inter"/>
                          <a:ea typeface="Inter"/>
                          <a:cs typeface="Inter"/>
                        </a:rPr>
                        <a:t>Base</a:t>
                      </a:r>
                    </a:p>
                  </a:txBody>
                  <a:tcPr marL="91440" marR="91440" marT="45720" marB="45720">
                    <a:solidFill>
                      <a:srgbClr val="E2F2FA"/>
                    </a:solidFill>
                  </a:tcPr>
                </a:tc>
                <a:tc>
                  <a:txBody>
                    <a:bodyPr/>
                    <a:lstStyle/>
                    <a:p>
                      <a:r>
                        <a:rPr sz="1725" b="1">
                          <a:solidFill>
                            <a:srgbClr val="2C637F"/>
                          </a:solidFill>
                          <a:latin typeface="Inter"/>
                          <a:ea typeface="Inter"/>
                          <a:cs typeface="Inter"/>
                        </a:rPr>
                        <a:t>Aug.</a:t>
                      </a:r>
                    </a:p>
                  </a:txBody>
                  <a:tcPr marL="91440" marR="91440" marT="45720" marB="45720">
                    <a:solidFill>
                      <a:srgbClr val="E2F2FA"/>
                    </a:solidFill>
                  </a:tcPr>
                </a:tc>
              </a:tr>
              <a:tr h="595313">
                <a:tc>
                  <a:txBody>
                    <a:bodyPr/>
                    <a:lstStyle/>
                    <a:p>
                      <a:r>
                        <a:rPr sz="1725" b="0">
                          <a:solidFill>
                            <a:srgbClr val="152E3C"/>
                          </a:solidFill>
                          <a:latin typeface="Inter"/>
                          <a:ea typeface="Inter"/>
                          <a:cs typeface="Inter"/>
                        </a:rPr>
                        <a:t>Macro-F1</a:t>
                      </a:r>
                    </a:p>
                  </a:txBody>
                  <a:tcPr marL="91440" marR="91440" marT="45720" marB="45720">
                    <a:solidFill>
                      <a:srgbClr val="FFFFFF"/>
                    </a:solidFill>
                  </a:tcPr>
                </a:tc>
                <a:tc>
                  <a:txBody>
                    <a:bodyPr/>
                    <a:lstStyle/>
                    <a:p>
                      <a:r>
                        <a:rPr sz="1725" b="0">
                          <a:solidFill>
                            <a:srgbClr val="152E3C"/>
                          </a:solidFill>
                          <a:latin typeface="Inter"/>
                          <a:ea typeface="Inter"/>
                          <a:cs typeface="Inter"/>
                        </a:rPr>
                        <a:t>0.5481</a:t>
                      </a:r>
                    </a:p>
                  </a:txBody>
                  <a:tcPr marL="91440" marR="91440" marT="45720" marB="45720">
                    <a:solidFill>
                      <a:srgbClr val="FFFFFF"/>
                    </a:solidFill>
                  </a:tcPr>
                </a:tc>
                <a:tc>
                  <a:txBody>
                    <a:bodyPr/>
                    <a:lstStyle/>
                    <a:p>
                      <a:r>
                        <a:rPr sz="1725" b="0">
                          <a:solidFill>
                            <a:srgbClr val="152E3C"/>
                          </a:solidFill>
                          <a:latin typeface="Inter"/>
                          <a:ea typeface="Inter"/>
                          <a:cs typeface="Inter"/>
                        </a:rPr>
                        <a:t>0.5552</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Severe F1</a:t>
                      </a:r>
                    </a:p>
                  </a:txBody>
                  <a:tcPr marL="91440" marR="91440" marT="45720" marB="45720">
                    <a:solidFill>
                      <a:srgbClr val="FFFFFF"/>
                    </a:solidFill>
                  </a:tcPr>
                </a:tc>
                <a:tc>
                  <a:txBody>
                    <a:bodyPr/>
                    <a:lstStyle/>
                    <a:p>
                      <a:r>
                        <a:rPr sz="1725" b="0">
                          <a:solidFill>
                            <a:srgbClr val="152E3C"/>
                          </a:solidFill>
                          <a:latin typeface="Inter"/>
                          <a:ea typeface="Inter"/>
                          <a:cs typeface="Inter"/>
                        </a:rPr>
                        <a:t>0.4178</a:t>
                      </a:r>
                    </a:p>
                  </a:txBody>
                  <a:tcPr marL="91440" marR="91440" marT="45720" marB="45720">
                    <a:solidFill>
                      <a:srgbClr val="FFFFFF"/>
                    </a:solidFill>
                  </a:tcPr>
                </a:tc>
                <a:tc>
                  <a:txBody>
                    <a:bodyPr/>
                    <a:lstStyle/>
                    <a:p>
                      <a:r>
                        <a:rPr sz="1725" b="0">
                          <a:solidFill>
                            <a:srgbClr val="152E3C"/>
                          </a:solidFill>
                          <a:latin typeface="Inter"/>
                          <a:ea typeface="Inter"/>
                          <a:cs typeface="Inter"/>
                        </a:rPr>
                        <a:t>0.4335</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Recall</a:t>
                      </a:r>
                    </a:p>
                  </a:txBody>
                  <a:tcPr marL="91440" marR="91440" marT="45720" marB="45720">
                    <a:solidFill>
                      <a:srgbClr val="FFFFFF"/>
                    </a:solidFill>
                  </a:tcPr>
                </a:tc>
                <a:tc>
                  <a:txBody>
                    <a:bodyPr/>
                    <a:lstStyle/>
                    <a:p>
                      <a:r>
                        <a:rPr sz="1725" b="0">
                          <a:solidFill>
                            <a:srgbClr val="152E3C"/>
                          </a:solidFill>
                          <a:latin typeface="Inter"/>
                          <a:ea typeface="Inter"/>
                          <a:cs typeface="Inter"/>
                        </a:rPr>
                        <a:t>0.3961</a:t>
                      </a:r>
                    </a:p>
                  </a:txBody>
                  <a:tcPr marL="91440" marR="91440" marT="45720" marB="45720">
                    <a:solidFill>
                      <a:srgbClr val="FFFFFF"/>
                    </a:solidFill>
                  </a:tcPr>
                </a:tc>
                <a:tc>
                  <a:txBody>
                    <a:bodyPr/>
                    <a:lstStyle/>
                    <a:p>
                      <a:r>
                        <a:rPr sz="1725" b="0">
                          <a:solidFill>
                            <a:srgbClr val="152E3C"/>
                          </a:solidFill>
                          <a:latin typeface="Inter"/>
                          <a:ea typeface="Inter"/>
                          <a:cs typeface="Inter"/>
                        </a:rPr>
                        <a:t>0.3701</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7587A8F3-B443-4F16-BFC0-CF52AA5C4EFF}"/>
              </a:ext>
            </a:extLst>
          </p:cNvPr>
          <p:cNvSpPr>
            <a:spLocks xmlns:a="http://schemas.openxmlformats.org/drawingml/2006/main" noGrp="1"/>
          </p:cNvSpPr>
          <p:nvPr/>
        </p:nvSpPr>
        <p:spPr>
          <a:xfrm xmlns:a="http://schemas.openxmlformats.org/drawingml/2006/main">
            <a:off x="7591425" y="4381500"/>
            <a:ext cx="41052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A86524"/>
                </a:solidFill>
                <a:latin typeface="Inter"/>
                <a:ea typeface="Inter"/>
                <a:cs typeface="Inter"/>
              </a:defRPr>
            </a:pPr>
            <a:r>
              <a:rPr sz="2175" b="1">
                <a:solidFill>
                  <a:srgbClr val="A86524"/>
                </a:solidFill>
                <a:latin typeface="Inter"/>
                <a:ea typeface="Inter"/>
                <a:cs typeface="Inter"/>
              </a:rPr>
              <a:t>F1 rises; recall falls</a:t>
            </a:r>
          </a:p>
        </p:txBody>
      </p:sp>
      <p:sp>
        <p:nvSpPr>
          <p:cNvPr id="12" name="">
            <a:extLst xmlns:a="http://schemas.openxmlformats.org/drawingml/2006/main">
              <a:ext uri="{FF2B5EF4-FFF2-40B4-BE49-F238E27FC236}">
                <a16:creationId xmlns:a16="http://schemas.microsoft.com/office/drawing/2014/main" id="{4CC7486C-C1ED-41BF-856D-3F14E55B0C23}"/>
              </a:ext>
            </a:extLst>
          </p:cNvPr>
          <p:cNvSpPr>
            <a:spLocks xmlns:a="http://schemas.openxmlformats.org/drawingml/2006/main" noGrp="1"/>
          </p:cNvSpPr>
          <p:nvPr/>
        </p:nvSpPr>
        <p:spPr>
          <a:xfrm xmlns:a="http://schemas.openxmlformats.org/drawingml/2006/main">
            <a:off x="7591425" y="5229225"/>
            <a:ext cx="41052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Style, balance and weights change together.</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Their effects remain confounded.</a:t>
            </a:r>
          </a:p>
        </p:txBody>
      </p:sp>
    </p:spTree>
    <p:extLst>
      <p:ext uri="{BB962C8B-B14F-4D97-AF65-F5344CB8AC3E}">
        <p14:creationId xmlns:p14="http://schemas.microsoft.com/office/powerpoint/2010/main" val="314597529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7CA4CF3-F46C-4019-AB9B-23363A8B3AEE}"/>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Disagreement remains in the labels</a:t>
            </a:r>
          </a:p>
        </p:txBody>
      </p:sp>
      <p:sp>
        <p:nvSpPr>
          <p:cNvPr id="2" name="">
            <a:extLst xmlns:a="http://schemas.openxmlformats.org/drawingml/2006/main">
              <a:ext uri="{FF2B5EF4-FFF2-40B4-BE49-F238E27FC236}">
                <a16:creationId xmlns:a16="http://schemas.microsoft.com/office/drawing/2014/main" id="{760F6229-3EF3-46B4-BB62-98FE146D7584}"/>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1FE8A8F2-3ECC-48A0-B768-CB93B968780F}"/>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07</a:t>
            </a:r>
          </a:p>
        </p:txBody>
      </p:sp>
      <p:sp>
        <p:nvSpPr>
          <p:cNvPr id="4" name="">
            <a:extLst xmlns:a="http://schemas.openxmlformats.org/drawingml/2006/main">
              <a:ext uri="{FF2B5EF4-FFF2-40B4-BE49-F238E27FC236}">
                <a16:creationId xmlns:a16="http://schemas.microsoft.com/office/drawing/2014/main" id="{E14BE596-D043-4965-84AB-75E1D19D6788}"/>
              </a:ext>
            </a:extLst>
          </p:cNvPr>
          <p:cNvSpPr>
            <a:spLocks xmlns:a="http://schemas.openxmlformats.org/drawingml/2006/main" noGrp="1"/>
          </p:cNvSpPr>
          <p:nvPr/>
        </p:nvSpPr>
        <p:spPr>
          <a:xfrm xmlns:a="http://schemas.openxmlformats.org/drawingml/2006/main">
            <a:off x="457200" y="141922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C637F"/>
                </a:solidFill>
                <a:latin typeface="Inter"/>
                <a:ea typeface="Inter"/>
                <a:cs typeface="Inter"/>
              </a:defRPr>
            </a:pPr>
            <a:r>
              <a:rPr sz="1725" b="0">
                <a:solidFill>
                  <a:srgbClr val="2C637F"/>
                </a:solidFill>
                <a:latin typeface="Inter"/>
                <a:ea typeface="Inter"/>
                <a:cs typeface="Inter"/>
              </a:rPr>
              <a:t>New analysis of S2 soft labels · Development: 1,212 reports</a:t>
            </a:r>
          </a:p>
        </p:txBody>
      </p:sp>
      <p:graphicFrame>
        <p:nvGraphicFramePr>
          <p:cNvPr id="20" name="Chart"/>
          <p:cNvGraphicFramePr/>
          <p:nvPr/>
        </p:nvGraphicFramePr>
        <p:xfrm>
          <a:off xmlns:a="http://schemas.openxmlformats.org/drawingml/2006/main" x="285750" y="2286000"/>
          <a:ext xmlns:a="http://schemas.openxmlformats.org/drawingml/2006/main" cx="6772275" cy="3667125"/>
        </p:xfrm>
        <a:graphic xmlns:a="http://schemas.openxmlformats.org/drawingml/2006/main">
          <a:graphicData uri="http://schemas.openxmlformats.org/drawingml/2006/chart">
            <c:chart xmlns:r="http://schemas.openxmlformats.org/officeDocument/2006/relationships" xmlns:c="http://schemas.openxmlformats.org/drawingml/2006/chart" r:id="R5b94e1967f5e4480"/>
          </a:graphicData>
        </a:graphic>
      </p:graphicFrame>
      <p:sp>
        <p:nvSpPr>
          <p:cNvPr id="6" name="">
            <a:extLst xmlns:a="http://schemas.openxmlformats.org/drawingml/2006/main">
              <a:ext uri="{FF2B5EF4-FFF2-40B4-BE49-F238E27FC236}">
                <a16:creationId xmlns:a16="http://schemas.microsoft.com/office/drawing/2014/main" id="{AE740B57-4255-444A-B14A-E3F0365378F1}"/>
              </a:ext>
            </a:extLst>
          </p:cNvPr>
          <p:cNvSpPr>
            <a:spLocks xmlns:a="http://schemas.openxmlformats.org/drawingml/2006/main" noGrp="1"/>
          </p:cNvSpPr>
          <p:nvPr/>
        </p:nvSpPr>
        <p:spPr>
          <a:xfrm xmlns:a="http://schemas.openxmlformats.org/drawingml/2006/main">
            <a:off x="457200" y="1924050"/>
            <a:ext cx="690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Split-vote decisions (%) · Denominator: all reports</a:t>
            </a:r>
          </a:p>
        </p:txBody>
      </p:sp>
      <p:sp>
        <p:nvSpPr>
          <p:cNvPr id="7" name="">
            <a:extLst xmlns:a="http://schemas.openxmlformats.org/drawingml/2006/main">
              <a:ext uri="{FF2B5EF4-FFF2-40B4-BE49-F238E27FC236}">
                <a16:creationId xmlns:a16="http://schemas.microsoft.com/office/drawing/2014/main" id="{CC2EB750-BBEA-47C2-ADCB-BC4315B623FA}"/>
              </a:ext>
            </a:extLst>
          </p:cNvPr>
          <p:cNvSpPr>
            <a:spLocks xmlns:a="http://schemas.openxmlformats.org/drawingml/2006/main" noGrp="1"/>
          </p:cNvSpPr>
          <p:nvPr/>
        </p:nvSpPr>
        <p:spPr>
          <a:xfrm xmlns:a="http://schemas.openxmlformats.org/drawingml/2006/main">
            <a:off x="7753350" y="2028825"/>
            <a:ext cx="3762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2C637F"/>
                </a:solidFill>
                <a:latin typeface="Inter"/>
                <a:ea typeface="Inter"/>
                <a:cs typeface="Inter"/>
              </a:defRPr>
            </a:pPr>
            <a:r>
              <a:rPr sz="4425" b="1">
                <a:solidFill>
                  <a:srgbClr val="2C637F"/>
                </a:solidFill>
                <a:latin typeface="Inter"/>
                <a:ea typeface="Inter"/>
                <a:cs typeface="Inter"/>
              </a:rPr>
              <a:t>72.36%</a:t>
            </a:r>
          </a:p>
        </p:txBody>
      </p:sp>
      <p:sp>
        <p:nvSpPr>
          <p:cNvPr id="8" name="">
            <a:extLst xmlns:a="http://schemas.openxmlformats.org/drawingml/2006/main">
              <a:ext uri="{FF2B5EF4-FFF2-40B4-BE49-F238E27FC236}">
                <a16:creationId xmlns:a16="http://schemas.microsoft.com/office/drawing/2014/main" id="{568DF626-BF57-40E1-86D8-9F66426CA203}"/>
              </a:ext>
            </a:extLst>
          </p:cNvPr>
          <p:cNvSpPr>
            <a:spLocks xmlns:a="http://schemas.openxmlformats.org/drawingml/2006/main" noGrp="1"/>
          </p:cNvSpPr>
          <p:nvPr/>
        </p:nvSpPr>
        <p:spPr>
          <a:xfrm xmlns:a="http://schemas.openxmlformats.org/drawingml/2006/main">
            <a:off x="7753350" y="2952750"/>
            <a:ext cx="3810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with at least one split type</a:t>
            </a:r>
          </a:p>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877 of 1,212 reports</a:t>
            </a:r>
          </a:p>
        </p:txBody>
      </p:sp>
      <p:sp>
        <p:nvSpPr>
          <p:cNvPr id="9" name="">
            <a:extLst xmlns:a="http://schemas.openxmlformats.org/drawingml/2006/main">
              <a:ext uri="{FF2B5EF4-FFF2-40B4-BE49-F238E27FC236}">
                <a16:creationId xmlns:a16="http://schemas.microsoft.com/office/drawing/2014/main" id="{E4003C41-2A03-4B0F-9684-E916F73A4BF8}"/>
              </a:ext>
            </a:extLst>
          </p:cNvPr>
          <p:cNvSpPr>
            <a:spLocks xmlns:a="http://schemas.openxmlformats.org/drawingml/2006/main" noGrp="1"/>
          </p:cNvSpPr>
          <p:nvPr/>
        </p:nvSpPr>
        <p:spPr>
          <a:xfrm xmlns:a="http://schemas.openxmlformats.org/drawingml/2006/main">
            <a:off x="7772400" y="4038600"/>
            <a:ext cx="199072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1DE2308C-0F49-408F-8E35-FE288CF6147A}"/>
              </a:ext>
            </a:extLst>
          </p:cNvPr>
          <p:cNvSpPr>
            <a:spLocks xmlns:a="http://schemas.openxmlformats.org/drawingml/2006/main" noGrp="1"/>
          </p:cNvSpPr>
          <p:nvPr/>
        </p:nvSpPr>
        <p:spPr>
          <a:xfrm xmlns:a="http://schemas.openxmlformats.org/drawingml/2006/main">
            <a:off x="7915275" y="4162425"/>
            <a:ext cx="17049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C637F"/>
                </a:solidFill>
                <a:latin typeface="Inter"/>
                <a:ea typeface="Inter"/>
                <a:cs typeface="Inter"/>
              </a:defRPr>
            </a:pPr>
            <a:r>
              <a:rPr sz="1950" b="0">
                <a:solidFill>
                  <a:srgbClr val="2C637F"/>
                </a:solidFill>
                <a:latin typeface="Inter"/>
                <a:ea typeface="Inter"/>
                <a:cs typeface="Inter"/>
              </a:rPr>
              <a:t>1     1     0</a:t>
            </a:r>
          </a:p>
        </p:txBody>
      </p:sp>
      <p:sp>
        <p:nvSpPr>
          <p:cNvPr id="11" name="">
            <a:extLst xmlns:a="http://schemas.openxmlformats.org/drawingml/2006/main">
              <a:ext uri="{FF2B5EF4-FFF2-40B4-BE49-F238E27FC236}">
                <a16:creationId xmlns:a16="http://schemas.microsoft.com/office/drawing/2014/main" id="{5E8549F2-7894-4EB6-820E-F2B6462B3AFC}"/>
              </a:ext>
            </a:extLst>
          </p:cNvPr>
          <p:cNvSpPr>
            <a:spLocks xmlns:a="http://schemas.openxmlformats.org/drawingml/2006/main" noGrp="1"/>
          </p:cNvSpPr>
          <p:nvPr/>
        </p:nvSpPr>
        <p:spPr>
          <a:xfrm xmlns:a="http://schemas.openxmlformats.org/drawingml/2006/main">
            <a:off x="10287000" y="4038600"/>
            <a:ext cx="140017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720716DB-DFA6-4C7B-B8AC-1B9D407B9B66}"/>
              </a:ext>
            </a:extLst>
          </p:cNvPr>
          <p:cNvSpPr>
            <a:spLocks xmlns:a="http://schemas.openxmlformats.org/drawingml/2006/main" noGrp="1"/>
          </p:cNvSpPr>
          <p:nvPr/>
        </p:nvSpPr>
        <p:spPr>
          <a:xfrm xmlns:a="http://schemas.openxmlformats.org/drawingml/2006/main">
            <a:off x="10429875" y="4162425"/>
            <a:ext cx="11144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 = 2/3</a:t>
            </a:r>
          </a:p>
        </p:txBody>
      </p:sp>
      <p:cxnSp>
        <p:nvCxnSpPr>
          <p:cNvPr id="28" name=""/>
          <p:cNvCxnSpPr>
            <a:stCxn xmlns:a="http://schemas.openxmlformats.org/drawingml/2006/main" id="9" idx="3"/>
            <a:endCxn xmlns:a="http://schemas.openxmlformats.org/drawingml/2006/main" id="11" idx="1"/>
          </p:cNvCxnSpPr>
          <p:nvPr/>
        </p:nvCxnSpPr>
        <p:spPr>
          <a:xfrm xmlns:a="http://schemas.openxmlformats.org/drawingml/2006/main">
            <a:off x="9763125" y="4310063"/>
            <a:ext cx="52387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4" name="">
            <a:extLst xmlns:a="http://schemas.openxmlformats.org/drawingml/2006/main">
              <a:ext uri="{FF2B5EF4-FFF2-40B4-BE49-F238E27FC236}">
                <a16:creationId xmlns:a16="http://schemas.microsoft.com/office/drawing/2014/main" id="{C57A85C4-B20D-4910-8567-629D35A84292}"/>
              </a:ext>
            </a:extLst>
          </p:cNvPr>
          <p:cNvSpPr>
            <a:spLocks xmlns:a="http://schemas.openxmlformats.org/drawingml/2006/main" noGrp="1"/>
          </p:cNvSpPr>
          <p:nvPr/>
        </p:nvSpPr>
        <p:spPr>
          <a:xfrm xmlns:a="http://schemas.openxmlformats.org/drawingml/2006/main">
            <a:off x="7753350" y="4810125"/>
            <a:ext cx="3943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Example of 3 votes.</a:t>
            </a:r>
          </a:p>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Within-item variance: p(1−p) = 2/9.</a:t>
            </a:r>
          </a:p>
        </p:txBody>
      </p:sp>
      <p:sp>
        <p:nvSpPr>
          <p:cNvPr id="15" name="">
            <a:extLst xmlns:a="http://schemas.openxmlformats.org/drawingml/2006/main">
              <a:ext uri="{FF2B5EF4-FFF2-40B4-BE49-F238E27FC236}">
                <a16:creationId xmlns:a16="http://schemas.microsoft.com/office/drawing/2014/main" id="{DB76E2CD-17FE-4BF1-9EFD-4FDA892A18DE}"/>
              </a:ext>
            </a:extLst>
          </p:cNvPr>
          <p:cNvSpPr>
            <a:spLocks xmlns:a="http://schemas.openxmlformats.org/drawingml/2006/main" noGrp="1"/>
          </p:cNvSpPr>
          <p:nvPr/>
        </p:nvSpPr>
        <p:spPr>
          <a:xfrm xmlns:a="http://schemas.openxmlformats.org/drawingml/2006/main">
            <a:off x="457200" y="6086475"/>
            <a:ext cx="1123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No identities or S1 votes: individual worker differences cannot be measured. 24 hard/soft discrepancies in development.</a:t>
            </a:r>
          </a:p>
        </p:txBody>
      </p:sp>
    </p:spTree>
    <p:extLst>
      <p:ext uri="{BB962C8B-B14F-4D97-AF65-F5344CB8AC3E}">
        <p14:creationId xmlns:p14="http://schemas.microsoft.com/office/powerpoint/2010/main" val="346245865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93B416C-DD28-4E52-A660-DD980BDF1CC5}"/>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The anchor limits final changes</a:t>
            </a:r>
          </a:p>
        </p:txBody>
      </p:sp>
      <p:sp>
        <p:nvSpPr>
          <p:cNvPr id="2" name="">
            <a:extLst xmlns:a="http://schemas.openxmlformats.org/drawingml/2006/main">
              <a:ext uri="{FF2B5EF4-FFF2-40B4-BE49-F238E27FC236}">
                <a16:creationId xmlns:a16="http://schemas.microsoft.com/office/drawing/2014/main" id="{3775367D-3B68-4D69-AF3F-A01A59FD4389}"/>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99307C99-5960-4C54-A35A-C18536FD04ED}"/>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08</a:t>
            </a:r>
          </a:p>
        </p:txBody>
      </p:sp>
      <p:sp>
        <p:nvSpPr>
          <p:cNvPr id="4" name="">
            <a:extLst xmlns:a="http://schemas.openxmlformats.org/drawingml/2006/main">
              <a:ext uri="{FF2B5EF4-FFF2-40B4-BE49-F238E27FC236}">
                <a16:creationId xmlns:a16="http://schemas.microsoft.com/office/drawing/2014/main" id="{11EE9E79-52FC-4A2A-93AD-58B2B98D60AD}"/>
              </a:ext>
            </a:extLst>
          </p:cNvPr>
          <p:cNvSpPr>
            <a:spLocks xmlns:a="http://schemas.openxmlformats.org/drawingml/2006/main" noGrp="1"/>
          </p:cNvSpPr>
          <p:nvPr/>
        </p:nvSpPr>
        <p:spPr>
          <a:xfrm xmlns:a="http://schemas.openxmlformats.org/drawingml/2006/main">
            <a:off x="457200" y="1752600"/>
            <a:ext cx="3086100" cy="10953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5" name="">
            <a:extLst xmlns:a="http://schemas.openxmlformats.org/drawingml/2006/main">
              <a:ext uri="{FF2B5EF4-FFF2-40B4-BE49-F238E27FC236}">
                <a16:creationId xmlns:a16="http://schemas.microsoft.com/office/drawing/2014/main" id="{55586DE4-CA9A-48B1-A37D-C3E06BDC8ACD}"/>
              </a:ext>
            </a:extLst>
          </p:cNvPr>
          <p:cNvSpPr>
            <a:spLocks xmlns:a="http://schemas.openxmlformats.org/drawingml/2006/main" noGrp="1"/>
          </p:cNvSpPr>
          <p:nvPr/>
        </p:nvSpPr>
        <p:spPr>
          <a:xfrm xmlns:a="http://schemas.openxmlformats.org/drawingml/2006/main">
            <a:off x="600075" y="1876425"/>
            <a:ext cx="28003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Top10 anchor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Best previous submission</a:t>
            </a:r>
          </a:p>
        </p:txBody>
      </p:sp>
      <p:sp>
        <p:nvSpPr>
          <p:cNvPr id="6" name="">
            <a:extLst xmlns:a="http://schemas.openxmlformats.org/drawingml/2006/main">
              <a:ext uri="{FF2B5EF4-FFF2-40B4-BE49-F238E27FC236}">
                <a16:creationId xmlns:a16="http://schemas.microsoft.com/office/drawing/2014/main" id="{F4BA0234-F96F-4FD6-8EF9-EAD6B012E82D}"/>
              </a:ext>
            </a:extLst>
          </p:cNvPr>
          <p:cNvSpPr>
            <a:spLocks xmlns:a="http://schemas.openxmlformats.org/drawingml/2006/main" noGrp="1"/>
          </p:cNvSpPr>
          <p:nvPr/>
        </p:nvSpPr>
        <p:spPr>
          <a:xfrm xmlns:a="http://schemas.openxmlformats.org/drawingml/2006/main">
            <a:off x="457200" y="3752850"/>
            <a:ext cx="3086100" cy="1143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7" name="">
            <a:extLst xmlns:a="http://schemas.openxmlformats.org/drawingml/2006/main">
              <a:ext uri="{FF2B5EF4-FFF2-40B4-BE49-F238E27FC236}">
                <a16:creationId xmlns:a16="http://schemas.microsoft.com/office/drawing/2014/main" id="{A3CA4C68-EF59-4860-9AC5-93F35EF1E543}"/>
              </a:ext>
            </a:extLst>
          </p:cNvPr>
          <p:cNvSpPr>
            <a:spLocks xmlns:a="http://schemas.openxmlformats.org/drawingml/2006/main" noGrp="1"/>
          </p:cNvSpPr>
          <p:nvPr/>
        </p:nvSpPr>
        <p:spPr>
          <a:xfrm xmlns:a="http://schemas.openxmlformats.org/drawingml/2006/main">
            <a:off x="600075" y="3876675"/>
            <a:ext cx="28003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Foldbag candidate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 BETO aug. + 5 Electricidad</a:t>
            </a:r>
          </a:p>
        </p:txBody>
      </p:sp>
      <p:sp>
        <p:nvSpPr>
          <p:cNvPr id="8" name="">
            <a:extLst xmlns:a="http://schemas.openxmlformats.org/drawingml/2006/main">
              <a:ext uri="{FF2B5EF4-FFF2-40B4-BE49-F238E27FC236}">
                <a16:creationId xmlns:a16="http://schemas.microsoft.com/office/drawing/2014/main" id="{5D143214-E8AC-4F92-AED4-650E12148743}"/>
              </a:ext>
            </a:extLst>
          </p:cNvPr>
          <p:cNvSpPr>
            <a:spLocks xmlns:a="http://schemas.openxmlformats.org/drawingml/2006/main" noGrp="1"/>
          </p:cNvSpPr>
          <p:nvPr/>
        </p:nvSpPr>
        <p:spPr>
          <a:xfrm xmlns:a="http://schemas.openxmlformats.org/drawingml/2006/main">
            <a:off x="4429125" y="2724150"/>
            <a:ext cx="3181350" cy="11334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9" name="">
            <a:extLst xmlns:a="http://schemas.openxmlformats.org/drawingml/2006/main">
              <a:ext uri="{FF2B5EF4-FFF2-40B4-BE49-F238E27FC236}">
                <a16:creationId xmlns:a16="http://schemas.microsoft.com/office/drawing/2014/main" id="{9E00DF65-41FD-42F6-B5E8-A26E2AEF4A1F}"/>
              </a:ext>
            </a:extLst>
          </p:cNvPr>
          <p:cNvSpPr>
            <a:spLocks xmlns:a="http://schemas.openxmlformats.org/drawingml/2006/main" noGrp="1"/>
          </p:cNvSpPr>
          <p:nvPr/>
        </p:nvSpPr>
        <p:spPr>
          <a:xfrm xmlns:a="http://schemas.openxmlformats.org/drawingml/2006/main">
            <a:off x="4572000" y="2847975"/>
            <a:ext cx="28956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Router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Allowed transitions only</a:t>
            </a:r>
          </a:p>
        </p:txBody>
      </p:sp>
      <p:sp>
        <p:nvSpPr>
          <p:cNvPr id="10" name="">
            <a:extLst xmlns:a="http://schemas.openxmlformats.org/drawingml/2006/main">
              <a:ext uri="{FF2B5EF4-FFF2-40B4-BE49-F238E27FC236}">
                <a16:creationId xmlns:a16="http://schemas.microsoft.com/office/drawing/2014/main" id="{4F6266B0-17C0-4D91-A0B7-2BEE0A0267F4}"/>
              </a:ext>
            </a:extLst>
          </p:cNvPr>
          <p:cNvSpPr>
            <a:spLocks xmlns:a="http://schemas.openxmlformats.org/drawingml/2006/main" noGrp="1"/>
          </p:cNvSpPr>
          <p:nvPr/>
        </p:nvSpPr>
        <p:spPr>
          <a:xfrm xmlns:a="http://schemas.openxmlformats.org/drawingml/2006/main">
            <a:off x="8448675" y="1752600"/>
            <a:ext cx="3238500" cy="10572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1" name="">
            <a:extLst xmlns:a="http://schemas.openxmlformats.org/drawingml/2006/main">
              <a:ext uri="{FF2B5EF4-FFF2-40B4-BE49-F238E27FC236}">
                <a16:creationId xmlns:a16="http://schemas.microsoft.com/office/drawing/2014/main" id="{A79AC764-3504-4416-8E82-A143FAE72439}"/>
              </a:ext>
            </a:extLst>
          </p:cNvPr>
          <p:cNvSpPr>
            <a:spLocks xmlns:a="http://schemas.openxmlformats.org/drawingml/2006/main" noGrp="1"/>
          </p:cNvSpPr>
          <p:nvPr/>
        </p:nvSpPr>
        <p:spPr>
          <a:xfrm xmlns:a="http://schemas.openxmlformats.org/drawingml/2006/main">
            <a:off x="8591550" y="1876425"/>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Keep anchor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3,929 / 4,219 (93.13%)</a:t>
            </a:r>
          </a:p>
        </p:txBody>
      </p:sp>
      <p:sp>
        <p:nvSpPr>
          <p:cNvPr id="12" name="">
            <a:extLst xmlns:a="http://schemas.openxmlformats.org/drawingml/2006/main">
              <a:ext uri="{FF2B5EF4-FFF2-40B4-BE49-F238E27FC236}">
                <a16:creationId xmlns:a16="http://schemas.microsoft.com/office/drawing/2014/main" id="{1EE277F6-96DB-4921-BF21-531382360740}"/>
              </a:ext>
            </a:extLst>
          </p:cNvPr>
          <p:cNvSpPr>
            <a:spLocks xmlns:a="http://schemas.openxmlformats.org/drawingml/2006/main" noGrp="1"/>
          </p:cNvSpPr>
          <p:nvPr/>
        </p:nvSpPr>
        <p:spPr>
          <a:xfrm xmlns:a="http://schemas.openxmlformats.org/drawingml/2006/main">
            <a:off x="8448675" y="3762375"/>
            <a:ext cx="3238500" cy="1057275"/>
          </a:xfrm>
          <a:prstGeom xmlns:a="http://schemas.openxmlformats.org/drawingml/2006/main" prst="rect">
            <a:avLst/>
          </a:prstGeom>
          <a:solidFill xmlns:a="http://schemas.openxmlformats.org/drawingml/2006/main">
            <a:srgbClr val="E8F3EF"/>
          </a:solidFill>
          <a:ln xmlns:a="http://schemas.openxmlformats.org/drawingml/2006/main" w="13335">
            <a:solidFill>
              <a:srgbClr val="16766E"/>
            </a:solidFill>
          </a:ln>
        </p:spPr>
      </p:sp>
      <p:sp>
        <p:nvSpPr>
          <p:cNvPr id="13" name="">
            <a:extLst xmlns:a="http://schemas.openxmlformats.org/drawingml/2006/main">
              <a:ext uri="{FF2B5EF4-FFF2-40B4-BE49-F238E27FC236}">
                <a16:creationId xmlns:a16="http://schemas.microsoft.com/office/drawing/2014/main" id="{8C39E571-86BD-4B25-8AB3-09E433A124FA}"/>
              </a:ext>
            </a:extLst>
          </p:cNvPr>
          <p:cNvSpPr>
            <a:spLocks xmlns:a="http://schemas.openxmlformats.org/drawingml/2006/main" noGrp="1"/>
          </p:cNvSpPr>
          <p:nvPr/>
        </p:nvSpPr>
        <p:spPr>
          <a:xfrm xmlns:a="http://schemas.openxmlformats.org/drawingml/2006/main">
            <a:off x="8591550" y="3886200"/>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Apply change</a:t>
            </a:r>
          </a:p>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290 / 4,219 (6.87%)</a:t>
            </a:r>
          </a:p>
        </p:txBody>
      </p:sp>
      <p:cxnSp>
        <p:nvCxnSpPr>
          <p:cNvPr id="35" name=""/>
          <p:cNvCxnSpPr>
            <a:stCxn xmlns:a="http://schemas.openxmlformats.org/drawingml/2006/main" id="4" idx="3"/>
            <a:endCxn xmlns:a="http://schemas.openxmlformats.org/drawingml/2006/main" id="8" idx="1"/>
          </p:cNvCxnSpPr>
          <p:nvPr/>
        </p:nvCxnSpPr>
        <p:spPr>
          <a:xfrm xmlns:a="http://schemas.openxmlformats.org/drawingml/2006/main">
            <a:off x="3543300" y="2300288"/>
            <a:ext cx="885825" cy="99060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6" name=""/>
          <p:cNvCxnSpPr>
            <a:stCxn xmlns:a="http://schemas.openxmlformats.org/drawingml/2006/main" id="6" idx="3"/>
            <a:endCxn xmlns:a="http://schemas.openxmlformats.org/drawingml/2006/main" id="8" idx="1"/>
          </p:cNvCxnSpPr>
          <p:nvPr/>
        </p:nvCxnSpPr>
        <p:spPr>
          <a:xfrm xmlns:a="http://schemas.openxmlformats.org/drawingml/2006/main" flipV="1">
            <a:off x="3543300" y="3290888"/>
            <a:ext cx="885825" cy="10334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8" idx="3"/>
            <a:endCxn xmlns:a="http://schemas.openxmlformats.org/drawingml/2006/main" id="10" idx="1"/>
          </p:cNvCxnSpPr>
          <p:nvPr/>
        </p:nvCxnSpPr>
        <p:spPr>
          <a:xfrm xmlns:a="http://schemas.openxmlformats.org/drawingml/2006/main" flipV="1">
            <a:off x="7610475" y="2281238"/>
            <a:ext cx="838200" cy="100965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8" name=""/>
          <p:cNvCxnSpPr>
            <a:stCxn xmlns:a="http://schemas.openxmlformats.org/drawingml/2006/main" id="8" idx="3"/>
            <a:endCxn xmlns:a="http://schemas.openxmlformats.org/drawingml/2006/main" id="12" idx="1"/>
          </p:cNvCxnSpPr>
          <p:nvPr/>
        </p:nvCxnSpPr>
        <p:spPr>
          <a:xfrm xmlns:a="http://schemas.openxmlformats.org/drawingml/2006/main">
            <a:off x="7610475" y="3290888"/>
            <a:ext cx="838200" cy="100012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8" name="">
            <a:extLst xmlns:a="http://schemas.openxmlformats.org/drawingml/2006/main">
              <a:ext uri="{FF2B5EF4-FFF2-40B4-BE49-F238E27FC236}">
                <a16:creationId xmlns:a16="http://schemas.microsoft.com/office/drawing/2014/main" id="{657E202F-72F2-45C0-B481-953DE6AF4D6D}"/>
              </a:ext>
            </a:extLst>
          </p:cNvPr>
          <p:cNvSpPr>
            <a:spLocks xmlns:a="http://schemas.openxmlformats.org/drawingml/2006/main" noGrp="1"/>
          </p:cNvSpPr>
          <p:nvPr/>
        </p:nvSpPr>
        <p:spPr>
          <a:xfrm xmlns:a="http://schemas.openxmlformats.org/drawingml/2006/main">
            <a:off x="7696200" y="175260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06674"/>
                </a:solidFill>
                <a:latin typeface="Inter"/>
                <a:ea typeface="Inter"/>
                <a:cs typeface="Inter"/>
              </a:defRPr>
            </a:pPr>
            <a:r>
              <a:rPr sz="1350" b="0">
                <a:solidFill>
                  <a:srgbClr val="506674"/>
                </a:solidFill>
                <a:latin typeface="Inter"/>
                <a:ea typeface="Inter"/>
                <a:cs typeface="Inter"/>
              </a:rPr>
              <a:t>No</a:t>
            </a:r>
          </a:p>
        </p:txBody>
      </p:sp>
      <p:sp>
        <p:nvSpPr>
          <p:cNvPr id="19" name="">
            <a:extLst xmlns:a="http://schemas.openxmlformats.org/drawingml/2006/main">
              <a:ext uri="{FF2B5EF4-FFF2-40B4-BE49-F238E27FC236}">
                <a16:creationId xmlns:a16="http://schemas.microsoft.com/office/drawing/2014/main" id="{BA07327A-244E-4DBB-9579-7AB4FE8212F4}"/>
              </a:ext>
            </a:extLst>
          </p:cNvPr>
          <p:cNvSpPr>
            <a:spLocks xmlns:a="http://schemas.openxmlformats.org/drawingml/2006/main" noGrp="1"/>
          </p:cNvSpPr>
          <p:nvPr/>
        </p:nvSpPr>
        <p:spPr>
          <a:xfrm xmlns:a="http://schemas.openxmlformats.org/drawingml/2006/main">
            <a:off x="7696200" y="44005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6766E"/>
                </a:solidFill>
                <a:latin typeface="Inter"/>
                <a:ea typeface="Inter"/>
                <a:cs typeface="Inter"/>
              </a:defRPr>
            </a:pPr>
            <a:r>
              <a:rPr sz="1350" b="0">
                <a:solidFill>
                  <a:srgbClr val="16766E"/>
                </a:solidFill>
                <a:latin typeface="Inter"/>
                <a:ea typeface="Inter"/>
                <a:cs typeface="Inter"/>
              </a:rPr>
              <a:t>Yes</a:t>
            </a:r>
          </a:p>
        </p:txBody>
      </p:sp>
      <p:sp>
        <p:nvSpPr>
          <p:cNvPr id="20" name="">
            <a:extLst xmlns:a="http://schemas.openxmlformats.org/drawingml/2006/main">
              <a:ext uri="{FF2B5EF4-FFF2-40B4-BE49-F238E27FC236}">
                <a16:creationId xmlns:a16="http://schemas.microsoft.com/office/drawing/2014/main" id="{4E7F6210-A777-44FF-8438-DE1E0CE486EC}"/>
              </a:ext>
            </a:extLst>
          </p:cNvPr>
          <p:cNvSpPr>
            <a:spLocks xmlns:a="http://schemas.openxmlformats.org/drawingml/2006/main" noGrp="1"/>
          </p:cNvSpPr>
          <p:nvPr/>
        </p:nvSpPr>
        <p:spPr>
          <a:xfrm xmlns:a="http://schemas.openxmlformats.org/drawingml/2006/main">
            <a:off x="457200" y="5286375"/>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Medium → Mild: 177     Mild → Medium: 101     High → Severe: 12</a:t>
            </a:r>
          </a:p>
        </p:txBody>
      </p:sp>
      <p:sp>
        <p:nvSpPr>
          <p:cNvPr id="21" name="">
            <a:extLst xmlns:a="http://schemas.openxmlformats.org/drawingml/2006/main">
              <a:ext uri="{FF2B5EF4-FFF2-40B4-BE49-F238E27FC236}">
                <a16:creationId xmlns:a16="http://schemas.microsoft.com/office/drawing/2014/main" id="{D920F5D7-F628-4310-B66A-2CFC701EB2AE}"/>
              </a:ext>
            </a:extLst>
          </p:cNvPr>
          <p:cNvSpPr>
            <a:spLocks xmlns:a="http://schemas.openxmlformats.org/drawingml/2006/main" noGrp="1"/>
          </p:cNvSpPr>
          <p:nvPr/>
        </p:nvSpPr>
        <p:spPr>
          <a:xfrm xmlns:a="http://schemas.openxmlformats.org/drawingml/2006/main">
            <a:off x="457200" y="5886450"/>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High → Severe requires severe lexical cues. Selected recipes + a final decision rule.</a:t>
            </a:r>
          </a:p>
        </p:txBody>
      </p:sp>
    </p:spTree>
    <p:extLst>
      <p:ext uri="{BB962C8B-B14F-4D97-AF65-F5344CB8AC3E}">
        <p14:creationId xmlns:p14="http://schemas.microsoft.com/office/powerpoint/2010/main" val="207536205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86663EB-AAE4-4E38-8A38-B63D5DA8DAA1}"/>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Complete system results</a:t>
            </a:r>
          </a:p>
        </p:txBody>
      </p:sp>
      <p:sp>
        <p:nvSpPr>
          <p:cNvPr id="2" name="">
            <a:extLst xmlns:a="http://schemas.openxmlformats.org/drawingml/2006/main">
              <a:ext uri="{FF2B5EF4-FFF2-40B4-BE49-F238E27FC236}">
                <a16:creationId xmlns:a16="http://schemas.microsoft.com/office/drawing/2014/main" id="{5B3F8FD0-1211-4279-923A-5113FD8A1735}"/>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08770ECB-1C7A-43E7-AC39-42B916ACC8A9}"/>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09</a:t>
            </a:r>
          </a:p>
        </p:txBody>
      </p:sp>
      <p:sp>
        <p:nvSpPr>
          <p:cNvPr id="4" name="">
            <a:extLst xmlns:a="http://schemas.openxmlformats.org/drawingml/2006/main">
              <a:ext uri="{FF2B5EF4-FFF2-40B4-BE49-F238E27FC236}">
                <a16:creationId xmlns:a16="http://schemas.microsoft.com/office/drawing/2014/main" id="{EF137C6F-F108-4A65-A9B8-F4C23D37ACB4}"/>
              </a:ext>
            </a:extLst>
          </p:cNvPr>
          <p:cNvSpPr>
            <a:spLocks xmlns:a="http://schemas.openxmlformats.org/drawingml/2006/main" noGrp="1"/>
          </p:cNvSpPr>
          <p:nvPr/>
        </p:nvSpPr>
        <p:spPr>
          <a:xfrm xmlns:a="http://schemas.openxmlformats.org/drawingml/2006/main">
            <a:off x="457200" y="1657350"/>
            <a:ext cx="6238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SEVERITY · MACRO-F1</a:t>
            </a:r>
          </a:p>
        </p:txBody>
      </p:sp>
      <p:sp>
        <p:nvSpPr>
          <p:cNvPr id="5" name="">
            <a:extLst xmlns:a="http://schemas.openxmlformats.org/drawingml/2006/main">
              <a:ext uri="{FF2B5EF4-FFF2-40B4-BE49-F238E27FC236}">
                <a16:creationId xmlns:a16="http://schemas.microsoft.com/office/drawing/2014/main" id="{D8569DCF-A308-4B05-BCFA-E5572202A251}"/>
              </a:ext>
            </a:extLst>
          </p:cNvPr>
          <p:cNvSpPr>
            <a:spLocks xmlns:a="http://schemas.openxmlformats.org/drawingml/2006/main" noGrp="1"/>
          </p:cNvSpPr>
          <p:nvPr/>
        </p:nvSpPr>
        <p:spPr>
          <a:xfrm xmlns:a="http://schemas.openxmlformats.org/drawingml/2006/main">
            <a:off x="457200" y="2143125"/>
            <a:ext cx="6286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925" b="1">
                <a:solidFill>
                  <a:srgbClr val="2C637F"/>
                </a:solidFill>
                <a:latin typeface="Inter"/>
                <a:ea typeface="Inter"/>
                <a:cs typeface="Inter"/>
              </a:defRPr>
            </a:pPr>
            <a:r>
              <a:rPr sz="5925" b="1">
                <a:solidFill>
                  <a:srgbClr val="2C637F"/>
                </a:solidFill>
                <a:latin typeface="Inter"/>
                <a:ea typeface="Inter"/>
                <a:cs typeface="Inter"/>
              </a:rPr>
              <a:t>0.60798</a:t>
            </a:r>
          </a:p>
        </p:txBody>
      </p:sp>
      <p:sp>
        <p:nvSpPr>
          <p:cNvPr id="6" name="">
            <a:extLst xmlns:a="http://schemas.openxmlformats.org/drawingml/2006/main">
              <a:ext uri="{FF2B5EF4-FFF2-40B4-BE49-F238E27FC236}">
                <a16:creationId xmlns:a16="http://schemas.microsoft.com/office/drawing/2014/main" id="{699E782C-B739-4B1A-A072-5AC289F96FDC}"/>
              </a:ext>
            </a:extLst>
          </p:cNvPr>
          <p:cNvSpPr>
            <a:spLocks xmlns:a="http://schemas.openxmlformats.org/drawingml/2006/main" noGrp="1"/>
          </p:cNvSpPr>
          <p:nvPr/>
        </p:nvSpPr>
        <p:spPr>
          <a:xfrm xmlns:a="http://schemas.openxmlformats.org/drawingml/2006/main">
            <a:off x="457200" y="3343275"/>
            <a:ext cx="590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3rd / 16 teams</a:t>
            </a:r>
          </a:p>
        </p:txBody>
      </p:sp>
      <p:sp>
        <p:nvSpPr>
          <p:cNvPr id="7" name="">
            <a:extLst xmlns:a="http://schemas.openxmlformats.org/drawingml/2006/main">
              <a:ext uri="{FF2B5EF4-FFF2-40B4-BE49-F238E27FC236}">
                <a16:creationId xmlns:a16="http://schemas.microsoft.com/office/drawing/2014/main" id="{2CCEAF3A-DF65-443F-9FF6-D1E306AD0B7D}"/>
              </a:ext>
            </a:extLst>
          </p:cNvPr>
          <p:cNvSpPr>
            <a:spLocks xmlns:a="http://schemas.openxmlformats.org/drawingml/2006/main" noGrp="1"/>
          </p:cNvSpPr>
          <p:nvPr/>
        </p:nvSpPr>
        <p:spPr>
          <a:xfrm xmlns:a="http://schemas.openxmlformats.org/drawingml/2006/main">
            <a:off x="457200" y="4219575"/>
            <a:ext cx="6238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Anchor 0.60678   →   Final 0.60798</a:t>
            </a:r>
          </a:p>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Change: +0.00120</a:t>
            </a:r>
          </a:p>
        </p:txBody>
      </p:sp>
      <p:sp>
        <p:nvSpPr>
          <p:cNvPr id="8" name="">
            <a:extLst xmlns:a="http://schemas.openxmlformats.org/drawingml/2006/main">
              <a:ext uri="{FF2B5EF4-FFF2-40B4-BE49-F238E27FC236}">
                <a16:creationId xmlns:a16="http://schemas.microsoft.com/office/drawing/2014/main" id="{FB365D08-349C-4ADC-A442-988652494A40}"/>
              </a:ext>
            </a:extLst>
          </p:cNvPr>
          <p:cNvSpPr>
            <a:spLocks xmlns:a="http://schemas.openxmlformats.org/drawingml/2006/main" noGrp="1"/>
          </p:cNvSpPr>
          <p:nvPr/>
        </p:nvSpPr>
        <p:spPr>
          <a:xfrm xmlns:a="http://schemas.openxmlformats.org/drawingml/2006/main">
            <a:off x="7486650" y="1657350"/>
            <a:ext cx="42195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TYPES · MICRO-F1</a:t>
            </a:r>
          </a:p>
        </p:txBody>
      </p:sp>
      <p:sp>
        <p:nvSpPr>
          <p:cNvPr id="9" name="">
            <a:extLst xmlns:a="http://schemas.openxmlformats.org/drawingml/2006/main">
              <a:ext uri="{FF2B5EF4-FFF2-40B4-BE49-F238E27FC236}">
                <a16:creationId xmlns:a16="http://schemas.microsoft.com/office/drawing/2014/main" id="{18A16073-E621-4D53-BDAE-161E549F139A}"/>
              </a:ext>
            </a:extLst>
          </p:cNvPr>
          <p:cNvSpPr>
            <a:spLocks xmlns:a="http://schemas.openxmlformats.org/drawingml/2006/main" noGrp="1"/>
          </p:cNvSpPr>
          <p:nvPr/>
        </p:nvSpPr>
        <p:spPr>
          <a:xfrm xmlns:a="http://schemas.openxmlformats.org/drawingml/2006/main">
            <a:off x="7486650" y="2143125"/>
            <a:ext cx="42195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2C637F"/>
                </a:solidFill>
                <a:latin typeface="Inter"/>
                <a:ea typeface="Inter"/>
                <a:cs typeface="Inter"/>
              </a:defRPr>
            </a:pPr>
            <a:r>
              <a:rPr sz="5400" b="1">
                <a:solidFill>
                  <a:srgbClr val="2C637F"/>
                </a:solidFill>
                <a:latin typeface="Inter"/>
                <a:ea typeface="Inter"/>
                <a:cs typeface="Inter"/>
              </a:rPr>
              <a:t>0.87016</a:t>
            </a:r>
          </a:p>
        </p:txBody>
      </p:sp>
      <p:sp>
        <p:nvSpPr>
          <p:cNvPr id="10" name="">
            <a:extLst xmlns:a="http://schemas.openxmlformats.org/drawingml/2006/main">
              <a:ext uri="{FF2B5EF4-FFF2-40B4-BE49-F238E27FC236}">
                <a16:creationId xmlns:a16="http://schemas.microsoft.com/office/drawing/2014/main" id="{B5131A9A-2D8B-4A9D-A700-8337A80F3597}"/>
              </a:ext>
            </a:extLst>
          </p:cNvPr>
          <p:cNvSpPr>
            <a:spLocks xmlns:a="http://schemas.openxmlformats.org/drawingml/2006/main" noGrp="1"/>
          </p:cNvSpPr>
          <p:nvPr/>
        </p:nvSpPr>
        <p:spPr>
          <a:xfrm xmlns:a="http://schemas.openxmlformats.org/drawingml/2006/main">
            <a:off x="7486650" y="3343275"/>
            <a:ext cx="42195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6th / 15 teams</a:t>
            </a:r>
          </a:p>
        </p:txBody>
      </p:sp>
      <p:sp>
        <p:nvSpPr>
          <p:cNvPr id="11" name="">
            <a:extLst xmlns:a="http://schemas.openxmlformats.org/drawingml/2006/main">
              <a:ext uri="{FF2B5EF4-FFF2-40B4-BE49-F238E27FC236}">
                <a16:creationId xmlns:a16="http://schemas.microsoft.com/office/drawing/2014/main" id="{7F50B864-9233-40B4-914C-7D9AD1C0C5D7}"/>
              </a:ext>
            </a:extLst>
          </p:cNvPr>
          <p:cNvSpPr>
            <a:spLocks xmlns:a="http://schemas.openxmlformats.org/drawingml/2006/main" noGrp="1"/>
          </p:cNvSpPr>
          <p:nvPr/>
        </p:nvSpPr>
        <p:spPr>
          <a:xfrm xmlns:a="http://schemas.openxmlformats.org/drawingml/2006/main">
            <a:off x="7486650" y="4219575"/>
            <a:ext cx="4219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S2 predictions</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unchanged in final step</a:t>
            </a:r>
          </a:p>
        </p:txBody>
      </p:sp>
      <p:sp>
        <p:nvSpPr>
          <p:cNvPr id="12" name="">
            <a:extLst xmlns:a="http://schemas.openxmlformats.org/drawingml/2006/main">
              <a:ext uri="{FF2B5EF4-FFF2-40B4-BE49-F238E27FC236}">
                <a16:creationId xmlns:a16="http://schemas.microsoft.com/office/drawing/2014/main" id="{FB7FEAD3-E1EA-4CEC-86ED-7AA340D24056}"/>
              </a:ext>
            </a:extLst>
          </p:cNvPr>
          <p:cNvSpPr>
            <a:spLocks xmlns:a="http://schemas.openxmlformats.org/drawingml/2006/main" noGrp="1"/>
          </p:cNvSpPr>
          <p:nvPr/>
        </p:nvSpPr>
        <p:spPr>
          <a:xfrm xmlns:a="http://schemas.openxmlformats.org/drawingml/2006/main">
            <a:off x="457200" y="5857875"/>
            <a:ext cx="11239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06674"/>
                </a:solidFill>
                <a:latin typeface="Inter"/>
                <a:ea typeface="Inter"/>
                <a:cs typeface="Inter"/>
              </a:defRPr>
            </a:pPr>
            <a:r>
              <a:rPr sz="1800" b="0">
                <a:solidFill>
                  <a:srgbClr val="506674"/>
                </a:solidFill>
                <a:latin typeface="Inter"/>
                <a:ea typeface="Inter"/>
                <a:cs typeface="Inter"/>
              </a:rPr>
              <a:t>Official test scores informed selection. Transfer across institutions remains untested.</a:t>
            </a:r>
          </a:p>
        </p:txBody>
      </p:sp>
    </p:spTree>
    <p:extLst>
      <p:ext uri="{BB962C8B-B14F-4D97-AF65-F5344CB8AC3E}">
        <p14:creationId xmlns:p14="http://schemas.microsoft.com/office/powerpoint/2010/main" val="375636827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4" name="Picture 7"/>
          <p:cNvPicPr>
            <a:picLocks xmlns:a="http://schemas.openxmlformats.org/drawingml/2006/main" noChangeAspect="1"/>
          </p:cNvPicPr>
          <p:nvPr/>
        </p:nvPicPr>
        <p:blipFill>
          <a:blip xmlns:r="http://schemas.openxmlformats.org/officeDocument/2006/relationships" xmlns:a="http://schemas.openxmlformats.org/drawingml/2006/main" r:embed="R9d4e1980f74c4e8d"/>
          <a:srcRect xmlns:a="http://schemas.openxmlformats.org/drawingml/2006/main" l="0" t="25645" r="0" b="61469"/>
          <a:stretch xmlns:a="http://schemas.openxmlformats.org/drawingml/2006/main">
            <a:fillRect l="0" t="0" r="0" b="0"/>
          </a:stretch>
        </p:blipFill>
        <p:spPr>
          <a:xfrm xmlns:a="http://schemas.openxmlformats.org/drawingml/2006/main">
            <a:off x="0" y="4763386"/>
            <a:ext cx="12192000" cy="2094614"/>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512ACD86-2826-47E3-8BB0-28EED41A4C15}"/>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A strategy to test</a:t>
            </a:r>
          </a:p>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in other settings</a:t>
            </a:r>
          </a:p>
        </p:txBody>
      </p:sp>
      <p:sp>
        <p:nvSpPr>
          <p:cNvPr id="9" name="">
            <a:extLst xmlns:a="http://schemas.openxmlformats.org/drawingml/2006/main">
              <a:ext uri="{FF2B5EF4-FFF2-40B4-BE49-F238E27FC236}">
                <a16:creationId xmlns:a16="http://schemas.microsoft.com/office/drawing/2014/main" id="{9CCA879B-6C26-4CE1-9C79-F520A6F4BD92}"/>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10" name="">
            <a:extLst xmlns:a="http://schemas.openxmlformats.org/drawingml/2006/main">
              <a:ext uri="{FF2B5EF4-FFF2-40B4-BE49-F238E27FC236}">
                <a16:creationId xmlns:a16="http://schemas.microsoft.com/office/drawing/2014/main" id="{1E38D992-DDDB-4CBE-BDF4-EECB87BFDA49}"/>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10</a:t>
            </a:r>
          </a:p>
        </p:txBody>
      </p:sp>
      <p:sp>
        <p:nvSpPr>
          <p:cNvPr id="11" name="">
            <a:extLst xmlns:a="http://schemas.openxmlformats.org/drawingml/2006/main">
              <a:ext uri="{FF2B5EF4-FFF2-40B4-BE49-F238E27FC236}">
                <a16:creationId xmlns:a16="http://schemas.microsoft.com/office/drawing/2014/main" id="{E49681B6-DFFD-44ED-B480-C0D58D43E5CD}"/>
              </a:ext>
            </a:extLst>
          </p:cNvPr>
          <p:cNvSpPr>
            <a:spLocks xmlns:a="http://schemas.openxmlformats.org/drawingml/2006/main" noGrp="1"/>
          </p:cNvSpPr>
          <p:nvPr/>
        </p:nvSpPr>
        <p:spPr>
          <a:xfrm xmlns:a="http://schemas.openxmlformats.org/drawingml/2006/main">
            <a:off x="476250" y="2085975"/>
            <a:ext cx="11049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Compare families under the same protocol</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Match outputs and losses to the labels</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Evaluate augmentation by class and error type</a:t>
            </a:r>
          </a:p>
        </p:txBody>
      </p:sp>
      <p:sp>
        <p:nvSpPr>
          <p:cNvPr id="12" name="">
            <a:extLst xmlns:a="http://schemas.openxmlformats.org/drawingml/2006/main">
              <a:ext uri="{FF2B5EF4-FFF2-40B4-BE49-F238E27FC236}">
                <a16:creationId xmlns:a16="http://schemas.microsoft.com/office/drawing/2014/main" id="{AF71BAF6-A57D-4FED-B6EA-5244228F4A6A}"/>
              </a:ext>
            </a:extLst>
          </p:cNvPr>
          <p:cNvSpPr>
            <a:spLocks xmlns:a="http://schemas.openxmlformats.org/drawingml/2006/main" noGrp="1"/>
          </p:cNvSpPr>
          <p:nvPr/>
        </p:nvSpPr>
        <p:spPr>
          <a:xfrm xmlns:a="http://schemas.openxmlformats.org/drawingml/2006/main">
            <a:off x="476250" y="4238625"/>
            <a:ext cx="11049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C637F"/>
                </a:solidFill>
                <a:latin typeface="Inter"/>
                <a:ea typeface="Inter"/>
                <a:cs typeface="Inter"/>
              </a:defRPr>
            </a:pPr>
            <a:r>
              <a:rPr sz="2250" b="1">
                <a:solidFill>
                  <a:srgbClr val="2C637F"/>
                </a:solidFill>
                <a:latin typeface="Inter"/>
                <a:ea typeface="Inter"/>
                <a:cs typeface="Inter"/>
              </a:rPr>
              <a:t>Next tests</a:t>
            </a:r>
          </a:p>
        </p:txBody>
      </p:sp>
      <p:sp>
        <p:nvSpPr>
          <p:cNvPr id="13" name="">
            <a:extLst xmlns:a="http://schemas.openxmlformats.org/drawingml/2006/main">
              <a:ext uri="{FF2B5EF4-FFF2-40B4-BE49-F238E27FC236}">
                <a16:creationId xmlns:a16="http://schemas.microsoft.com/office/drawing/2014/main" id="{000C5734-915A-4B48-ADD7-7577C9E9C5ED}"/>
              </a:ext>
            </a:extLst>
          </p:cNvPr>
          <p:cNvSpPr>
            <a:spLocks xmlns:a="http://schemas.openxmlformats.org/drawingml/2006/main" noGrp="1"/>
          </p:cNvSpPr>
          <p:nvPr/>
        </p:nvSpPr>
        <p:spPr>
          <a:xfrm xmlns:a="http://schemas.openxmlformats.org/drawingml/2006/main">
            <a:off x="476250" y="4867275"/>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Variant audit · Controlled balance and weights</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Repeated seeds · Validation by institution and consensus</a:t>
            </a:r>
          </a:p>
        </p:txBody>
      </p:sp>
    </p:spTree>
    <p:extLst>
      <p:ext uri="{BB962C8B-B14F-4D97-AF65-F5344CB8AC3E}">
        <p14:creationId xmlns:p14="http://schemas.microsoft.com/office/powerpoint/2010/main" val="2346949709"/>
      </p:ext>
    </p:extLst>
  </p:cSld>
</p:sld>
</file>

<file path=ppt/theme/theme1.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2026-09-21T19:29:46.6770000Z</dcterms:created>
  <dcterms:modified xsi:type="dcterms:W3CDTF">2026-09-21T19:29:46.6770000Z</dcterms:modified>
</coreProperties>
</file>